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67" r:id="rId4"/>
    <p:sldId id="329" r:id="rId5"/>
    <p:sldId id="330" r:id="rId6"/>
    <p:sldId id="332" r:id="rId7"/>
    <p:sldId id="354" r:id="rId8"/>
    <p:sldId id="351" r:id="rId9"/>
    <p:sldId id="352" r:id="rId10"/>
    <p:sldId id="353" r:id="rId11"/>
    <p:sldId id="355" r:id="rId12"/>
    <p:sldId id="387" r:id="rId13"/>
    <p:sldId id="417" r:id="rId14"/>
    <p:sldId id="420" r:id="rId15"/>
    <p:sldId id="413" r:id="rId16"/>
    <p:sldId id="415" r:id="rId17"/>
    <p:sldId id="325" r:id="rId18"/>
    <p:sldId id="262" r:id="rId19"/>
    <p:sldId id="350" r:id="rId20"/>
    <p:sldId id="268" r:id="rId21"/>
    <p:sldId id="333" r:id="rId22"/>
    <p:sldId id="338" r:id="rId23"/>
    <p:sldId id="334" r:id="rId24"/>
    <p:sldId id="339" r:id="rId25"/>
    <p:sldId id="364" r:id="rId26"/>
    <p:sldId id="367" r:id="rId27"/>
    <p:sldId id="366" r:id="rId28"/>
    <p:sldId id="340" r:id="rId29"/>
    <p:sldId id="365" r:id="rId30"/>
    <p:sldId id="370" r:id="rId31"/>
    <p:sldId id="342" r:id="rId32"/>
    <p:sldId id="341" r:id="rId33"/>
    <p:sldId id="357" r:id="rId34"/>
    <p:sldId id="372" r:id="rId35"/>
    <p:sldId id="343" r:id="rId36"/>
    <p:sldId id="347" r:id="rId37"/>
    <p:sldId id="384" r:id="rId38"/>
    <p:sldId id="382" r:id="rId39"/>
    <p:sldId id="349" r:id="rId40"/>
    <p:sldId id="373" r:id="rId41"/>
    <p:sldId id="385" r:id="rId42"/>
    <p:sldId id="375" r:id="rId43"/>
    <p:sldId id="374" r:id="rId44"/>
    <p:sldId id="383" r:id="rId45"/>
    <p:sldId id="328" r:id="rId46"/>
    <p:sldId id="263" r:id="rId47"/>
    <p:sldId id="358" r:id="rId48"/>
    <p:sldId id="359" r:id="rId49"/>
    <p:sldId id="360" r:id="rId50"/>
    <p:sldId id="378" r:id="rId51"/>
    <p:sldId id="362" r:id="rId52"/>
    <p:sldId id="363" r:id="rId53"/>
    <p:sldId id="377" r:id="rId54"/>
    <p:sldId id="381" r:id="rId55"/>
    <p:sldId id="386" r:id="rId56"/>
    <p:sldId id="327" r:id="rId57"/>
    <p:sldId id="272" r:id="rId5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2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99"/>
    <p:restoredTop sz="86803"/>
  </p:normalViewPr>
  <p:slideViewPr>
    <p:cSldViewPr snapToGrid="0" snapToObjects="1">
      <p:cViewPr varScale="1">
        <p:scale>
          <a:sx n="117" d="100"/>
          <a:sy n="117" d="100"/>
        </p:scale>
        <p:origin x="1616"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44D0C-1CB1-E645-87B8-5887239B9ECD}" type="datetimeFigureOut">
              <a:rPr lang="fr-FR" smtClean="0"/>
              <a:t>03/05/2022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A1237-63C0-2149-90AD-33FFCF7C8578}" type="slidenum">
              <a:rPr lang="fr-FR" smtClean="0"/>
              <a:t>‹N°›</a:t>
            </a:fld>
            <a:endParaRPr lang="fr-FR"/>
          </a:p>
        </p:txBody>
      </p:sp>
    </p:spTree>
    <p:extLst>
      <p:ext uri="{BB962C8B-B14F-4D97-AF65-F5344CB8AC3E}">
        <p14:creationId xmlns:p14="http://schemas.microsoft.com/office/powerpoint/2010/main" val="77776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SUPINFO</a:t>
            </a:r>
          </a:p>
          <a:p>
            <a:r>
              <a:rPr lang="fr-FR" dirty="0"/>
              <a:t>Auteur : Laurent GODEFROY</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a:t>
            </a:fld>
            <a:endParaRPr lang="fr-FR"/>
          </a:p>
        </p:txBody>
      </p:sp>
    </p:spTree>
    <p:extLst>
      <p:ext uri="{BB962C8B-B14F-4D97-AF65-F5344CB8AC3E}">
        <p14:creationId xmlns:p14="http://schemas.microsoft.com/office/powerpoint/2010/main" val="1051732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s’agit d’un schéma d’une classification binaire mais on peut bien sûr avoir plus de deux classes.</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a:t>
            </a:fld>
            <a:endParaRPr lang="fr-FR"/>
          </a:p>
        </p:txBody>
      </p:sp>
    </p:spTree>
    <p:extLst>
      <p:ext uri="{BB962C8B-B14F-4D97-AF65-F5344CB8AC3E}">
        <p14:creationId xmlns:p14="http://schemas.microsoft.com/office/powerpoint/2010/main" val="435675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Si le jeu de données est de grande taille, le hasard faisant bien les choses (loi des grands nombres), la répartition sera naturellement stratifiée si la distribution n’est pas trop asymétrique.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a:t>
            </a:fld>
            <a:endParaRPr lang="fr-FR"/>
          </a:p>
        </p:txBody>
      </p:sp>
    </p:spTree>
    <p:extLst>
      <p:ext uri="{BB962C8B-B14F-4D97-AF65-F5344CB8AC3E}">
        <p14:creationId xmlns:p14="http://schemas.microsoft.com/office/powerpoint/2010/main" val="667409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Illustration avec deux classes mais le principe est le même avec trois ou plus de classes.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9</a:t>
            </a:fld>
            <a:endParaRPr lang="fr-FR"/>
          </a:p>
        </p:txBody>
      </p:sp>
    </p:spTree>
    <p:extLst>
      <p:ext uri="{BB962C8B-B14F-4D97-AF65-F5344CB8AC3E}">
        <p14:creationId xmlns:p14="http://schemas.microsoft.com/office/powerpoint/2010/main" val="182023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Dans cet exemple k=5.</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Illustration avec deux classes mais le principe est le même avec trois ou plus de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a:t>
            </a:fld>
            <a:endParaRPr lang="fr-FR"/>
          </a:p>
        </p:txBody>
      </p:sp>
    </p:spTree>
    <p:extLst>
      <p:ext uri="{BB962C8B-B14F-4D97-AF65-F5344CB8AC3E}">
        <p14:creationId xmlns:p14="http://schemas.microsoft.com/office/powerpoint/2010/main" val="832513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11</a:t>
            </a:fld>
            <a:endParaRPr lang="fr-FR"/>
          </a:p>
        </p:txBody>
      </p:sp>
    </p:spTree>
    <p:extLst>
      <p:ext uri="{BB962C8B-B14F-4D97-AF65-F5344CB8AC3E}">
        <p14:creationId xmlns:p14="http://schemas.microsoft.com/office/powerpoint/2010/main" val="132872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“SMOTE“ signifie “</a:t>
            </a:r>
            <a:r>
              <a:rPr lang="fr-FR" sz="1200" b="0" i="0" kern="1200" dirty="0" err="1">
                <a:solidFill>
                  <a:schemeClr val="tx1"/>
                </a:solidFill>
                <a:effectLst/>
                <a:latin typeface="+mn-lt"/>
                <a:ea typeface="+mn-ea"/>
                <a:cs typeface="+mn-cs"/>
              </a:rPr>
              <a:t>Synthetic</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Minority</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Oversampling</a:t>
            </a:r>
            <a:r>
              <a:rPr lang="fr-FR" sz="1200" b="0" i="0" kern="1200" dirty="0">
                <a:solidFill>
                  <a:schemeClr val="tx1"/>
                </a:solidFill>
                <a:effectLst/>
                <a:latin typeface="+mn-lt"/>
                <a:ea typeface="+mn-ea"/>
                <a:cs typeface="+mn-cs"/>
              </a:rPr>
              <a:t> Technique“.</a:t>
            </a:r>
          </a:p>
          <a:p>
            <a:r>
              <a:rPr lang="fr-FR" sz="1200" b="0" i="0" kern="1200" dirty="0">
                <a:solidFill>
                  <a:schemeClr val="tx1"/>
                </a:solidFill>
                <a:effectLst/>
                <a:latin typeface="+mn-lt"/>
                <a:ea typeface="+mn-ea"/>
                <a:cs typeface="+mn-cs"/>
              </a:rPr>
              <a:t>Il en existe beaucoup d’autres.</a:t>
            </a:r>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12</a:t>
            </a:fld>
            <a:endParaRPr lang="fr-FR"/>
          </a:p>
        </p:txBody>
      </p:sp>
    </p:spTree>
    <p:extLst>
      <p:ext uri="{BB962C8B-B14F-4D97-AF65-F5344CB8AC3E}">
        <p14:creationId xmlns:p14="http://schemas.microsoft.com/office/powerpoint/2010/main" val="4220444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13</a:t>
            </a:fld>
            <a:endParaRPr lang="fr-FR"/>
          </a:p>
        </p:txBody>
      </p:sp>
    </p:spTree>
    <p:extLst>
      <p:ext uri="{BB962C8B-B14F-4D97-AF65-F5344CB8AC3E}">
        <p14:creationId xmlns:p14="http://schemas.microsoft.com/office/powerpoint/2010/main" val="93248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14</a:t>
            </a:fld>
            <a:endParaRPr lang="fr-FR"/>
          </a:p>
        </p:txBody>
      </p:sp>
    </p:spTree>
    <p:extLst>
      <p:ext uri="{BB962C8B-B14F-4D97-AF65-F5344CB8AC3E}">
        <p14:creationId xmlns:p14="http://schemas.microsoft.com/office/powerpoint/2010/main" val="2931227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15</a:t>
            </a:fld>
            <a:endParaRPr lang="fr-FR"/>
          </a:p>
        </p:txBody>
      </p:sp>
    </p:spTree>
    <p:extLst>
      <p:ext uri="{BB962C8B-B14F-4D97-AF65-F5344CB8AC3E}">
        <p14:creationId xmlns:p14="http://schemas.microsoft.com/office/powerpoint/2010/main" val="3707853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16</a:t>
            </a:fld>
            <a:endParaRPr lang="fr-FR"/>
          </a:p>
        </p:txBody>
      </p:sp>
    </p:spTree>
    <p:extLst>
      <p:ext uri="{BB962C8B-B14F-4D97-AF65-F5344CB8AC3E}">
        <p14:creationId xmlns:p14="http://schemas.microsoft.com/office/powerpoint/2010/main" val="3728348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liste est très loin d’être exhaustive.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20</a:t>
            </a:fld>
            <a:endParaRPr lang="fr-FR"/>
          </a:p>
        </p:txBody>
      </p:sp>
    </p:spTree>
    <p:extLst>
      <p:ext uri="{BB962C8B-B14F-4D97-AF65-F5344CB8AC3E}">
        <p14:creationId xmlns:p14="http://schemas.microsoft.com/office/powerpoint/2010/main" val="626936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Ici # signifie « cardinal d’un ensemble », c’est-à-dire son nombre d’éléments.</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21</a:t>
            </a:fld>
            <a:endParaRPr lang="fr-FR"/>
          </a:p>
        </p:txBody>
      </p:sp>
    </p:spTree>
    <p:extLst>
      <p:ext uri="{BB962C8B-B14F-4D97-AF65-F5344CB8AC3E}">
        <p14:creationId xmlns:p14="http://schemas.microsoft.com/office/powerpoint/2010/main" val="4101790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Ces qualificatifs proviennent bien sûr du milieu médical, positif voulant alors dire “test positif“ (grossesse, COVID, cancer, etc.).</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23</a:t>
            </a:fld>
            <a:endParaRPr lang="fr-FR"/>
          </a:p>
        </p:txBody>
      </p:sp>
    </p:spTree>
    <p:extLst>
      <p:ext uri="{BB962C8B-B14F-4D97-AF65-F5344CB8AC3E}">
        <p14:creationId xmlns:p14="http://schemas.microsoft.com/office/powerpoint/2010/main" val="821971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t>On parle également d’erreur de type 1 pour les faux positifs et d’erreur de type 2 pour les faux négatifs.</a:t>
            </a:r>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24</a:t>
            </a:fld>
            <a:endParaRPr lang="fr-FR"/>
          </a:p>
        </p:txBody>
      </p:sp>
    </p:spTree>
    <p:extLst>
      <p:ext uri="{BB962C8B-B14F-4D97-AF65-F5344CB8AC3E}">
        <p14:creationId xmlns:p14="http://schemas.microsoft.com/office/powerpoint/2010/main" val="942397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25</a:t>
            </a:fld>
            <a:endParaRPr lang="fr-FR"/>
          </a:p>
        </p:txBody>
      </p:sp>
    </p:spTree>
    <p:extLst>
      <p:ext uri="{BB962C8B-B14F-4D97-AF65-F5344CB8AC3E}">
        <p14:creationId xmlns:p14="http://schemas.microsoft.com/office/powerpoint/2010/main" val="17372304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28</a:t>
            </a:fld>
            <a:endParaRPr lang="fr-FR"/>
          </a:p>
        </p:txBody>
      </p:sp>
    </p:spTree>
    <p:extLst>
      <p:ext uri="{BB962C8B-B14F-4D97-AF65-F5344CB8AC3E}">
        <p14:creationId xmlns:p14="http://schemas.microsoft.com/office/powerpoint/2010/main" val="504371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29</a:t>
            </a:fld>
            <a:endParaRPr lang="fr-FR"/>
          </a:p>
        </p:txBody>
      </p:sp>
    </p:spTree>
    <p:extLst>
      <p:ext uri="{BB962C8B-B14F-4D97-AF65-F5344CB8AC3E}">
        <p14:creationId xmlns:p14="http://schemas.microsoft.com/office/powerpoint/2010/main" val="399840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Ces exemples sont cités dans le livre d’Aurélien Géron.</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31</a:t>
            </a:fld>
            <a:endParaRPr lang="fr-FR"/>
          </a:p>
        </p:txBody>
      </p:sp>
    </p:spTree>
    <p:extLst>
      <p:ext uri="{BB962C8B-B14F-4D97-AF65-F5344CB8AC3E}">
        <p14:creationId xmlns:p14="http://schemas.microsoft.com/office/powerpoint/2010/main" val="3614972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s’agit bien sûr d’une moyenne harmonique entre la précision et le rappel.</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32</a:t>
            </a:fld>
            <a:endParaRPr lang="fr-FR"/>
          </a:p>
        </p:txBody>
      </p:sp>
    </p:spTree>
    <p:extLst>
      <p:ext uri="{BB962C8B-B14F-4D97-AF65-F5344CB8AC3E}">
        <p14:creationId xmlns:p14="http://schemas.microsoft.com/office/powerpoint/2010/main" val="4133584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Tout cela prendra son sens au fur et à mesure.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33</a:t>
            </a:fld>
            <a:endParaRPr lang="fr-FR"/>
          </a:p>
        </p:txBody>
      </p:sp>
    </p:spTree>
    <p:extLst>
      <p:ext uri="{BB962C8B-B14F-4D97-AF65-F5344CB8AC3E}">
        <p14:creationId xmlns:p14="http://schemas.microsoft.com/office/powerpoint/2010/main" val="33844348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Tout cela prendra son sens au fur et à mesure.</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34</a:t>
            </a:fld>
            <a:endParaRPr lang="fr-FR"/>
          </a:p>
        </p:txBody>
      </p:sp>
    </p:spTree>
    <p:extLst>
      <p:ext uri="{BB962C8B-B14F-4D97-AF65-F5344CB8AC3E}">
        <p14:creationId xmlns:p14="http://schemas.microsoft.com/office/powerpoint/2010/main" val="232587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35</a:t>
            </a:fld>
            <a:endParaRPr lang="fr-FR"/>
          </a:p>
        </p:txBody>
      </p:sp>
    </p:spTree>
    <p:extLst>
      <p:ext uri="{BB962C8B-B14F-4D97-AF65-F5344CB8AC3E}">
        <p14:creationId xmlns:p14="http://schemas.microsoft.com/office/powerpoint/2010/main" val="3680494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Pas mal de détails sont laissés en suspens et seront en partie éclaircis pendant les séances de travaux pratiques.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classificateur “inutile“ est celui qui ne sait pas distinguer les deux classes.</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37</a:t>
            </a:fld>
            <a:endParaRPr lang="fr-FR"/>
          </a:p>
        </p:txBody>
      </p:sp>
    </p:spTree>
    <p:extLst>
      <p:ext uri="{BB962C8B-B14F-4D97-AF65-F5344CB8AC3E}">
        <p14:creationId xmlns:p14="http://schemas.microsoft.com/office/powerpoint/2010/main" val="3460330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39</a:t>
            </a:fld>
            <a:endParaRPr lang="fr-FR"/>
          </a:p>
        </p:txBody>
      </p:sp>
    </p:spTree>
    <p:extLst>
      <p:ext uri="{BB962C8B-B14F-4D97-AF65-F5344CB8AC3E}">
        <p14:creationId xmlns:p14="http://schemas.microsoft.com/office/powerpoint/2010/main" val="3599644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Pas mal de détails sont laissés en suspens et seront en partie éclaircis pendant les séances de travaux pratiques.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classificateur “inutile“ est celui qui ne sait pas distinguer les deux classes.</a:t>
            </a:r>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41</a:t>
            </a:fld>
            <a:endParaRPr lang="fr-FR"/>
          </a:p>
        </p:txBody>
      </p:sp>
    </p:spTree>
    <p:extLst>
      <p:ext uri="{BB962C8B-B14F-4D97-AF65-F5344CB8AC3E}">
        <p14:creationId xmlns:p14="http://schemas.microsoft.com/office/powerpoint/2010/main" val="16809591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s’agit donc d’un système de vote.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51</a:t>
            </a:fld>
            <a:endParaRPr lang="fr-FR"/>
          </a:p>
        </p:txBody>
      </p:sp>
    </p:spTree>
    <p:extLst>
      <p:ext uri="{BB962C8B-B14F-4D97-AF65-F5344CB8AC3E}">
        <p14:creationId xmlns:p14="http://schemas.microsoft.com/office/powerpoint/2010/main" val="3288027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35FED-2507-6347-9B57-3FF5AFCD8EC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AD8B847-1B82-BE49-A9A7-C3023CD2D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B611D94-0717-E14D-B19C-F142F7DBD343}"/>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5" name="Espace réservé du pied de page 4">
            <a:extLst>
              <a:ext uri="{FF2B5EF4-FFF2-40B4-BE49-F238E27FC236}">
                <a16:creationId xmlns:a16="http://schemas.microsoft.com/office/drawing/2014/main" id="{DBD62BDA-0F08-504D-9BDA-A04B89E826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0C21CC-1B92-B44B-AE72-CDCCB2D831B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64140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EA51D4-1867-8845-820C-C21D7BCEC9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C3841B2-2299-484D-98D4-2509FDD8732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7F3535-31CB-2243-9FD7-D6385CE3DE0D}"/>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5" name="Espace réservé du pied de page 4">
            <a:extLst>
              <a:ext uri="{FF2B5EF4-FFF2-40B4-BE49-F238E27FC236}">
                <a16:creationId xmlns:a16="http://schemas.microsoft.com/office/drawing/2014/main" id="{B1828F9A-0BE6-2040-B200-CA9AD150D7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553960E-7BA0-5744-B871-2625A924609E}"/>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797754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28FD5-3D75-FF4B-8910-57BF5A27805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84D373C-AC4E-4749-AF27-1D4F5473F3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4B37BF-0D5B-EE4F-B5D2-4991975BEABC}"/>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5" name="Espace réservé du pied de page 4">
            <a:extLst>
              <a:ext uri="{FF2B5EF4-FFF2-40B4-BE49-F238E27FC236}">
                <a16:creationId xmlns:a16="http://schemas.microsoft.com/office/drawing/2014/main" id="{15CC8B85-AF4B-D347-9A59-97FD4522E6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0FD24F-150A-1443-9905-84B822D46C9E}"/>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445405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238437-A9AA-1649-93B3-41C10243C8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E052425-B188-F44E-AE00-4A68E5EA439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C1B7208-E02E-5B44-B5B0-8F7E4329BF9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6479033-F7B2-3340-AA42-C9315CC63A98}"/>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6" name="Espace réservé du pied de page 5">
            <a:extLst>
              <a:ext uri="{FF2B5EF4-FFF2-40B4-BE49-F238E27FC236}">
                <a16:creationId xmlns:a16="http://schemas.microsoft.com/office/drawing/2014/main" id="{9BC51178-4562-B14F-81E9-EEB57190DE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ECB1059-2BD2-DE48-8A78-A1F0952EFC4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413048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E87D52-2FB1-1B49-AB3F-B878A6C6CEB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35322B7-F0A2-534D-A6BC-4D36CFB7E2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A541A8E-94B9-9948-9F7F-B59CE4A7A5D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87F5E04-45D9-0B41-A49B-C539BB240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45050A4-C507-9A4F-B6CE-71C0EC9B7E7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FAFD617-5DC0-7146-8644-37FDEF3C4611}"/>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8" name="Espace réservé du pied de page 7">
            <a:extLst>
              <a:ext uri="{FF2B5EF4-FFF2-40B4-BE49-F238E27FC236}">
                <a16:creationId xmlns:a16="http://schemas.microsoft.com/office/drawing/2014/main" id="{066D3D1A-4433-FB46-BCB3-2FC07477E35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28BE2A0-7142-7944-9978-9CF0A02E57C9}"/>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1571945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23AE92-F78E-674F-9897-3D26B7A9FDF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AC96ECA-9486-6E4B-B4BC-7E76B34EFF98}"/>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4" name="Espace réservé du pied de page 3">
            <a:extLst>
              <a:ext uri="{FF2B5EF4-FFF2-40B4-BE49-F238E27FC236}">
                <a16:creationId xmlns:a16="http://schemas.microsoft.com/office/drawing/2014/main" id="{B8B4D8AF-4BB6-934B-A379-CBF84C9A412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F8E009D-38CE-D34C-82BA-3182CA4F15F6}"/>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585514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44418-3E68-CA4E-AC8C-9D66D9255062}"/>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3" name="Espace réservé du pied de page 2">
            <a:extLst>
              <a:ext uri="{FF2B5EF4-FFF2-40B4-BE49-F238E27FC236}">
                <a16:creationId xmlns:a16="http://schemas.microsoft.com/office/drawing/2014/main" id="{ACD285BC-A399-C24D-9863-55D71A82555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BBC877D-0D91-8442-9A72-AF3420B94651}"/>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34073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C8412-37C8-4B46-9CE8-3469F1893FC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1A9CD95-5780-714B-A453-63A2F3456E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2D7CA0C-E415-F14F-9EF8-44A9C7CBE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2697766-D919-5247-A55B-2A12BA74BE2E}"/>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6" name="Espace réservé du pied de page 5">
            <a:extLst>
              <a:ext uri="{FF2B5EF4-FFF2-40B4-BE49-F238E27FC236}">
                <a16:creationId xmlns:a16="http://schemas.microsoft.com/office/drawing/2014/main" id="{DFB77295-5D11-2841-AC5B-84946CEA3B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CAF8E56-0D31-804D-9F4F-DD615D5E8564}"/>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405011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54B13-E418-4E42-B170-1BC860212D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B349CDA-C85B-4F42-B8C6-26E684EDA6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9E92AAF-FCE8-F84A-8EB9-CC618F3F7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B83901-E98D-6B44-A440-F9809CD85A51}"/>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6" name="Espace réservé du pied de page 5">
            <a:extLst>
              <a:ext uri="{FF2B5EF4-FFF2-40B4-BE49-F238E27FC236}">
                <a16:creationId xmlns:a16="http://schemas.microsoft.com/office/drawing/2014/main" id="{8AB5FCBB-5385-494D-A3C1-C59A68C9E9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24BFBC5-500C-E04C-A17A-AC6C64E82723}"/>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02920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3EDC94-6368-2D4E-8A75-930EFDF09CE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FEE47BB-5DBD-034C-84DA-C86FA33B908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E7FE81-3F94-FB4B-AB88-842AE52DCBEE}"/>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5" name="Espace réservé du pied de page 4">
            <a:extLst>
              <a:ext uri="{FF2B5EF4-FFF2-40B4-BE49-F238E27FC236}">
                <a16:creationId xmlns:a16="http://schemas.microsoft.com/office/drawing/2014/main" id="{B151EDF4-8F0D-4644-BC7F-8EDA683F62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D779F0B-3D1B-234B-8E0E-0005BA6EEB7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992137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FD2D733-6537-F246-9DD6-47A2CFFE257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ED1EB9-F8C4-6F42-9293-8EFB0A55D05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78BEE2-EC2A-B14D-8087-8A8A25C4DC17}"/>
              </a:ext>
            </a:extLst>
          </p:cNvPr>
          <p:cNvSpPr>
            <a:spLocks noGrp="1"/>
          </p:cNvSpPr>
          <p:nvPr>
            <p:ph type="dt" sz="half" idx="10"/>
          </p:nvPr>
        </p:nvSpPr>
        <p:spPr/>
        <p:txBody>
          <a:bodyPr/>
          <a:lstStyle/>
          <a:p>
            <a:fld id="{760B14F5-1D21-F14F-B36B-BCA0A34A15FF}" type="datetimeFigureOut">
              <a:rPr lang="fr-FR" smtClean="0"/>
              <a:t>03/05/2022</a:t>
            </a:fld>
            <a:endParaRPr lang="fr-FR"/>
          </a:p>
        </p:txBody>
      </p:sp>
      <p:sp>
        <p:nvSpPr>
          <p:cNvPr id="5" name="Espace réservé du pied de page 4">
            <a:extLst>
              <a:ext uri="{FF2B5EF4-FFF2-40B4-BE49-F238E27FC236}">
                <a16:creationId xmlns:a16="http://schemas.microsoft.com/office/drawing/2014/main" id="{26C088C9-8381-E84F-AEB6-0CE68238AF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EFA170-D382-C048-933C-9BCF9266E4E1}"/>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1402432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1016B3E-7434-F444-85B1-81A3F66D7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C2A833-B532-5441-8F6F-770D7BDE7E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9AD43F0-39EC-1047-86D5-82DFE14D5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14F5-1D21-F14F-B36B-BCA0A34A15FF}" type="datetimeFigureOut">
              <a:rPr lang="fr-FR" smtClean="0"/>
              <a:t>03/05/2022</a:t>
            </a:fld>
            <a:endParaRPr lang="fr-FR"/>
          </a:p>
        </p:txBody>
      </p:sp>
      <p:sp>
        <p:nvSpPr>
          <p:cNvPr id="5" name="Espace réservé du pied de page 4">
            <a:extLst>
              <a:ext uri="{FF2B5EF4-FFF2-40B4-BE49-F238E27FC236}">
                <a16:creationId xmlns:a16="http://schemas.microsoft.com/office/drawing/2014/main" id="{D406F5D3-EF53-A447-B4AC-97397E1C3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8542739-B2AF-EA41-A1C0-C7A7135EE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FE8A8-8232-1F4D-846D-4EBDDCE93EEF}" type="slidenum">
              <a:rPr lang="fr-FR" smtClean="0"/>
              <a:t>‹N°›</a:t>
            </a:fld>
            <a:endParaRPr lang="fr-FR"/>
          </a:p>
        </p:txBody>
      </p:sp>
    </p:spTree>
    <p:extLst>
      <p:ext uri="{BB962C8B-B14F-4D97-AF65-F5344CB8AC3E}">
        <p14:creationId xmlns:p14="http://schemas.microsoft.com/office/powerpoint/2010/main" val="97810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0.pn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0.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9.svg"/></Relationships>
</file>

<file path=ppt/slides/_rels/slide3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1.sv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6.svg"/></Relationships>
</file>

<file path=ppt/slides/_rels/slide3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svg"/></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8.svg"/></Relationships>
</file>

<file path=ppt/slides/_rels/slide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70.pn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1.svg"/></Relationships>
</file>

<file path=ppt/slides/_rels/slide51.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40.png"/><Relationship Id="rId1" Type="http://schemas.openxmlformats.org/officeDocument/2006/relationships/slideLayout" Target="../slideLayouts/slideLayout7.xml"/><Relationship Id="rId4" Type="http://schemas.openxmlformats.org/officeDocument/2006/relationships/image" Target="../media/image73.svg"/></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55.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10" Type="http://schemas.openxmlformats.org/officeDocument/2006/relationships/image" Target="../media/image91.png"/><Relationship Id="rId4" Type="http://schemas.openxmlformats.org/officeDocument/2006/relationships/image" Target="../media/image84.png"/><Relationship Id="rId9" Type="http://schemas.openxmlformats.org/officeDocument/2006/relationships/image" Target="../media/image89.png"/></Relationships>
</file>

<file path=ppt/slides/_rels/slide5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F8221A-BD6C-D743-8F79-B5CC237B7B3A}"/>
              </a:ext>
            </a:extLst>
          </p:cNvPr>
          <p:cNvSpPr>
            <a:spLocks noGrp="1"/>
          </p:cNvSpPr>
          <p:nvPr>
            <p:ph type="ctrTitle"/>
          </p:nvPr>
        </p:nvSpPr>
        <p:spPr/>
        <p:txBody>
          <a:bodyPr/>
          <a:lstStyle/>
          <a:p>
            <a:r>
              <a:rPr lang="fr-FR" dirty="0">
                <a:solidFill>
                  <a:schemeClr val="bg1"/>
                </a:solidFill>
              </a:rPr>
              <a:t>Classification (1) :</a:t>
            </a:r>
            <a:br>
              <a:rPr lang="fr-FR" dirty="0">
                <a:solidFill>
                  <a:schemeClr val="bg1"/>
                </a:solidFill>
              </a:rPr>
            </a:br>
            <a:r>
              <a:rPr lang="fr-FR" dirty="0">
                <a:solidFill>
                  <a:schemeClr val="bg1"/>
                </a:solidFill>
              </a:rPr>
              <a:t>Généralités &amp; Métriques</a:t>
            </a:r>
          </a:p>
        </p:txBody>
      </p:sp>
      <p:sp>
        <p:nvSpPr>
          <p:cNvPr id="6" name="Sous-titre 2">
            <a:extLst>
              <a:ext uri="{FF2B5EF4-FFF2-40B4-BE49-F238E27FC236}">
                <a16:creationId xmlns:a16="http://schemas.microsoft.com/office/drawing/2014/main" id="{76B8DA83-B860-924D-B9FE-FE02FD8A3CE7}"/>
              </a:ext>
            </a:extLst>
          </p:cNvPr>
          <p:cNvSpPr>
            <a:spLocks noGrp="1"/>
          </p:cNvSpPr>
          <p:nvPr>
            <p:ph type="subTitle" idx="1"/>
          </p:nvPr>
        </p:nvSpPr>
        <p:spPr>
          <a:xfrm>
            <a:off x="1524000" y="4225983"/>
            <a:ext cx="9144000" cy="1655762"/>
          </a:xfrm>
        </p:spPr>
        <p:txBody>
          <a:bodyPr/>
          <a:lstStyle/>
          <a:p>
            <a:r>
              <a:rPr lang="fr-FR" dirty="0">
                <a:solidFill>
                  <a:schemeClr val="bg1"/>
                </a:solidFill>
              </a:rPr>
              <a:t>Machine Learning supervisé</a:t>
            </a:r>
          </a:p>
        </p:txBody>
      </p:sp>
      <p:pic>
        <p:nvPicPr>
          <p:cNvPr id="5" name="Image 4">
            <a:extLst>
              <a:ext uri="{FF2B5EF4-FFF2-40B4-BE49-F238E27FC236}">
                <a16:creationId xmlns:a16="http://schemas.microsoft.com/office/drawing/2014/main" id="{D5A1A31C-D020-0B43-A654-BC830BBC208E}"/>
              </a:ext>
            </a:extLst>
          </p:cNvPr>
          <p:cNvPicPr>
            <a:picLocks noChangeAspect="1"/>
          </p:cNvPicPr>
          <p:nvPr/>
        </p:nvPicPr>
        <p:blipFill>
          <a:blip r:embed="rId3"/>
          <a:stretch>
            <a:fillRect/>
          </a:stretch>
        </p:blipFill>
        <p:spPr>
          <a:xfrm>
            <a:off x="10753200" y="5454000"/>
            <a:ext cx="1080000" cy="1080000"/>
          </a:xfrm>
          <a:prstGeom prst="rect">
            <a:avLst/>
          </a:prstGeom>
        </p:spPr>
      </p:pic>
    </p:spTree>
    <p:extLst>
      <p:ext uri="{BB962C8B-B14F-4D97-AF65-F5344CB8AC3E}">
        <p14:creationId xmlns:p14="http://schemas.microsoft.com/office/powerpoint/2010/main" val="4086462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2554565"/>
            <a:ext cx="10515600" cy="28512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AutoNum type="arabicPeriod"/>
            </a:pPr>
            <a:r>
              <a:rPr lang="fr-FR" sz="3600" dirty="0">
                <a:solidFill>
                  <a:schemeClr val="bg1"/>
                </a:solidFill>
              </a:rPr>
              <a:t>Position du problème.</a:t>
            </a:r>
          </a:p>
          <a:p>
            <a:pPr marL="742950" indent="-742950">
              <a:buAutoNum type="arabicPeriod"/>
            </a:pPr>
            <a:r>
              <a:rPr lang="fr-FR" sz="3600" dirty="0">
                <a:solidFill>
                  <a:schemeClr val="bg1"/>
                </a:solidFill>
              </a:rPr>
              <a:t>Classification binaire.</a:t>
            </a:r>
          </a:p>
          <a:p>
            <a:pPr marL="742950" indent="-742950">
              <a:buAutoNum type="arabicPeriod"/>
            </a:pPr>
            <a:r>
              <a:rPr lang="fr-FR" sz="3600" dirty="0">
                <a:solidFill>
                  <a:schemeClr val="bg1"/>
                </a:solidFill>
              </a:rPr>
              <a:t>Classification multi-classe.</a:t>
            </a:r>
          </a:p>
        </p:txBody>
      </p:sp>
      <p:sp>
        <p:nvSpPr>
          <p:cNvPr id="5" name="Titre 1">
            <a:extLst>
              <a:ext uri="{FF2B5EF4-FFF2-40B4-BE49-F238E27FC236}">
                <a16:creationId xmlns:a16="http://schemas.microsoft.com/office/drawing/2014/main" id="{E19DB8DF-56A9-C146-8CC5-1A72BBF66B41}"/>
              </a:ext>
            </a:extLst>
          </p:cNvPr>
          <p:cNvSpPr txBox="1">
            <a:spLocks/>
          </p:cNvSpPr>
          <p:nvPr/>
        </p:nvSpPr>
        <p:spPr>
          <a:xfrm>
            <a:off x="4994689" y="402196"/>
            <a:ext cx="2189922"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i="1" dirty="0">
                <a:solidFill>
                  <a:schemeClr val="bg1"/>
                </a:solidFill>
              </a:rPr>
              <a:t>Sommaire</a:t>
            </a:r>
          </a:p>
        </p:txBody>
      </p:sp>
      <p:pic>
        <p:nvPicPr>
          <p:cNvPr id="6" name="Graphique 5" descr="Menu avec un remplissage uni">
            <a:extLst>
              <a:ext uri="{FF2B5EF4-FFF2-40B4-BE49-F238E27FC236}">
                <a16:creationId xmlns:a16="http://schemas.microsoft.com/office/drawing/2014/main" id="{F3640D13-DDD0-8D47-9978-9A138749BA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7172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1. Position du problème.</a:t>
            </a:r>
          </a:p>
        </p:txBody>
      </p:sp>
    </p:spTree>
    <p:extLst>
      <p:ext uri="{BB962C8B-B14F-4D97-AF65-F5344CB8AC3E}">
        <p14:creationId xmlns:p14="http://schemas.microsoft.com/office/powerpoint/2010/main" val="1118698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569660"/>
          </a:xfrm>
          <a:prstGeom prst="rect">
            <a:avLst/>
          </a:prstGeom>
          <a:noFill/>
        </p:spPr>
        <p:txBody>
          <a:bodyPr wrap="square" rtlCol="0">
            <a:spAutoFit/>
          </a:bodyPr>
          <a:lstStyle/>
          <a:p>
            <a:r>
              <a:rPr lang="fr-FR" sz="2400" b="1" dirty="0"/>
              <a:t>But d’un algorithme de classification</a:t>
            </a:r>
          </a:p>
          <a:p>
            <a:endParaRPr lang="fr-FR" sz="2400" dirty="0"/>
          </a:p>
          <a:p>
            <a:pPr marL="342900" indent="-342900">
              <a:buFont typeface="Arial" panose="020B0604020202020204" pitchFamily="34" charset="0"/>
              <a:buChar char="•"/>
            </a:pPr>
            <a:r>
              <a:rPr lang="fr-FR" sz="2400" dirty="0"/>
              <a:t>Prédire l’appartenance de nouvelles observations à telle ou telle classe. L’ensemble des classes étant connu a priori.</a:t>
            </a:r>
          </a:p>
        </p:txBody>
      </p:sp>
      <p:cxnSp>
        <p:nvCxnSpPr>
          <p:cNvPr id="4" name="Connecteur droit 3">
            <a:extLst>
              <a:ext uri="{FF2B5EF4-FFF2-40B4-BE49-F238E27FC236}">
                <a16:creationId xmlns:a16="http://schemas.microsoft.com/office/drawing/2014/main" id="{702693C5-B444-DA42-B7F7-0B07E9346132}"/>
              </a:ext>
            </a:extLst>
          </p:cNvPr>
          <p:cNvCxnSpPr>
            <a:cxnSpLocks/>
          </p:cNvCxnSpPr>
          <p:nvPr/>
        </p:nvCxnSpPr>
        <p:spPr>
          <a:xfrm>
            <a:off x="3912788" y="3062183"/>
            <a:ext cx="0" cy="3476847"/>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814BA29D-6F48-5041-B2D5-2A555558D9BA}"/>
              </a:ext>
            </a:extLst>
          </p:cNvPr>
          <p:cNvCxnSpPr>
            <a:cxnSpLocks/>
          </p:cNvCxnSpPr>
          <p:nvPr/>
        </p:nvCxnSpPr>
        <p:spPr>
          <a:xfrm flipH="1">
            <a:off x="3285467" y="6103095"/>
            <a:ext cx="5890437"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 name="Multiplication 5">
            <a:extLst>
              <a:ext uri="{FF2B5EF4-FFF2-40B4-BE49-F238E27FC236}">
                <a16:creationId xmlns:a16="http://schemas.microsoft.com/office/drawing/2014/main" id="{74381C01-41CB-9041-B021-7AFF8DFB08F4}"/>
              </a:ext>
            </a:extLst>
          </p:cNvPr>
          <p:cNvSpPr>
            <a:spLocks noChangeAspect="1"/>
          </p:cNvSpPr>
          <p:nvPr/>
        </p:nvSpPr>
        <p:spPr>
          <a:xfrm>
            <a:off x="5784111" y="457200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Plus 6">
            <a:extLst>
              <a:ext uri="{FF2B5EF4-FFF2-40B4-BE49-F238E27FC236}">
                <a16:creationId xmlns:a16="http://schemas.microsoft.com/office/drawing/2014/main" id="{A3E55188-5798-084F-9184-F8A00618DA9A}"/>
              </a:ext>
            </a:extLst>
          </p:cNvPr>
          <p:cNvSpPr>
            <a:spLocks noChangeAspect="1"/>
          </p:cNvSpPr>
          <p:nvPr/>
        </p:nvSpPr>
        <p:spPr>
          <a:xfrm>
            <a:off x="6321865" y="5349823"/>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lus 7">
            <a:extLst>
              <a:ext uri="{FF2B5EF4-FFF2-40B4-BE49-F238E27FC236}">
                <a16:creationId xmlns:a16="http://schemas.microsoft.com/office/drawing/2014/main" id="{83E3C552-3B2D-6E48-9657-433A2EB8B100}"/>
              </a:ext>
            </a:extLst>
          </p:cNvPr>
          <p:cNvSpPr>
            <a:spLocks noChangeAspect="1"/>
          </p:cNvSpPr>
          <p:nvPr/>
        </p:nvSpPr>
        <p:spPr>
          <a:xfrm>
            <a:off x="7106093" y="519782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lus 8">
            <a:extLst>
              <a:ext uri="{FF2B5EF4-FFF2-40B4-BE49-F238E27FC236}">
                <a16:creationId xmlns:a16="http://schemas.microsoft.com/office/drawing/2014/main" id="{908934F9-51BA-FB4B-B1BA-5437C5798218}"/>
              </a:ext>
            </a:extLst>
          </p:cNvPr>
          <p:cNvSpPr>
            <a:spLocks noChangeAspect="1"/>
          </p:cNvSpPr>
          <p:nvPr/>
        </p:nvSpPr>
        <p:spPr>
          <a:xfrm>
            <a:off x="6890651" y="489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lus 9">
            <a:extLst>
              <a:ext uri="{FF2B5EF4-FFF2-40B4-BE49-F238E27FC236}">
                <a16:creationId xmlns:a16="http://schemas.microsoft.com/office/drawing/2014/main" id="{135B3209-8F67-3746-9DB8-4C344B746B92}"/>
              </a:ext>
            </a:extLst>
          </p:cNvPr>
          <p:cNvSpPr>
            <a:spLocks noChangeAspect="1"/>
          </p:cNvSpPr>
          <p:nvPr/>
        </p:nvSpPr>
        <p:spPr>
          <a:xfrm>
            <a:off x="7432912" y="49349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lus 10">
            <a:extLst>
              <a:ext uri="{FF2B5EF4-FFF2-40B4-BE49-F238E27FC236}">
                <a16:creationId xmlns:a16="http://schemas.microsoft.com/office/drawing/2014/main" id="{845DFCB7-7D29-EC44-B0BE-22CF74C3612D}"/>
              </a:ext>
            </a:extLst>
          </p:cNvPr>
          <p:cNvSpPr>
            <a:spLocks noChangeAspect="1"/>
          </p:cNvSpPr>
          <p:nvPr/>
        </p:nvSpPr>
        <p:spPr>
          <a:xfrm>
            <a:off x="734291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Plus 11">
            <a:extLst>
              <a:ext uri="{FF2B5EF4-FFF2-40B4-BE49-F238E27FC236}">
                <a16:creationId xmlns:a16="http://schemas.microsoft.com/office/drawing/2014/main" id="{FB3930A7-6714-AA42-869A-88ACE1AB5D4A}"/>
              </a:ext>
            </a:extLst>
          </p:cNvPr>
          <p:cNvSpPr>
            <a:spLocks noChangeAspect="1"/>
          </p:cNvSpPr>
          <p:nvPr/>
        </p:nvSpPr>
        <p:spPr>
          <a:xfrm>
            <a:off x="7522912" y="4079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lus 12">
            <a:extLst>
              <a:ext uri="{FF2B5EF4-FFF2-40B4-BE49-F238E27FC236}">
                <a16:creationId xmlns:a16="http://schemas.microsoft.com/office/drawing/2014/main" id="{26EFDB69-486E-2640-91CF-A50FD868954B}"/>
              </a:ext>
            </a:extLst>
          </p:cNvPr>
          <p:cNvSpPr>
            <a:spLocks noChangeAspect="1"/>
          </p:cNvSpPr>
          <p:nvPr/>
        </p:nvSpPr>
        <p:spPr>
          <a:xfrm>
            <a:off x="8155172" y="528212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13">
            <a:extLst>
              <a:ext uri="{FF2B5EF4-FFF2-40B4-BE49-F238E27FC236}">
                <a16:creationId xmlns:a16="http://schemas.microsoft.com/office/drawing/2014/main" id="{0531920A-978A-E245-A79B-9A292FE971DF}"/>
              </a:ext>
            </a:extLst>
          </p:cNvPr>
          <p:cNvSpPr>
            <a:spLocks noChangeAspect="1"/>
          </p:cNvSpPr>
          <p:nvPr/>
        </p:nvSpPr>
        <p:spPr>
          <a:xfrm>
            <a:off x="797517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lus 14">
            <a:extLst>
              <a:ext uri="{FF2B5EF4-FFF2-40B4-BE49-F238E27FC236}">
                <a16:creationId xmlns:a16="http://schemas.microsoft.com/office/drawing/2014/main" id="{0AC34D61-58E3-6B42-9994-F0232BF9FF43}"/>
              </a:ext>
            </a:extLst>
          </p:cNvPr>
          <p:cNvSpPr>
            <a:spLocks noChangeAspect="1"/>
          </p:cNvSpPr>
          <p:nvPr/>
        </p:nvSpPr>
        <p:spPr>
          <a:xfrm>
            <a:off x="8065172" y="498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lus 15">
            <a:extLst>
              <a:ext uri="{FF2B5EF4-FFF2-40B4-BE49-F238E27FC236}">
                <a16:creationId xmlns:a16="http://schemas.microsoft.com/office/drawing/2014/main" id="{7F29654F-7C75-4F49-A8F4-4B2384A34998}"/>
              </a:ext>
            </a:extLst>
          </p:cNvPr>
          <p:cNvSpPr>
            <a:spLocks noChangeAspect="1"/>
          </p:cNvSpPr>
          <p:nvPr/>
        </p:nvSpPr>
        <p:spPr>
          <a:xfrm>
            <a:off x="8155172" y="407356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lus 16">
            <a:extLst>
              <a:ext uri="{FF2B5EF4-FFF2-40B4-BE49-F238E27FC236}">
                <a16:creationId xmlns:a16="http://schemas.microsoft.com/office/drawing/2014/main" id="{7C4BCFB6-109D-7B49-9CAA-D5BBCB3D0E2E}"/>
              </a:ext>
            </a:extLst>
          </p:cNvPr>
          <p:cNvSpPr>
            <a:spLocks noChangeAspect="1"/>
          </p:cNvSpPr>
          <p:nvPr/>
        </p:nvSpPr>
        <p:spPr>
          <a:xfrm>
            <a:off x="6719134" y="5510462"/>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lus 17">
            <a:extLst>
              <a:ext uri="{FF2B5EF4-FFF2-40B4-BE49-F238E27FC236}">
                <a16:creationId xmlns:a16="http://schemas.microsoft.com/office/drawing/2014/main" id="{E2A92FF9-9D7C-2F48-98A1-D998E68E357C}"/>
              </a:ext>
            </a:extLst>
          </p:cNvPr>
          <p:cNvSpPr>
            <a:spLocks noChangeAspect="1"/>
          </p:cNvSpPr>
          <p:nvPr/>
        </p:nvSpPr>
        <p:spPr>
          <a:xfrm>
            <a:off x="7540633" y="539111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Multiplication 18">
            <a:extLst>
              <a:ext uri="{FF2B5EF4-FFF2-40B4-BE49-F238E27FC236}">
                <a16:creationId xmlns:a16="http://schemas.microsoft.com/office/drawing/2014/main" id="{A3805918-B9E1-EC44-A8AC-A5DB39C89DBD}"/>
              </a:ext>
            </a:extLst>
          </p:cNvPr>
          <p:cNvSpPr>
            <a:spLocks noChangeAspect="1"/>
          </p:cNvSpPr>
          <p:nvPr/>
        </p:nvSpPr>
        <p:spPr>
          <a:xfrm>
            <a:off x="6331311" y="4512021"/>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Multiplication 19">
            <a:extLst>
              <a:ext uri="{FF2B5EF4-FFF2-40B4-BE49-F238E27FC236}">
                <a16:creationId xmlns:a16="http://schemas.microsoft.com/office/drawing/2014/main" id="{C964A6D4-E68C-DB48-B1F1-01CCE275100D}"/>
              </a:ext>
            </a:extLst>
          </p:cNvPr>
          <p:cNvSpPr>
            <a:spLocks noChangeAspect="1"/>
          </p:cNvSpPr>
          <p:nvPr/>
        </p:nvSpPr>
        <p:spPr>
          <a:xfrm>
            <a:off x="6017595" y="475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Multiplication 20">
            <a:extLst>
              <a:ext uri="{FF2B5EF4-FFF2-40B4-BE49-F238E27FC236}">
                <a16:creationId xmlns:a16="http://schemas.microsoft.com/office/drawing/2014/main" id="{C14EC628-8E46-7846-9587-EED02780C432}"/>
              </a:ext>
            </a:extLst>
          </p:cNvPr>
          <p:cNvSpPr>
            <a:spLocks noChangeAspect="1"/>
          </p:cNvSpPr>
          <p:nvPr/>
        </p:nvSpPr>
        <p:spPr>
          <a:xfrm>
            <a:off x="6726223" y="429593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Multiplication 21">
            <a:extLst>
              <a:ext uri="{FF2B5EF4-FFF2-40B4-BE49-F238E27FC236}">
                <a16:creationId xmlns:a16="http://schemas.microsoft.com/office/drawing/2014/main" id="{BD78ADA8-EA3D-7941-A018-F03FFCB3D6A5}"/>
              </a:ext>
            </a:extLst>
          </p:cNvPr>
          <p:cNvSpPr>
            <a:spLocks noChangeAspect="1"/>
          </p:cNvSpPr>
          <p:nvPr/>
        </p:nvSpPr>
        <p:spPr>
          <a:xfrm>
            <a:off x="6346241" y="4882122"/>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Multiplication 22">
            <a:extLst>
              <a:ext uri="{FF2B5EF4-FFF2-40B4-BE49-F238E27FC236}">
                <a16:creationId xmlns:a16="http://schemas.microsoft.com/office/drawing/2014/main" id="{5D7322D0-3545-384C-BBB6-2E2EA8BEF25C}"/>
              </a:ext>
            </a:extLst>
          </p:cNvPr>
          <p:cNvSpPr>
            <a:spLocks noChangeAspect="1"/>
          </p:cNvSpPr>
          <p:nvPr/>
        </p:nvSpPr>
        <p:spPr>
          <a:xfrm>
            <a:off x="6384474" y="409163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Multiplication 23">
            <a:extLst>
              <a:ext uri="{FF2B5EF4-FFF2-40B4-BE49-F238E27FC236}">
                <a16:creationId xmlns:a16="http://schemas.microsoft.com/office/drawing/2014/main" id="{E08FB9C1-3A50-6943-AD0E-9ADB21CB8BC0}"/>
              </a:ext>
            </a:extLst>
          </p:cNvPr>
          <p:cNvSpPr>
            <a:spLocks noChangeAspect="1"/>
          </p:cNvSpPr>
          <p:nvPr/>
        </p:nvSpPr>
        <p:spPr>
          <a:xfrm>
            <a:off x="6006000" y="423575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Multiplication 24">
            <a:extLst>
              <a:ext uri="{FF2B5EF4-FFF2-40B4-BE49-F238E27FC236}">
                <a16:creationId xmlns:a16="http://schemas.microsoft.com/office/drawing/2014/main" id="{75483341-A03B-0346-8802-3DE278B6D3AF}"/>
              </a:ext>
            </a:extLst>
          </p:cNvPr>
          <p:cNvSpPr>
            <a:spLocks noChangeAspect="1"/>
          </p:cNvSpPr>
          <p:nvPr/>
        </p:nvSpPr>
        <p:spPr>
          <a:xfrm>
            <a:off x="7093311" y="389356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Multiplication 25">
            <a:extLst>
              <a:ext uri="{FF2B5EF4-FFF2-40B4-BE49-F238E27FC236}">
                <a16:creationId xmlns:a16="http://schemas.microsoft.com/office/drawing/2014/main" id="{89025316-2ABD-4D4F-B4C6-842966E87753}"/>
              </a:ext>
            </a:extLst>
          </p:cNvPr>
          <p:cNvSpPr>
            <a:spLocks noChangeAspect="1"/>
          </p:cNvSpPr>
          <p:nvPr/>
        </p:nvSpPr>
        <p:spPr>
          <a:xfrm>
            <a:off x="6715590" y="386924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Multiplication 26">
            <a:extLst>
              <a:ext uri="{FF2B5EF4-FFF2-40B4-BE49-F238E27FC236}">
                <a16:creationId xmlns:a16="http://schemas.microsoft.com/office/drawing/2014/main" id="{22DF026E-E3B2-1446-A1DD-E14BF91B826C}"/>
              </a:ext>
            </a:extLst>
          </p:cNvPr>
          <p:cNvSpPr>
            <a:spLocks noChangeAspect="1"/>
          </p:cNvSpPr>
          <p:nvPr/>
        </p:nvSpPr>
        <p:spPr>
          <a:xfrm>
            <a:off x="5475335" y="484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Multiplication 27">
            <a:extLst>
              <a:ext uri="{FF2B5EF4-FFF2-40B4-BE49-F238E27FC236}">
                <a16:creationId xmlns:a16="http://schemas.microsoft.com/office/drawing/2014/main" id="{2C2CC276-80E7-EA4A-ABD3-7CAF254BD8F8}"/>
              </a:ext>
            </a:extLst>
          </p:cNvPr>
          <p:cNvSpPr>
            <a:spLocks noChangeAspect="1"/>
          </p:cNvSpPr>
          <p:nvPr/>
        </p:nvSpPr>
        <p:spPr>
          <a:xfrm>
            <a:off x="5827716" y="5037558"/>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Multiplication 28">
            <a:extLst>
              <a:ext uri="{FF2B5EF4-FFF2-40B4-BE49-F238E27FC236}">
                <a16:creationId xmlns:a16="http://schemas.microsoft.com/office/drawing/2014/main" id="{9DEBDC21-5843-0D41-9DBA-5FF318966B08}"/>
              </a:ext>
            </a:extLst>
          </p:cNvPr>
          <p:cNvSpPr>
            <a:spLocks noChangeAspect="1"/>
          </p:cNvSpPr>
          <p:nvPr/>
        </p:nvSpPr>
        <p:spPr>
          <a:xfrm>
            <a:off x="7323042" y="342052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Multiplication 29">
            <a:extLst>
              <a:ext uri="{FF2B5EF4-FFF2-40B4-BE49-F238E27FC236}">
                <a16:creationId xmlns:a16="http://schemas.microsoft.com/office/drawing/2014/main" id="{1E2E1E13-3145-9C47-B61B-CF3E9D927828}"/>
              </a:ext>
            </a:extLst>
          </p:cNvPr>
          <p:cNvSpPr>
            <a:spLocks noChangeAspect="1"/>
          </p:cNvSpPr>
          <p:nvPr/>
        </p:nvSpPr>
        <p:spPr>
          <a:xfrm>
            <a:off x="6884957" y="344785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Multiplication 30">
            <a:extLst>
              <a:ext uri="{FF2B5EF4-FFF2-40B4-BE49-F238E27FC236}">
                <a16:creationId xmlns:a16="http://schemas.microsoft.com/office/drawing/2014/main" id="{5F5AB492-50C6-254E-BBFE-72BD9ABB77C3}"/>
              </a:ext>
            </a:extLst>
          </p:cNvPr>
          <p:cNvSpPr>
            <a:spLocks noChangeAspect="1"/>
          </p:cNvSpPr>
          <p:nvPr/>
        </p:nvSpPr>
        <p:spPr>
          <a:xfrm>
            <a:off x="6805590" y="4576492"/>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Plus 31">
            <a:extLst>
              <a:ext uri="{FF2B5EF4-FFF2-40B4-BE49-F238E27FC236}">
                <a16:creationId xmlns:a16="http://schemas.microsoft.com/office/drawing/2014/main" id="{6CFE83A7-40B9-C547-AB3D-D96CCBB33F13}"/>
              </a:ext>
            </a:extLst>
          </p:cNvPr>
          <p:cNvSpPr>
            <a:spLocks noChangeAspect="1"/>
          </p:cNvSpPr>
          <p:nvPr/>
        </p:nvSpPr>
        <p:spPr>
          <a:xfrm>
            <a:off x="7106093" y="41872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Multiplication 32">
            <a:extLst>
              <a:ext uri="{FF2B5EF4-FFF2-40B4-BE49-F238E27FC236}">
                <a16:creationId xmlns:a16="http://schemas.microsoft.com/office/drawing/2014/main" id="{FC4252E9-0FFC-B041-BC8B-89CAFAD9781F}"/>
              </a:ext>
            </a:extLst>
          </p:cNvPr>
          <p:cNvSpPr>
            <a:spLocks noChangeAspect="1"/>
          </p:cNvSpPr>
          <p:nvPr/>
        </p:nvSpPr>
        <p:spPr>
          <a:xfrm>
            <a:off x="6186000" y="3706971"/>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Multiplication 33">
            <a:extLst>
              <a:ext uri="{FF2B5EF4-FFF2-40B4-BE49-F238E27FC236}">
                <a16:creationId xmlns:a16="http://schemas.microsoft.com/office/drawing/2014/main" id="{695E23CC-F2B2-BD41-AC79-CC4D1E1DF777}"/>
              </a:ext>
            </a:extLst>
          </p:cNvPr>
          <p:cNvSpPr>
            <a:spLocks noChangeAspect="1"/>
          </p:cNvSpPr>
          <p:nvPr/>
        </p:nvSpPr>
        <p:spPr>
          <a:xfrm>
            <a:off x="6525278" y="333632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Multiplication 34">
            <a:extLst>
              <a:ext uri="{FF2B5EF4-FFF2-40B4-BE49-F238E27FC236}">
                <a16:creationId xmlns:a16="http://schemas.microsoft.com/office/drawing/2014/main" id="{CF3A9DB9-B089-AB4B-BB80-EA30B305D125}"/>
              </a:ext>
            </a:extLst>
          </p:cNvPr>
          <p:cNvSpPr>
            <a:spLocks noChangeAspect="1"/>
          </p:cNvSpPr>
          <p:nvPr/>
        </p:nvSpPr>
        <p:spPr>
          <a:xfrm>
            <a:off x="5458103" y="4247826"/>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Plus 35">
            <a:extLst>
              <a:ext uri="{FF2B5EF4-FFF2-40B4-BE49-F238E27FC236}">
                <a16:creationId xmlns:a16="http://schemas.microsoft.com/office/drawing/2014/main" id="{3032DC32-C28F-FA4F-84D3-422B4B6ED507}"/>
              </a:ext>
            </a:extLst>
          </p:cNvPr>
          <p:cNvSpPr>
            <a:spLocks noChangeAspect="1"/>
          </p:cNvSpPr>
          <p:nvPr/>
        </p:nvSpPr>
        <p:spPr>
          <a:xfrm>
            <a:off x="7749042" y="511818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Plus 36">
            <a:extLst>
              <a:ext uri="{FF2B5EF4-FFF2-40B4-BE49-F238E27FC236}">
                <a16:creationId xmlns:a16="http://schemas.microsoft.com/office/drawing/2014/main" id="{B5A22DE3-02D7-FB4E-ADDE-026E80D30491}"/>
              </a:ext>
            </a:extLst>
          </p:cNvPr>
          <p:cNvSpPr>
            <a:spLocks noChangeAspect="1"/>
          </p:cNvSpPr>
          <p:nvPr/>
        </p:nvSpPr>
        <p:spPr>
          <a:xfrm>
            <a:off x="7686152" y="46718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Plus 37">
            <a:extLst>
              <a:ext uri="{FF2B5EF4-FFF2-40B4-BE49-F238E27FC236}">
                <a16:creationId xmlns:a16="http://schemas.microsoft.com/office/drawing/2014/main" id="{73F0D5A6-9759-4D4E-8AD8-22BCCB3E1BFE}"/>
              </a:ext>
            </a:extLst>
          </p:cNvPr>
          <p:cNvSpPr>
            <a:spLocks noChangeAspect="1"/>
          </p:cNvSpPr>
          <p:nvPr/>
        </p:nvSpPr>
        <p:spPr>
          <a:xfrm>
            <a:off x="7885172" y="37343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Plus 38">
            <a:extLst>
              <a:ext uri="{FF2B5EF4-FFF2-40B4-BE49-F238E27FC236}">
                <a16:creationId xmlns:a16="http://schemas.microsoft.com/office/drawing/2014/main" id="{075E66AC-5F81-7245-9B1E-04E5EF33E700}"/>
              </a:ext>
            </a:extLst>
          </p:cNvPr>
          <p:cNvSpPr>
            <a:spLocks noChangeAspect="1"/>
          </p:cNvSpPr>
          <p:nvPr/>
        </p:nvSpPr>
        <p:spPr>
          <a:xfrm>
            <a:off x="7885172" y="40972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Ellipse 39">
            <a:extLst>
              <a:ext uri="{FF2B5EF4-FFF2-40B4-BE49-F238E27FC236}">
                <a16:creationId xmlns:a16="http://schemas.microsoft.com/office/drawing/2014/main" id="{4CDAB910-AA0C-A448-B37A-F8C9F248EA51}"/>
              </a:ext>
            </a:extLst>
          </p:cNvPr>
          <p:cNvSpPr>
            <a:spLocks noChangeAspect="1"/>
          </p:cNvSpPr>
          <p:nvPr/>
        </p:nvSpPr>
        <p:spPr>
          <a:xfrm>
            <a:off x="7489242" y="3724438"/>
            <a:ext cx="125999" cy="12599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Plus 40">
            <a:extLst>
              <a:ext uri="{FF2B5EF4-FFF2-40B4-BE49-F238E27FC236}">
                <a16:creationId xmlns:a16="http://schemas.microsoft.com/office/drawing/2014/main" id="{4662C500-8533-D042-9273-3613C5567DEC}"/>
              </a:ext>
            </a:extLst>
          </p:cNvPr>
          <p:cNvSpPr>
            <a:spLocks noChangeAspect="1"/>
          </p:cNvSpPr>
          <p:nvPr/>
        </p:nvSpPr>
        <p:spPr>
          <a:xfrm>
            <a:off x="8613070" y="320767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514990E1-9C2A-F741-8B8D-8D426AA2F8E4}"/>
              </a:ext>
            </a:extLst>
          </p:cNvPr>
          <p:cNvSpPr txBox="1"/>
          <p:nvPr/>
        </p:nvSpPr>
        <p:spPr>
          <a:xfrm>
            <a:off x="8803954" y="3065205"/>
            <a:ext cx="509788" cy="400110"/>
          </a:xfrm>
          <a:prstGeom prst="rect">
            <a:avLst/>
          </a:prstGeom>
          <a:noFill/>
        </p:spPr>
        <p:txBody>
          <a:bodyPr wrap="square" rtlCol="0">
            <a:spAutoFit/>
          </a:bodyPr>
          <a:lstStyle/>
          <a:p>
            <a:r>
              <a:rPr lang="fr-FR" sz="2000" dirty="0"/>
              <a:t>ou</a:t>
            </a:r>
          </a:p>
        </p:txBody>
      </p:sp>
      <p:sp>
        <p:nvSpPr>
          <p:cNvPr id="43" name="Multiplication 42">
            <a:extLst>
              <a:ext uri="{FF2B5EF4-FFF2-40B4-BE49-F238E27FC236}">
                <a16:creationId xmlns:a16="http://schemas.microsoft.com/office/drawing/2014/main" id="{8D39334B-9CCC-8C44-A349-559E064B9027}"/>
              </a:ext>
            </a:extLst>
          </p:cNvPr>
          <p:cNvSpPr>
            <a:spLocks noChangeAspect="1"/>
          </p:cNvSpPr>
          <p:nvPr/>
        </p:nvSpPr>
        <p:spPr>
          <a:xfrm>
            <a:off x="9337534" y="3207678"/>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a:extLst>
              <a:ext uri="{FF2B5EF4-FFF2-40B4-BE49-F238E27FC236}">
                <a16:creationId xmlns:a16="http://schemas.microsoft.com/office/drawing/2014/main" id="{C9B74E42-7E6A-8A44-B2B9-1CF00E689C6E}"/>
              </a:ext>
            </a:extLst>
          </p:cNvPr>
          <p:cNvSpPr txBox="1"/>
          <p:nvPr/>
        </p:nvSpPr>
        <p:spPr>
          <a:xfrm>
            <a:off x="9524269" y="3044588"/>
            <a:ext cx="509788" cy="400110"/>
          </a:xfrm>
          <a:prstGeom prst="rect">
            <a:avLst/>
          </a:prstGeom>
          <a:noFill/>
        </p:spPr>
        <p:txBody>
          <a:bodyPr wrap="square" rtlCol="0">
            <a:spAutoFit/>
          </a:bodyPr>
          <a:lstStyle/>
          <a:p>
            <a:r>
              <a:rPr lang="fr-FR" sz="2000" dirty="0"/>
              <a:t>?</a:t>
            </a:r>
          </a:p>
        </p:txBody>
      </p:sp>
      <p:cxnSp>
        <p:nvCxnSpPr>
          <p:cNvPr id="45" name="Connecteur droit avec flèche 44">
            <a:extLst>
              <a:ext uri="{FF2B5EF4-FFF2-40B4-BE49-F238E27FC236}">
                <a16:creationId xmlns:a16="http://schemas.microsoft.com/office/drawing/2014/main" id="{C4468DD3-42D8-9448-ABD3-D3D5D8C8D239}"/>
              </a:ext>
            </a:extLst>
          </p:cNvPr>
          <p:cNvCxnSpPr>
            <a:cxnSpLocks/>
          </p:cNvCxnSpPr>
          <p:nvPr/>
        </p:nvCxnSpPr>
        <p:spPr>
          <a:xfrm flipH="1">
            <a:off x="7666912" y="3313248"/>
            <a:ext cx="775339" cy="393723"/>
          </a:xfrm>
          <a:prstGeom prst="straightConnector1">
            <a:avLst/>
          </a:prstGeom>
          <a:ln w="317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483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Exemple de classification binaire</a:t>
            </a:r>
          </a:p>
        </p:txBody>
      </p:sp>
      <p:pic>
        <p:nvPicPr>
          <p:cNvPr id="5" name="Image 4">
            <a:extLst>
              <a:ext uri="{FF2B5EF4-FFF2-40B4-BE49-F238E27FC236}">
                <a16:creationId xmlns:a16="http://schemas.microsoft.com/office/drawing/2014/main" id="{85CC1542-1917-9D46-BE25-370E7DCC9EDC}"/>
              </a:ext>
            </a:extLst>
          </p:cNvPr>
          <p:cNvPicPr>
            <a:picLocks noChangeAspect="1"/>
          </p:cNvPicPr>
          <p:nvPr/>
        </p:nvPicPr>
        <p:blipFill>
          <a:blip r:embed="rId2"/>
          <a:stretch>
            <a:fillRect/>
          </a:stretch>
        </p:blipFill>
        <p:spPr>
          <a:xfrm>
            <a:off x="1607595" y="2160000"/>
            <a:ext cx="9000000" cy="4500000"/>
          </a:xfrm>
          <a:prstGeom prst="rect">
            <a:avLst/>
          </a:prstGeom>
        </p:spPr>
      </p:pic>
    </p:spTree>
    <p:extLst>
      <p:ext uri="{BB962C8B-B14F-4D97-AF65-F5344CB8AC3E}">
        <p14:creationId xmlns:p14="http://schemas.microsoft.com/office/powerpoint/2010/main" val="412691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Exemple de classification multi-classes</a:t>
            </a:r>
          </a:p>
        </p:txBody>
      </p:sp>
      <p:pic>
        <p:nvPicPr>
          <p:cNvPr id="5" name="Image 4">
            <a:extLst>
              <a:ext uri="{FF2B5EF4-FFF2-40B4-BE49-F238E27FC236}">
                <a16:creationId xmlns:a16="http://schemas.microsoft.com/office/drawing/2014/main" id="{3BAE47DF-C525-7444-824D-F728A31FF817}"/>
              </a:ext>
            </a:extLst>
          </p:cNvPr>
          <p:cNvPicPr>
            <a:picLocks noChangeAspect="1"/>
          </p:cNvPicPr>
          <p:nvPr/>
        </p:nvPicPr>
        <p:blipFill>
          <a:blip r:embed="rId2"/>
          <a:stretch>
            <a:fillRect/>
          </a:stretch>
        </p:blipFill>
        <p:spPr>
          <a:xfrm>
            <a:off x="1596000" y="2160000"/>
            <a:ext cx="9000000" cy="4500000"/>
          </a:xfrm>
          <a:prstGeom prst="rect">
            <a:avLst/>
          </a:prstGeom>
        </p:spPr>
      </p:pic>
    </p:spTree>
    <p:extLst>
      <p:ext uri="{BB962C8B-B14F-4D97-AF65-F5344CB8AC3E}">
        <p14:creationId xmlns:p14="http://schemas.microsoft.com/office/powerpoint/2010/main" val="341623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046988"/>
          </a:xfrm>
          <a:prstGeom prst="rect">
            <a:avLst/>
          </a:prstGeom>
          <a:noFill/>
        </p:spPr>
        <p:txBody>
          <a:bodyPr wrap="square" rtlCol="0">
            <a:spAutoFit/>
          </a:bodyPr>
          <a:lstStyle/>
          <a:p>
            <a:r>
              <a:rPr lang="fr-FR" sz="2400" b="1" dirty="0"/>
              <a:t>Jeux de données déséquilibrés</a:t>
            </a:r>
          </a:p>
          <a:p>
            <a:endParaRPr lang="fr-FR" sz="2400" dirty="0"/>
          </a:p>
          <a:p>
            <a:pPr marL="342900" indent="-342900">
              <a:buFont typeface="Arial" panose="020B0604020202020204" pitchFamily="34" charset="0"/>
              <a:buChar char="•"/>
            </a:pPr>
            <a:r>
              <a:rPr lang="fr-FR" sz="2400" dirty="0"/>
              <a:t>Lors d’un problème de classification, un jeu de données est dit déséquilibré si la répartition des différentes classes n’est pas uniforme.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C’est le cas de la grande majorité des jeux de données, mais si ce déséquilibre est trop “flagrant“ l’efficacité des algorithmes s’en trouvera affectée.</a:t>
            </a:r>
          </a:p>
        </p:txBody>
      </p:sp>
      <p:pic>
        <p:nvPicPr>
          <p:cNvPr id="5" name="Graphique 4" descr="Poids inégaux avec un remplissage uni">
            <a:extLst>
              <a:ext uri="{FF2B5EF4-FFF2-40B4-BE49-F238E27FC236}">
                <a16:creationId xmlns:a16="http://schemas.microsoft.com/office/drawing/2014/main" id="{6B619A9A-8691-7746-890F-9C651B3B73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825507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Répartition stratifiée : principe</a:t>
            </a:r>
          </a:p>
          <a:p>
            <a:endParaRPr lang="fr-FR" sz="2400" b="1" dirty="0"/>
          </a:p>
          <a:p>
            <a:pPr marL="342900" indent="-342900">
              <a:buFont typeface="Arial" panose="020B0604020202020204" pitchFamily="34" charset="0"/>
              <a:buChar char="•"/>
            </a:pPr>
            <a:r>
              <a:rPr lang="fr-FR" sz="2400" dirty="0"/>
              <a:t>Pour éviter des problèmes de biais manifestes avec des jeux de données déséquilibrés, une bonne pratique est de respecter la proportion de chaque classe lors de la constitution des jeux d’entraînement / validation et de test.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Même chose lors de la validation croisée sur le jeu d’entraînement.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Cela est particulièrement important en cas de distribution très asymétrique et/ou de jeu de données de petite taille.</a:t>
            </a:r>
          </a:p>
        </p:txBody>
      </p:sp>
    </p:spTree>
    <p:extLst>
      <p:ext uri="{BB962C8B-B14F-4D97-AF65-F5344CB8AC3E}">
        <p14:creationId xmlns:p14="http://schemas.microsoft.com/office/powerpoint/2010/main" val="1863434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938992"/>
          </a:xfrm>
          <a:prstGeom prst="rect">
            <a:avLst/>
          </a:prstGeom>
          <a:noFill/>
        </p:spPr>
        <p:txBody>
          <a:bodyPr wrap="square" rtlCol="0">
            <a:spAutoFit/>
          </a:bodyPr>
          <a:lstStyle/>
          <a:p>
            <a:r>
              <a:rPr lang="fr-FR" sz="2400" b="1" dirty="0"/>
              <a:t>Répartition stratifiée : séparation en jeux d’entraînement/validation et de test</a:t>
            </a:r>
          </a:p>
          <a:p>
            <a:endParaRPr lang="fr-FR" sz="2400" b="1" dirty="0"/>
          </a:p>
          <a:p>
            <a:endParaRPr lang="fr-FR" sz="2400" b="1" dirty="0"/>
          </a:p>
          <a:p>
            <a:pPr algn="ctr"/>
            <a:r>
              <a:rPr lang="fr-FR" sz="2400" dirty="0"/>
              <a:t>Répartition biaisée                           vs                        Répartition stratifiée </a:t>
            </a:r>
          </a:p>
          <a:p>
            <a:endParaRPr lang="fr-FR" sz="2400" dirty="0"/>
          </a:p>
        </p:txBody>
      </p:sp>
      <p:sp>
        <p:nvSpPr>
          <p:cNvPr id="4" name="Rectangle 3">
            <a:extLst>
              <a:ext uri="{FF2B5EF4-FFF2-40B4-BE49-F238E27FC236}">
                <a16:creationId xmlns:a16="http://schemas.microsoft.com/office/drawing/2014/main" id="{D155C52C-5B7B-4C47-9EC7-79C01B205507}"/>
              </a:ext>
            </a:extLst>
          </p:cNvPr>
          <p:cNvSpPr/>
          <p:nvPr/>
        </p:nvSpPr>
        <p:spPr>
          <a:xfrm>
            <a:off x="6684582" y="5129950"/>
            <a:ext cx="72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06A87380-B1DB-554F-833B-B2C73704A826}"/>
              </a:ext>
            </a:extLst>
          </p:cNvPr>
          <p:cNvSpPr/>
          <p:nvPr/>
        </p:nvSpPr>
        <p:spPr>
          <a:xfrm>
            <a:off x="7404582" y="5129950"/>
            <a:ext cx="288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D691578C-EBD5-B847-91A1-06DABD601C60}"/>
              </a:ext>
            </a:extLst>
          </p:cNvPr>
          <p:cNvSpPr/>
          <p:nvPr/>
        </p:nvSpPr>
        <p:spPr>
          <a:xfrm>
            <a:off x="10922362" y="5128743"/>
            <a:ext cx="18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18823D71-EE4B-1D44-820F-DF8B1A753C86}"/>
              </a:ext>
            </a:extLst>
          </p:cNvPr>
          <p:cNvSpPr/>
          <p:nvPr/>
        </p:nvSpPr>
        <p:spPr>
          <a:xfrm>
            <a:off x="11102362" y="5128743"/>
            <a:ext cx="72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51592A3-F996-D743-B618-4F12AF87B58A}"/>
              </a:ext>
            </a:extLst>
          </p:cNvPr>
          <p:cNvSpPr/>
          <p:nvPr/>
        </p:nvSpPr>
        <p:spPr>
          <a:xfrm>
            <a:off x="6986298" y="3682059"/>
            <a:ext cx="90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BF0119AB-472F-F84E-AD26-D08F2ADF8B58}"/>
              </a:ext>
            </a:extLst>
          </p:cNvPr>
          <p:cNvSpPr/>
          <p:nvPr/>
        </p:nvSpPr>
        <p:spPr>
          <a:xfrm>
            <a:off x="7886298" y="3682059"/>
            <a:ext cx="360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D30E995D-968F-CC44-9213-28E995F552C5}"/>
              </a:ext>
            </a:extLst>
          </p:cNvPr>
          <p:cNvSpPr/>
          <p:nvPr/>
        </p:nvSpPr>
        <p:spPr>
          <a:xfrm>
            <a:off x="705703" y="3677234"/>
            <a:ext cx="90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7F21BEF7-B728-D644-A982-B534BD8AD414}"/>
              </a:ext>
            </a:extLst>
          </p:cNvPr>
          <p:cNvSpPr/>
          <p:nvPr/>
        </p:nvSpPr>
        <p:spPr>
          <a:xfrm>
            <a:off x="1605703" y="3677234"/>
            <a:ext cx="360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625A3AC3-4BC0-A145-8049-811A4D0F7FBA}"/>
              </a:ext>
            </a:extLst>
          </p:cNvPr>
          <p:cNvSpPr/>
          <p:nvPr/>
        </p:nvSpPr>
        <p:spPr>
          <a:xfrm>
            <a:off x="369638" y="5128743"/>
            <a:ext cx="36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E518C120-309E-4443-9303-12BADEA18F33}"/>
              </a:ext>
            </a:extLst>
          </p:cNvPr>
          <p:cNvSpPr/>
          <p:nvPr/>
        </p:nvSpPr>
        <p:spPr>
          <a:xfrm>
            <a:off x="705703" y="5127536"/>
            <a:ext cx="324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E67337E6-ED5D-F446-9B45-6563FC6D3965}"/>
              </a:ext>
            </a:extLst>
          </p:cNvPr>
          <p:cNvSpPr/>
          <p:nvPr/>
        </p:nvSpPr>
        <p:spPr>
          <a:xfrm>
            <a:off x="4607418" y="5127536"/>
            <a:ext cx="54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BE30A704-51B0-D94D-AAE2-197A4466CDFF}"/>
              </a:ext>
            </a:extLst>
          </p:cNvPr>
          <p:cNvSpPr/>
          <p:nvPr/>
        </p:nvSpPr>
        <p:spPr>
          <a:xfrm>
            <a:off x="5135143" y="5127536"/>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4" name="Connecteur droit avec flèche 23">
            <a:extLst>
              <a:ext uri="{FF2B5EF4-FFF2-40B4-BE49-F238E27FC236}">
                <a16:creationId xmlns:a16="http://schemas.microsoft.com/office/drawing/2014/main" id="{78B810DA-B4E9-3844-A73E-106968B5FCB4}"/>
              </a:ext>
            </a:extLst>
          </p:cNvPr>
          <p:cNvCxnSpPr>
            <a:endCxn id="13" idx="0"/>
          </p:cNvCxnSpPr>
          <p:nvPr/>
        </p:nvCxnSpPr>
        <p:spPr>
          <a:xfrm flipH="1">
            <a:off x="2325703" y="4037234"/>
            <a:ext cx="606683" cy="10903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C43515BF-048D-5243-B13C-6ED461D7F37A}"/>
              </a:ext>
            </a:extLst>
          </p:cNvPr>
          <p:cNvCxnSpPr>
            <a:cxnSpLocks/>
          </p:cNvCxnSpPr>
          <p:nvPr/>
        </p:nvCxnSpPr>
        <p:spPr>
          <a:xfrm>
            <a:off x="2932386" y="4037234"/>
            <a:ext cx="2060028" cy="10903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F89B350C-16D0-0D4D-9A6A-8B044163F033}"/>
              </a:ext>
            </a:extLst>
          </p:cNvPr>
          <p:cNvCxnSpPr/>
          <p:nvPr/>
        </p:nvCxnSpPr>
        <p:spPr>
          <a:xfrm flipH="1">
            <a:off x="8578494" y="4037234"/>
            <a:ext cx="606683" cy="10903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0FE8A73B-6877-034C-96B0-4C7354F71362}"/>
              </a:ext>
            </a:extLst>
          </p:cNvPr>
          <p:cNvCxnSpPr>
            <a:cxnSpLocks/>
          </p:cNvCxnSpPr>
          <p:nvPr/>
        </p:nvCxnSpPr>
        <p:spPr>
          <a:xfrm>
            <a:off x="9185177" y="4044473"/>
            <a:ext cx="2153217" cy="10830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681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569660"/>
          </a:xfrm>
          <a:prstGeom prst="rect">
            <a:avLst/>
          </a:prstGeom>
          <a:noFill/>
        </p:spPr>
        <p:txBody>
          <a:bodyPr wrap="square" rtlCol="0">
            <a:spAutoFit/>
          </a:bodyPr>
          <a:lstStyle/>
          <a:p>
            <a:r>
              <a:rPr lang="fr-FR" sz="2400" b="1" dirty="0"/>
              <a:t>Répartition stratifiée : validation croisée sur le jeu d’entraînement/validation</a:t>
            </a:r>
          </a:p>
          <a:p>
            <a:endParaRPr lang="fr-FR" sz="2400" b="1" dirty="0"/>
          </a:p>
          <a:p>
            <a:endParaRPr lang="fr-FR" sz="2400" b="1" dirty="0"/>
          </a:p>
          <a:p>
            <a:pPr algn="ctr"/>
            <a:r>
              <a:rPr lang="fr-FR" sz="2400" dirty="0"/>
              <a:t>Répartition biaisée                           vs                        Répartition stratifiée </a:t>
            </a:r>
          </a:p>
        </p:txBody>
      </p:sp>
      <p:sp>
        <p:nvSpPr>
          <p:cNvPr id="4" name="Rectangle 3">
            <a:extLst>
              <a:ext uri="{FF2B5EF4-FFF2-40B4-BE49-F238E27FC236}">
                <a16:creationId xmlns:a16="http://schemas.microsoft.com/office/drawing/2014/main" id="{3C8FD111-C1DA-324E-B7E2-947BC64BCA25}"/>
              </a:ext>
            </a:extLst>
          </p:cNvPr>
          <p:cNvSpPr/>
          <p:nvPr/>
        </p:nvSpPr>
        <p:spPr>
          <a:xfrm>
            <a:off x="8942805" y="5128743"/>
            <a:ext cx="144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6B068F42-D776-8A45-8932-A4CCF58B8D10}"/>
              </a:ext>
            </a:extLst>
          </p:cNvPr>
          <p:cNvSpPr/>
          <p:nvPr/>
        </p:nvSpPr>
        <p:spPr>
          <a:xfrm>
            <a:off x="9086805" y="5128743"/>
            <a:ext cx="57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C5608E83-A73E-1749-833E-19E6C88E3A1E}"/>
              </a:ext>
            </a:extLst>
          </p:cNvPr>
          <p:cNvSpPr/>
          <p:nvPr/>
        </p:nvSpPr>
        <p:spPr>
          <a:xfrm>
            <a:off x="6791811" y="5128743"/>
            <a:ext cx="144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5538F96C-FB58-654E-8317-4FFC18C98B38}"/>
              </a:ext>
            </a:extLst>
          </p:cNvPr>
          <p:cNvSpPr/>
          <p:nvPr/>
        </p:nvSpPr>
        <p:spPr>
          <a:xfrm>
            <a:off x="6935811" y="5128743"/>
            <a:ext cx="57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C9E15CB-09E2-7B4C-8FF7-F06A9CC74482}"/>
              </a:ext>
            </a:extLst>
          </p:cNvPr>
          <p:cNvSpPr/>
          <p:nvPr/>
        </p:nvSpPr>
        <p:spPr>
          <a:xfrm>
            <a:off x="7867489" y="5128743"/>
            <a:ext cx="144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6C626EE-ADB3-1444-80DE-5BF65E91E78A}"/>
              </a:ext>
            </a:extLst>
          </p:cNvPr>
          <p:cNvSpPr/>
          <p:nvPr/>
        </p:nvSpPr>
        <p:spPr>
          <a:xfrm>
            <a:off x="8011489" y="5128743"/>
            <a:ext cx="57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1E402E2A-B2C5-BD49-9C73-938CA7159FCA}"/>
              </a:ext>
            </a:extLst>
          </p:cNvPr>
          <p:cNvSpPr/>
          <p:nvPr/>
        </p:nvSpPr>
        <p:spPr>
          <a:xfrm>
            <a:off x="10024194" y="5128743"/>
            <a:ext cx="144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36CBE2A1-C284-CF48-993E-0C4FFB6574B0}"/>
              </a:ext>
            </a:extLst>
          </p:cNvPr>
          <p:cNvSpPr/>
          <p:nvPr/>
        </p:nvSpPr>
        <p:spPr>
          <a:xfrm>
            <a:off x="10168194" y="5128743"/>
            <a:ext cx="57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13EB65D9-193A-C249-A16D-395216FF5D72}"/>
              </a:ext>
            </a:extLst>
          </p:cNvPr>
          <p:cNvSpPr/>
          <p:nvPr/>
        </p:nvSpPr>
        <p:spPr>
          <a:xfrm>
            <a:off x="11111596" y="5128743"/>
            <a:ext cx="144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DFA8DF71-BF72-7242-A3C5-0CB15AFF0D77}"/>
              </a:ext>
            </a:extLst>
          </p:cNvPr>
          <p:cNvSpPr/>
          <p:nvPr/>
        </p:nvSpPr>
        <p:spPr>
          <a:xfrm>
            <a:off x="11255596" y="5128743"/>
            <a:ext cx="57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E1760DA8-CB17-8141-8610-A37DAD81C044}"/>
              </a:ext>
            </a:extLst>
          </p:cNvPr>
          <p:cNvSpPr/>
          <p:nvPr/>
        </p:nvSpPr>
        <p:spPr>
          <a:xfrm>
            <a:off x="7511811" y="3682059"/>
            <a:ext cx="72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21C8B5E-6205-E441-9089-F8F592EA6163}"/>
              </a:ext>
            </a:extLst>
          </p:cNvPr>
          <p:cNvSpPr/>
          <p:nvPr/>
        </p:nvSpPr>
        <p:spPr>
          <a:xfrm>
            <a:off x="8231811" y="3682059"/>
            <a:ext cx="288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9F3C5E21-4EB8-294E-960A-4B5D38B0A947}"/>
              </a:ext>
            </a:extLst>
          </p:cNvPr>
          <p:cNvCxnSpPr>
            <a:cxnSpLocks noChangeAspect="1"/>
            <a:endCxn id="5" idx="0"/>
          </p:cNvCxnSpPr>
          <p:nvPr/>
        </p:nvCxnSpPr>
        <p:spPr>
          <a:xfrm>
            <a:off x="9313202" y="4043610"/>
            <a:ext cx="61603" cy="108513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E33894D-41BC-1E49-A633-3AFB1B4313A8}"/>
              </a:ext>
            </a:extLst>
          </p:cNvPr>
          <p:cNvCxnSpPr>
            <a:cxnSpLocks noChangeAspect="1"/>
            <a:endCxn id="9" idx="0"/>
          </p:cNvCxnSpPr>
          <p:nvPr/>
        </p:nvCxnSpPr>
        <p:spPr>
          <a:xfrm flipH="1">
            <a:off x="8299489" y="4061908"/>
            <a:ext cx="994240" cy="10668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8614436F-D401-DF4D-9E32-D90D64CA8C95}"/>
              </a:ext>
            </a:extLst>
          </p:cNvPr>
          <p:cNvCxnSpPr>
            <a:cxnSpLocks noChangeAspect="1"/>
            <a:endCxn id="7" idx="0"/>
          </p:cNvCxnSpPr>
          <p:nvPr/>
        </p:nvCxnSpPr>
        <p:spPr>
          <a:xfrm flipH="1">
            <a:off x="7223811" y="4059604"/>
            <a:ext cx="2050444" cy="10691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CC11AADD-E704-8949-BDED-5A9910790679}"/>
              </a:ext>
            </a:extLst>
          </p:cNvPr>
          <p:cNvCxnSpPr>
            <a:cxnSpLocks noChangeAspect="1"/>
            <a:endCxn id="11" idx="0"/>
          </p:cNvCxnSpPr>
          <p:nvPr/>
        </p:nvCxnSpPr>
        <p:spPr>
          <a:xfrm>
            <a:off x="9339477" y="4059604"/>
            <a:ext cx="1116717" cy="10691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F73A4E1C-D1BE-114A-9664-A3A991248525}"/>
              </a:ext>
            </a:extLst>
          </p:cNvPr>
          <p:cNvCxnSpPr>
            <a:cxnSpLocks noChangeAspect="1"/>
            <a:endCxn id="13" idx="0"/>
          </p:cNvCxnSpPr>
          <p:nvPr/>
        </p:nvCxnSpPr>
        <p:spPr>
          <a:xfrm>
            <a:off x="9352148" y="4059604"/>
            <a:ext cx="2191448" cy="10691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F204DFDA-1431-F742-89E4-4D920C477B43}"/>
              </a:ext>
            </a:extLst>
          </p:cNvPr>
          <p:cNvSpPr/>
          <p:nvPr/>
        </p:nvSpPr>
        <p:spPr>
          <a:xfrm>
            <a:off x="1240251" y="3677450"/>
            <a:ext cx="720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02004766-5CED-BE4F-AB73-83443576993C}"/>
              </a:ext>
            </a:extLst>
          </p:cNvPr>
          <p:cNvSpPr/>
          <p:nvPr/>
        </p:nvSpPr>
        <p:spPr>
          <a:xfrm>
            <a:off x="1960251" y="3677450"/>
            <a:ext cx="288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avec flèche 22">
            <a:extLst>
              <a:ext uri="{FF2B5EF4-FFF2-40B4-BE49-F238E27FC236}">
                <a16:creationId xmlns:a16="http://schemas.microsoft.com/office/drawing/2014/main" id="{FA2BC6D8-DF36-FC47-92C2-734F269A373B}"/>
              </a:ext>
            </a:extLst>
          </p:cNvPr>
          <p:cNvCxnSpPr>
            <a:cxnSpLocks noChangeAspect="1"/>
            <a:endCxn id="28" idx="0"/>
          </p:cNvCxnSpPr>
          <p:nvPr/>
        </p:nvCxnSpPr>
        <p:spPr>
          <a:xfrm>
            <a:off x="3041642" y="4039001"/>
            <a:ext cx="13137" cy="108513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5DB3200C-ECE4-2549-88E3-FEA90E44BC78}"/>
              </a:ext>
            </a:extLst>
          </p:cNvPr>
          <p:cNvCxnSpPr>
            <a:cxnSpLocks noChangeAspect="1"/>
            <a:endCxn id="35" idx="0"/>
          </p:cNvCxnSpPr>
          <p:nvPr/>
        </p:nvCxnSpPr>
        <p:spPr>
          <a:xfrm flipH="1">
            <a:off x="2102888" y="4057299"/>
            <a:ext cx="919280" cy="10745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8B2D1DCE-785F-C643-9F54-5D253A7AF3BE}"/>
              </a:ext>
            </a:extLst>
          </p:cNvPr>
          <p:cNvCxnSpPr>
            <a:cxnSpLocks noChangeAspect="1"/>
            <a:endCxn id="29" idx="0"/>
          </p:cNvCxnSpPr>
          <p:nvPr/>
        </p:nvCxnSpPr>
        <p:spPr>
          <a:xfrm flipH="1">
            <a:off x="879997" y="4054995"/>
            <a:ext cx="2122698" cy="10760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11D3A218-A1FC-DA4E-8985-FA3D5AFED587}"/>
              </a:ext>
            </a:extLst>
          </p:cNvPr>
          <p:cNvCxnSpPr>
            <a:cxnSpLocks noChangeAspect="1"/>
            <a:endCxn id="32" idx="0"/>
          </p:cNvCxnSpPr>
          <p:nvPr/>
        </p:nvCxnSpPr>
        <p:spPr>
          <a:xfrm>
            <a:off x="3067917" y="4054995"/>
            <a:ext cx="1112595" cy="10889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70C62BFF-7384-A24B-8735-A5249DFA8A98}"/>
              </a:ext>
            </a:extLst>
          </p:cNvPr>
          <p:cNvCxnSpPr>
            <a:cxnSpLocks noChangeAspect="1"/>
            <a:endCxn id="33" idx="0"/>
          </p:cNvCxnSpPr>
          <p:nvPr/>
        </p:nvCxnSpPr>
        <p:spPr>
          <a:xfrm>
            <a:off x="3080588" y="4054995"/>
            <a:ext cx="2268936" cy="10889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BA98D2E-291B-1146-B40B-5A789CA8A392}"/>
              </a:ext>
            </a:extLst>
          </p:cNvPr>
          <p:cNvSpPr>
            <a:spLocks noChangeAspect="1"/>
          </p:cNvSpPr>
          <p:nvPr/>
        </p:nvSpPr>
        <p:spPr>
          <a:xfrm>
            <a:off x="2694525" y="5124134"/>
            <a:ext cx="720508" cy="36080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chemeClr val="tx1"/>
              </a:solidFill>
            </a:endParaRPr>
          </a:p>
        </p:txBody>
      </p:sp>
      <p:sp>
        <p:nvSpPr>
          <p:cNvPr id="29" name="Rectangle 28">
            <a:extLst>
              <a:ext uri="{FF2B5EF4-FFF2-40B4-BE49-F238E27FC236}">
                <a16:creationId xmlns:a16="http://schemas.microsoft.com/office/drawing/2014/main" id="{ECC0C5FE-E4C6-1A46-9067-D9B80CB5B589}"/>
              </a:ext>
            </a:extLst>
          </p:cNvPr>
          <p:cNvSpPr>
            <a:spLocks noChangeAspect="1"/>
          </p:cNvSpPr>
          <p:nvPr/>
        </p:nvSpPr>
        <p:spPr>
          <a:xfrm>
            <a:off x="519743" y="5131048"/>
            <a:ext cx="720508" cy="36080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chemeClr val="tx1"/>
              </a:solidFill>
            </a:endParaRPr>
          </a:p>
        </p:txBody>
      </p:sp>
      <p:sp>
        <p:nvSpPr>
          <p:cNvPr id="30" name="Rectangle 29">
            <a:extLst>
              <a:ext uri="{FF2B5EF4-FFF2-40B4-BE49-F238E27FC236}">
                <a16:creationId xmlns:a16="http://schemas.microsoft.com/office/drawing/2014/main" id="{F3A477D2-C1CA-E24E-8454-E672239D680A}"/>
              </a:ext>
            </a:extLst>
          </p:cNvPr>
          <p:cNvSpPr/>
          <p:nvPr/>
        </p:nvSpPr>
        <p:spPr>
          <a:xfrm>
            <a:off x="4839713" y="5143984"/>
            <a:ext cx="288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BD46D56B-20E8-CF4D-8D85-368E8B34CE41}"/>
              </a:ext>
            </a:extLst>
          </p:cNvPr>
          <p:cNvSpPr/>
          <p:nvPr/>
        </p:nvSpPr>
        <p:spPr>
          <a:xfrm>
            <a:off x="3748512" y="5143984"/>
            <a:ext cx="144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31">
            <a:extLst>
              <a:ext uri="{FF2B5EF4-FFF2-40B4-BE49-F238E27FC236}">
                <a16:creationId xmlns:a16="http://schemas.microsoft.com/office/drawing/2014/main" id="{B9D597E7-9E6E-9646-B4AF-C80873ADD6BA}"/>
              </a:ext>
            </a:extLst>
          </p:cNvPr>
          <p:cNvSpPr/>
          <p:nvPr/>
        </p:nvSpPr>
        <p:spPr>
          <a:xfrm>
            <a:off x="3892512" y="5143984"/>
            <a:ext cx="576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BE330ADB-8810-7046-ADEE-C704F8964B68}"/>
              </a:ext>
            </a:extLst>
          </p:cNvPr>
          <p:cNvSpPr/>
          <p:nvPr/>
        </p:nvSpPr>
        <p:spPr>
          <a:xfrm>
            <a:off x="5133524" y="5143984"/>
            <a:ext cx="432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8B3C901E-A2A7-CD48-B162-787D1DC00ECD}"/>
              </a:ext>
            </a:extLst>
          </p:cNvPr>
          <p:cNvSpPr/>
          <p:nvPr/>
        </p:nvSpPr>
        <p:spPr>
          <a:xfrm>
            <a:off x="1593077" y="5131855"/>
            <a:ext cx="288000" cy="360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CACC7800-A59E-A340-8CD5-F8B93A21CBD8}"/>
              </a:ext>
            </a:extLst>
          </p:cNvPr>
          <p:cNvSpPr/>
          <p:nvPr/>
        </p:nvSpPr>
        <p:spPr>
          <a:xfrm>
            <a:off x="1886888" y="5131855"/>
            <a:ext cx="432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30667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Ré-échantillonnage : principe</a:t>
            </a:r>
          </a:p>
          <a:p>
            <a:endParaRPr lang="fr-FR" sz="2400" dirty="0"/>
          </a:p>
          <a:p>
            <a:pPr marL="342900" indent="-342900">
              <a:buFont typeface="Arial" panose="020B0604020202020204" pitchFamily="34" charset="0"/>
              <a:buChar char="•"/>
            </a:pPr>
            <a:r>
              <a:rPr lang="fr-FR" sz="2400" dirty="0"/>
              <a:t>Une autre méthode pour lutter contre le déséquilibrage consiste à modifier le jeu d’entraînement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Sur-échantillonnage : on rajoute des observations de(s) classe(s) minoritaire(s).</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Sous-échantillonnage : on supprime des observations de(s) classe(s) majoritaire(s).</a:t>
            </a:r>
          </a:p>
        </p:txBody>
      </p:sp>
    </p:spTree>
    <p:extLst>
      <p:ext uri="{BB962C8B-B14F-4D97-AF65-F5344CB8AC3E}">
        <p14:creationId xmlns:p14="http://schemas.microsoft.com/office/powerpoint/2010/main" val="2090323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Ré-échantillonnage : remarques</a:t>
            </a:r>
          </a:p>
          <a:p>
            <a:endParaRPr lang="fr-FR" sz="2400" dirty="0"/>
          </a:p>
          <a:p>
            <a:pPr marL="342900" indent="-342900">
              <a:buFont typeface="Arial" panose="020B0604020202020204" pitchFamily="34" charset="0"/>
              <a:buChar char="•"/>
            </a:pPr>
            <a:r>
              <a:rPr lang="fr-FR" sz="2400" dirty="0"/>
              <a:t>Le ré-échantillonnage peut se faire en ajoutant ou supprimant des observations existantes prises au hasard.</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existe également des algorithmes plus sophistiqués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SMOTE.</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Tomek links.</a:t>
            </a:r>
          </a:p>
        </p:txBody>
      </p:sp>
      <p:pic>
        <p:nvPicPr>
          <p:cNvPr id="5" name="Graphique 4" descr="Fumer avec un remplissage uni">
            <a:extLst>
              <a:ext uri="{FF2B5EF4-FFF2-40B4-BE49-F238E27FC236}">
                <a16:creationId xmlns:a16="http://schemas.microsoft.com/office/drawing/2014/main" id="{290A23CD-116F-5D4E-B838-3A1A4F4763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913532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200329"/>
          </a:xfrm>
          <a:prstGeom prst="rect">
            <a:avLst/>
          </a:prstGeom>
          <a:noFill/>
        </p:spPr>
        <p:txBody>
          <a:bodyPr wrap="square" rtlCol="0">
            <a:spAutoFit/>
          </a:bodyPr>
          <a:lstStyle/>
          <a:p>
            <a:r>
              <a:rPr lang="fr-FR" sz="2400" b="1" dirty="0"/>
              <a:t>Sur–échantillonnage : méthode SMOTE</a:t>
            </a:r>
          </a:p>
          <a:p>
            <a:endParaRPr lang="fr-FR" sz="2400" dirty="0"/>
          </a:p>
          <a:p>
            <a:pPr marL="342900" indent="-342900">
              <a:buFont typeface="Arial" panose="020B0604020202020204" pitchFamily="34" charset="0"/>
              <a:buChar char="•"/>
            </a:pPr>
            <a:r>
              <a:rPr lang="fr-FR" sz="2400" dirty="0"/>
              <a:t>On repère des observations similaires dans la classe minoritaire :</a:t>
            </a:r>
          </a:p>
        </p:txBody>
      </p:sp>
      <p:cxnSp>
        <p:nvCxnSpPr>
          <p:cNvPr id="4" name="Connecteur droit 3">
            <a:extLst>
              <a:ext uri="{FF2B5EF4-FFF2-40B4-BE49-F238E27FC236}">
                <a16:creationId xmlns:a16="http://schemas.microsoft.com/office/drawing/2014/main" id="{FD1C86EC-8069-884F-B700-6DDA92994CE8}"/>
              </a:ext>
            </a:extLst>
          </p:cNvPr>
          <p:cNvCxnSpPr>
            <a:cxnSpLocks/>
          </p:cNvCxnSpPr>
          <p:nvPr/>
        </p:nvCxnSpPr>
        <p:spPr>
          <a:xfrm>
            <a:off x="3912788" y="3062183"/>
            <a:ext cx="0" cy="3476847"/>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445DBABD-5265-5F42-B64D-3618B61B9BDF}"/>
              </a:ext>
            </a:extLst>
          </p:cNvPr>
          <p:cNvCxnSpPr>
            <a:cxnSpLocks/>
          </p:cNvCxnSpPr>
          <p:nvPr/>
        </p:nvCxnSpPr>
        <p:spPr>
          <a:xfrm flipH="1">
            <a:off x="3285467" y="6103095"/>
            <a:ext cx="5890437"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 name="Plus 6">
            <a:extLst>
              <a:ext uri="{FF2B5EF4-FFF2-40B4-BE49-F238E27FC236}">
                <a16:creationId xmlns:a16="http://schemas.microsoft.com/office/drawing/2014/main" id="{5C0BDA50-B3E6-4546-BA0C-AD23E39BC19A}"/>
              </a:ext>
            </a:extLst>
          </p:cNvPr>
          <p:cNvSpPr>
            <a:spLocks noChangeAspect="1"/>
          </p:cNvSpPr>
          <p:nvPr/>
        </p:nvSpPr>
        <p:spPr>
          <a:xfrm>
            <a:off x="6321865" y="5349823"/>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lus 7">
            <a:extLst>
              <a:ext uri="{FF2B5EF4-FFF2-40B4-BE49-F238E27FC236}">
                <a16:creationId xmlns:a16="http://schemas.microsoft.com/office/drawing/2014/main" id="{E66B4882-727F-D247-AC0D-C295B5447C6D}"/>
              </a:ext>
            </a:extLst>
          </p:cNvPr>
          <p:cNvSpPr>
            <a:spLocks noChangeAspect="1"/>
          </p:cNvSpPr>
          <p:nvPr/>
        </p:nvSpPr>
        <p:spPr>
          <a:xfrm>
            <a:off x="7106093" y="519782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lus 8">
            <a:extLst>
              <a:ext uri="{FF2B5EF4-FFF2-40B4-BE49-F238E27FC236}">
                <a16:creationId xmlns:a16="http://schemas.microsoft.com/office/drawing/2014/main" id="{CF7050D6-FDD8-FB49-A3E3-B78D0FB8DC1B}"/>
              </a:ext>
            </a:extLst>
          </p:cNvPr>
          <p:cNvSpPr>
            <a:spLocks noChangeAspect="1"/>
          </p:cNvSpPr>
          <p:nvPr/>
        </p:nvSpPr>
        <p:spPr>
          <a:xfrm>
            <a:off x="6890651" y="489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lus 9">
            <a:extLst>
              <a:ext uri="{FF2B5EF4-FFF2-40B4-BE49-F238E27FC236}">
                <a16:creationId xmlns:a16="http://schemas.microsoft.com/office/drawing/2014/main" id="{60C0C7D9-981B-ED4B-A105-05868337FB44}"/>
              </a:ext>
            </a:extLst>
          </p:cNvPr>
          <p:cNvSpPr>
            <a:spLocks noChangeAspect="1"/>
          </p:cNvSpPr>
          <p:nvPr/>
        </p:nvSpPr>
        <p:spPr>
          <a:xfrm>
            <a:off x="7432912" y="49349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lus 10">
            <a:extLst>
              <a:ext uri="{FF2B5EF4-FFF2-40B4-BE49-F238E27FC236}">
                <a16:creationId xmlns:a16="http://schemas.microsoft.com/office/drawing/2014/main" id="{04DEC66A-2DF1-0A4B-925C-C6B5D547937C}"/>
              </a:ext>
            </a:extLst>
          </p:cNvPr>
          <p:cNvSpPr>
            <a:spLocks noChangeAspect="1"/>
          </p:cNvSpPr>
          <p:nvPr/>
        </p:nvSpPr>
        <p:spPr>
          <a:xfrm>
            <a:off x="734291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Plus 11">
            <a:extLst>
              <a:ext uri="{FF2B5EF4-FFF2-40B4-BE49-F238E27FC236}">
                <a16:creationId xmlns:a16="http://schemas.microsoft.com/office/drawing/2014/main" id="{64AFC25A-9122-944C-A105-FE33D94FF006}"/>
              </a:ext>
            </a:extLst>
          </p:cNvPr>
          <p:cNvSpPr>
            <a:spLocks noChangeAspect="1"/>
          </p:cNvSpPr>
          <p:nvPr/>
        </p:nvSpPr>
        <p:spPr>
          <a:xfrm>
            <a:off x="7522912" y="4079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lus 12">
            <a:extLst>
              <a:ext uri="{FF2B5EF4-FFF2-40B4-BE49-F238E27FC236}">
                <a16:creationId xmlns:a16="http://schemas.microsoft.com/office/drawing/2014/main" id="{BC1ABE9C-76C9-E144-8ECB-2162C247676B}"/>
              </a:ext>
            </a:extLst>
          </p:cNvPr>
          <p:cNvSpPr>
            <a:spLocks noChangeAspect="1"/>
          </p:cNvSpPr>
          <p:nvPr/>
        </p:nvSpPr>
        <p:spPr>
          <a:xfrm>
            <a:off x="8155172" y="528212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13">
            <a:extLst>
              <a:ext uri="{FF2B5EF4-FFF2-40B4-BE49-F238E27FC236}">
                <a16:creationId xmlns:a16="http://schemas.microsoft.com/office/drawing/2014/main" id="{5B06EF02-2D75-1748-AA79-83BAB2689565}"/>
              </a:ext>
            </a:extLst>
          </p:cNvPr>
          <p:cNvSpPr>
            <a:spLocks noChangeAspect="1"/>
          </p:cNvSpPr>
          <p:nvPr/>
        </p:nvSpPr>
        <p:spPr>
          <a:xfrm>
            <a:off x="797517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lus 14">
            <a:extLst>
              <a:ext uri="{FF2B5EF4-FFF2-40B4-BE49-F238E27FC236}">
                <a16:creationId xmlns:a16="http://schemas.microsoft.com/office/drawing/2014/main" id="{B6026175-C43D-4940-BAE1-B9D110F3E997}"/>
              </a:ext>
            </a:extLst>
          </p:cNvPr>
          <p:cNvSpPr>
            <a:spLocks noChangeAspect="1"/>
          </p:cNvSpPr>
          <p:nvPr/>
        </p:nvSpPr>
        <p:spPr>
          <a:xfrm>
            <a:off x="8065172" y="498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lus 15">
            <a:extLst>
              <a:ext uri="{FF2B5EF4-FFF2-40B4-BE49-F238E27FC236}">
                <a16:creationId xmlns:a16="http://schemas.microsoft.com/office/drawing/2014/main" id="{06815871-55C2-6F42-A107-14FC7F66DA28}"/>
              </a:ext>
            </a:extLst>
          </p:cNvPr>
          <p:cNvSpPr>
            <a:spLocks noChangeAspect="1"/>
          </p:cNvSpPr>
          <p:nvPr/>
        </p:nvSpPr>
        <p:spPr>
          <a:xfrm>
            <a:off x="8155172" y="407356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lus 16">
            <a:extLst>
              <a:ext uri="{FF2B5EF4-FFF2-40B4-BE49-F238E27FC236}">
                <a16:creationId xmlns:a16="http://schemas.microsoft.com/office/drawing/2014/main" id="{72DEAF29-2910-5943-A3A0-71EF982411AB}"/>
              </a:ext>
            </a:extLst>
          </p:cNvPr>
          <p:cNvSpPr>
            <a:spLocks noChangeAspect="1"/>
          </p:cNvSpPr>
          <p:nvPr/>
        </p:nvSpPr>
        <p:spPr>
          <a:xfrm>
            <a:off x="6719134" y="5510462"/>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lus 17">
            <a:extLst>
              <a:ext uri="{FF2B5EF4-FFF2-40B4-BE49-F238E27FC236}">
                <a16:creationId xmlns:a16="http://schemas.microsoft.com/office/drawing/2014/main" id="{1CCD9C75-D87D-C74C-833D-FD50BDD12FB0}"/>
              </a:ext>
            </a:extLst>
          </p:cNvPr>
          <p:cNvSpPr>
            <a:spLocks noChangeAspect="1"/>
          </p:cNvSpPr>
          <p:nvPr/>
        </p:nvSpPr>
        <p:spPr>
          <a:xfrm>
            <a:off x="7540633" y="539111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Multiplication 18">
            <a:extLst>
              <a:ext uri="{FF2B5EF4-FFF2-40B4-BE49-F238E27FC236}">
                <a16:creationId xmlns:a16="http://schemas.microsoft.com/office/drawing/2014/main" id="{A3AC06DB-593D-6345-9811-7A42016BB440}"/>
              </a:ext>
            </a:extLst>
          </p:cNvPr>
          <p:cNvSpPr>
            <a:spLocks noChangeAspect="1"/>
          </p:cNvSpPr>
          <p:nvPr/>
        </p:nvSpPr>
        <p:spPr>
          <a:xfrm>
            <a:off x="6331311" y="4512021"/>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Multiplication 19">
            <a:extLst>
              <a:ext uri="{FF2B5EF4-FFF2-40B4-BE49-F238E27FC236}">
                <a16:creationId xmlns:a16="http://schemas.microsoft.com/office/drawing/2014/main" id="{923798D6-C54A-654C-8EB7-5C0F741C28FE}"/>
              </a:ext>
            </a:extLst>
          </p:cNvPr>
          <p:cNvSpPr>
            <a:spLocks noChangeAspect="1"/>
          </p:cNvSpPr>
          <p:nvPr/>
        </p:nvSpPr>
        <p:spPr>
          <a:xfrm>
            <a:off x="6017595" y="475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Multiplication 21">
            <a:extLst>
              <a:ext uri="{FF2B5EF4-FFF2-40B4-BE49-F238E27FC236}">
                <a16:creationId xmlns:a16="http://schemas.microsoft.com/office/drawing/2014/main" id="{174524D8-A72F-E24D-AA1D-E7B4278A34C6}"/>
              </a:ext>
            </a:extLst>
          </p:cNvPr>
          <p:cNvSpPr>
            <a:spLocks noChangeAspect="1"/>
          </p:cNvSpPr>
          <p:nvPr/>
        </p:nvSpPr>
        <p:spPr>
          <a:xfrm>
            <a:off x="6072906" y="415769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Multiplication 22">
            <a:extLst>
              <a:ext uri="{FF2B5EF4-FFF2-40B4-BE49-F238E27FC236}">
                <a16:creationId xmlns:a16="http://schemas.microsoft.com/office/drawing/2014/main" id="{6BB721B1-78B8-EA46-8E7B-5C5479C549D4}"/>
              </a:ext>
            </a:extLst>
          </p:cNvPr>
          <p:cNvSpPr>
            <a:spLocks noChangeAspect="1"/>
          </p:cNvSpPr>
          <p:nvPr/>
        </p:nvSpPr>
        <p:spPr>
          <a:xfrm>
            <a:off x="7093311" y="389356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Multiplication 23">
            <a:extLst>
              <a:ext uri="{FF2B5EF4-FFF2-40B4-BE49-F238E27FC236}">
                <a16:creationId xmlns:a16="http://schemas.microsoft.com/office/drawing/2014/main" id="{AFE465C0-FEFE-F244-8A6B-EF39049771D6}"/>
              </a:ext>
            </a:extLst>
          </p:cNvPr>
          <p:cNvSpPr>
            <a:spLocks noChangeAspect="1"/>
          </p:cNvSpPr>
          <p:nvPr/>
        </p:nvSpPr>
        <p:spPr>
          <a:xfrm>
            <a:off x="6715590" y="386924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Multiplication 24">
            <a:extLst>
              <a:ext uri="{FF2B5EF4-FFF2-40B4-BE49-F238E27FC236}">
                <a16:creationId xmlns:a16="http://schemas.microsoft.com/office/drawing/2014/main" id="{C589545F-DF63-8F4C-AAC0-E39066051B1C}"/>
              </a:ext>
            </a:extLst>
          </p:cNvPr>
          <p:cNvSpPr>
            <a:spLocks noChangeAspect="1"/>
          </p:cNvSpPr>
          <p:nvPr/>
        </p:nvSpPr>
        <p:spPr>
          <a:xfrm>
            <a:off x="5475335" y="484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Multiplication 25">
            <a:extLst>
              <a:ext uri="{FF2B5EF4-FFF2-40B4-BE49-F238E27FC236}">
                <a16:creationId xmlns:a16="http://schemas.microsoft.com/office/drawing/2014/main" id="{ED82CF59-87A5-5046-92B7-EAE375EEFC84}"/>
              </a:ext>
            </a:extLst>
          </p:cNvPr>
          <p:cNvSpPr>
            <a:spLocks noChangeAspect="1"/>
          </p:cNvSpPr>
          <p:nvPr/>
        </p:nvSpPr>
        <p:spPr>
          <a:xfrm>
            <a:off x="5827716" y="5204825"/>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Multiplication 26">
            <a:extLst>
              <a:ext uri="{FF2B5EF4-FFF2-40B4-BE49-F238E27FC236}">
                <a16:creationId xmlns:a16="http://schemas.microsoft.com/office/drawing/2014/main" id="{0F5E4ABE-AD11-E042-845B-C9E9403B1DA7}"/>
              </a:ext>
            </a:extLst>
          </p:cNvPr>
          <p:cNvSpPr>
            <a:spLocks noChangeAspect="1"/>
          </p:cNvSpPr>
          <p:nvPr/>
        </p:nvSpPr>
        <p:spPr>
          <a:xfrm>
            <a:off x="7323042" y="342052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Multiplication 27">
            <a:extLst>
              <a:ext uri="{FF2B5EF4-FFF2-40B4-BE49-F238E27FC236}">
                <a16:creationId xmlns:a16="http://schemas.microsoft.com/office/drawing/2014/main" id="{D8DCE511-A1C5-E145-A720-3FFE4484B33F}"/>
              </a:ext>
            </a:extLst>
          </p:cNvPr>
          <p:cNvSpPr>
            <a:spLocks noChangeAspect="1"/>
          </p:cNvSpPr>
          <p:nvPr/>
        </p:nvSpPr>
        <p:spPr>
          <a:xfrm>
            <a:off x="6884957" y="344785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Multiplication 28">
            <a:extLst>
              <a:ext uri="{FF2B5EF4-FFF2-40B4-BE49-F238E27FC236}">
                <a16:creationId xmlns:a16="http://schemas.microsoft.com/office/drawing/2014/main" id="{748C489D-6BFE-734C-80C8-4A06D443B259}"/>
              </a:ext>
            </a:extLst>
          </p:cNvPr>
          <p:cNvSpPr>
            <a:spLocks noChangeAspect="1"/>
          </p:cNvSpPr>
          <p:nvPr/>
        </p:nvSpPr>
        <p:spPr>
          <a:xfrm>
            <a:off x="6703463" y="419570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Plus 29">
            <a:extLst>
              <a:ext uri="{FF2B5EF4-FFF2-40B4-BE49-F238E27FC236}">
                <a16:creationId xmlns:a16="http://schemas.microsoft.com/office/drawing/2014/main" id="{D460BFD3-D01C-124C-BEB7-30A6BD319050}"/>
              </a:ext>
            </a:extLst>
          </p:cNvPr>
          <p:cNvSpPr>
            <a:spLocks noChangeAspect="1"/>
          </p:cNvSpPr>
          <p:nvPr/>
        </p:nvSpPr>
        <p:spPr>
          <a:xfrm>
            <a:off x="7749042" y="511818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Plus 30">
            <a:extLst>
              <a:ext uri="{FF2B5EF4-FFF2-40B4-BE49-F238E27FC236}">
                <a16:creationId xmlns:a16="http://schemas.microsoft.com/office/drawing/2014/main" id="{B5D41CCD-FBBA-E541-B94F-E40BC139B66F}"/>
              </a:ext>
            </a:extLst>
          </p:cNvPr>
          <p:cNvSpPr>
            <a:spLocks noChangeAspect="1"/>
          </p:cNvSpPr>
          <p:nvPr/>
        </p:nvSpPr>
        <p:spPr>
          <a:xfrm>
            <a:off x="7686152" y="46718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Plus 31">
            <a:extLst>
              <a:ext uri="{FF2B5EF4-FFF2-40B4-BE49-F238E27FC236}">
                <a16:creationId xmlns:a16="http://schemas.microsoft.com/office/drawing/2014/main" id="{E8C089ED-2445-4A42-ACED-B2E6692CFE34}"/>
              </a:ext>
            </a:extLst>
          </p:cNvPr>
          <p:cNvSpPr>
            <a:spLocks noChangeAspect="1"/>
          </p:cNvSpPr>
          <p:nvPr/>
        </p:nvSpPr>
        <p:spPr>
          <a:xfrm>
            <a:off x="7885172" y="37343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Plus 32">
            <a:extLst>
              <a:ext uri="{FF2B5EF4-FFF2-40B4-BE49-F238E27FC236}">
                <a16:creationId xmlns:a16="http://schemas.microsoft.com/office/drawing/2014/main" id="{9E403894-F371-A945-ADA3-E82B412DEAB3}"/>
              </a:ext>
            </a:extLst>
          </p:cNvPr>
          <p:cNvSpPr>
            <a:spLocks noChangeAspect="1"/>
          </p:cNvSpPr>
          <p:nvPr/>
        </p:nvSpPr>
        <p:spPr>
          <a:xfrm>
            <a:off x="7885172" y="40972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Plus 33">
            <a:extLst>
              <a:ext uri="{FF2B5EF4-FFF2-40B4-BE49-F238E27FC236}">
                <a16:creationId xmlns:a16="http://schemas.microsoft.com/office/drawing/2014/main" id="{244CD2E0-585D-F74C-8EC7-C0B7109CBE65}"/>
              </a:ext>
            </a:extLst>
          </p:cNvPr>
          <p:cNvSpPr>
            <a:spLocks noChangeAspect="1"/>
          </p:cNvSpPr>
          <p:nvPr/>
        </p:nvSpPr>
        <p:spPr>
          <a:xfrm>
            <a:off x="6670765" y="520205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Plus 34">
            <a:extLst>
              <a:ext uri="{FF2B5EF4-FFF2-40B4-BE49-F238E27FC236}">
                <a16:creationId xmlns:a16="http://schemas.microsoft.com/office/drawing/2014/main" id="{A26DFC80-B7B9-884E-9732-E3728C5775E2}"/>
              </a:ext>
            </a:extLst>
          </p:cNvPr>
          <p:cNvSpPr>
            <a:spLocks noChangeAspect="1"/>
          </p:cNvSpPr>
          <p:nvPr/>
        </p:nvSpPr>
        <p:spPr>
          <a:xfrm>
            <a:off x="6419823" y="500037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Plus 35">
            <a:extLst>
              <a:ext uri="{FF2B5EF4-FFF2-40B4-BE49-F238E27FC236}">
                <a16:creationId xmlns:a16="http://schemas.microsoft.com/office/drawing/2014/main" id="{2F56366B-05B9-1C41-A2B3-F43BBA46C59E}"/>
              </a:ext>
            </a:extLst>
          </p:cNvPr>
          <p:cNvSpPr>
            <a:spLocks noChangeAspect="1"/>
          </p:cNvSpPr>
          <p:nvPr/>
        </p:nvSpPr>
        <p:spPr>
          <a:xfrm>
            <a:off x="6663132" y="47286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Plus 36">
            <a:extLst>
              <a:ext uri="{FF2B5EF4-FFF2-40B4-BE49-F238E27FC236}">
                <a16:creationId xmlns:a16="http://schemas.microsoft.com/office/drawing/2014/main" id="{3B13F005-4970-DA47-AE0D-428352AF8900}"/>
              </a:ext>
            </a:extLst>
          </p:cNvPr>
          <p:cNvSpPr>
            <a:spLocks noChangeAspect="1"/>
          </p:cNvSpPr>
          <p:nvPr/>
        </p:nvSpPr>
        <p:spPr>
          <a:xfrm>
            <a:off x="6981628" y="457741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Plus 37">
            <a:extLst>
              <a:ext uri="{FF2B5EF4-FFF2-40B4-BE49-F238E27FC236}">
                <a16:creationId xmlns:a16="http://schemas.microsoft.com/office/drawing/2014/main" id="{4BDE4447-C2D7-B741-8A62-BA9A600C8053}"/>
              </a:ext>
            </a:extLst>
          </p:cNvPr>
          <p:cNvSpPr>
            <a:spLocks noChangeAspect="1"/>
          </p:cNvSpPr>
          <p:nvPr/>
        </p:nvSpPr>
        <p:spPr>
          <a:xfrm>
            <a:off x="7165311" y="481214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Plus 38">
            <a:extLst>
              <a:ext uri="{FF2B5EF4-FFF2-40B4-BE49-F238E27FC236}">
                <a16:creationId xmlns:a16="http://schemas.microsoft.com/office/drawing/2014/main" id="{1BEE829F-2193-E240-96EF-2C3631088611}"/>
              </a:ext>
            </a:extLst>
          </p:cNvPr>
          <p:cNvSpPr>
            <a:spLocks noChangeAspect="1"/>
          </p:cNvSpPr>
          <p:nvPr/>
        </p:nvSpPr>
        <p:spPr>
          <a:xfrm>
            <a:off x="7481247" y="377409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Plus 39">
            <a:extLst>
              <a:ext uri="{FF2B5EF4-FFF2-40B4-BE49-F238E27FC236}">
                <a16:creationId xmlns:a16="http://schemas.microsoft.com/office/drawing/2014/main" id="{6049C762-92EC-964F-BF81-1B59C572D41F}"/>
              </a:ext>
            </a:extLst>
          </p:cNvPr>
          <p:cNvSpPr>
            <a:spLocks noChangeAspect="1"/>
          </p:cNvSpPr>
          <p:nvPr/>
        </p:nvSpPr>
        <p:spPr>
          <a:xfrm>
            <a:off x="7625247" y="434332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Multiplication 40">
            <a:extLst>
              <a:ext uri="{FF2B5EF4-FFF2-40B4-BE49-F238E27FC236}">
                <a16:creationId xmlns:a16="http://schemas.microsoft.com/office/drawing/2014/main" id="{E94E009B-EB39-BE49-86A1-B9A57A63271B}"/>
              </a:ext>
            </a:extLst>
          </p:cNvPr>
          <p:cNvSpPr>
            <a:spLocks noChangeAspect="1"/>
          </p:cNvSpPr>
          <p:nvPr/>
        </p:nvSpPr>
        <p:spPr>
          <a:xfrm>
            <a:off x="5573850" y="4336975"/>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Multiplication 41">
            <a:extLst>
              <a:ext uri="{FF2B5EF4-FFF2-40B4-BE49-F238E27FC236}">
                <a16:creationId xmlns:a16="http://schemas.microsoft.com/office/drawing/2014/main" id="{E523B86B-C70F-8545-9520-41B41E19516A}"/>
              </a:ext>
            </a:extLst>
          </p:cNvPr>
          <p:cNvSpPr>
            <a:spLocks noChangeAspect="1"/>
          </p:cNvSpPr>
          <p:nvPr/>
        </p:nvSpPr>
        <p:spPr>
          <a:xfrm>
            <a:off x="6187311" y="385501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Multiplication 42">
            <a:extLst>
              <a:ext uri="{FF2B5EF4-FFF2-40B4-BE49-F238E27FC236}">
                <a16:creationId xmlns:a16="http://schemas.microsoft.com/office/drawing/2014/main" id="{EA1251EF-DBB5-2545-8806-B61965A1326A}"/>
              </a:ext>
            </a:extLst>
          </p:cNvPr>
          <p:cNvSpPr>
            <a:spLocks noChangeAspect="1"/>
          </p:cNvSpPr>
          <p:nvPr/>
        </p:nvSpPr>
        <p:spPr>
          <a:xfrm>
            <a:off x="7089247" y="318478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Plus 43">
            <a:extLst>
              <a:ext uri="{FF2B5EF4-FFF2-40B4-BE49-F238E27FC236}">
                <a16:creationId xmlns:a16="http://schemas.microsoft.com/office/drawing/2014/main" id="{0969361A-7643-F545-9E8B-BBEDF0998200}"/>
              </a:ext>
            </a:extLst>
          </p:cNvPr>
          <p:cNvSpPr>
            <a:spLocks noChangeAspect="1"/>
          </p:cNvSpPr>
          <p:nvPr/>
        </p:nvSpPr>
        <p:spPr>
          <a:xfrm>
            <a:off x="7039327" y="4151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Plus 44">
            <a:extLst>
              <a:ext uri="{FF2B5EF4-FFF2-40B4-BE49-F238E27FC236}">
                <a16:creationId xmlns:a16="http://schemas.microsoft.com/office/drawing/2014/main" id="{3DB89071-B3E4-8B48-9290-3F170A0C7089}"/>
              </a:ext>
            </a:extLst>
          </p:cNvPr>
          <p:cNvSpPr>
            <a:spLocks noChangeAspect="1"/>
          </p:cNvSpPr>
          <p:nvPr/>
        </p:nvSpPr>
        <p:spPr>
          <a:xfrm>
            <a:off x="7270912" y="424028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llipse 46">
            <a:extLst>
              <a:ext uri="{FF2B5EF4-FFF2-40B4-BE49-F238E27FC236}">
                <a16:creationId xmlns:a16="http://schemas.microsoft.com/office/drawing/2014/main" id="{E5745607-3A3A-0846-AE5D-4C6C700CC34D}"/>
              </a:ext>
            </a:extLst>
          </p:cNvPr>
          <p:cNvSpPr/>
          <p:nvPr/>
        </p:nvSpPr>
        <p:spPr>
          <a:xfrm rot="21357334">
            <a:off x="5300427" y="4303356"/>
            <a:ext cx="935024" cy="7899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Ellipse 47">
            <a:extLst>
              <a:ext uri="{FF2B5EF4-FFF2-40B4-BE49-F238E27FC236}">
                <a16:creationId xmlns:a16="http://schemas.microsoft.com/office/drawing/2014/main" id="{40178DCD-CC0F-514E-8E7D-A0E8F1685A14}"/>
              </a:ext>
            </a:extLst>
          </p:cNvPr>
          <p:cNvSpPr/>
          <p:nvPr/>
        </p:nvSpPr>
        <p:spPr>
          <a:xfrm rot="2484224">
            <a:off x="6101554" y="3730990"/>
            <a:ext cx="935024" cy="67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Ellipse 48">
            <a:extLst>
              <a:ext uri="{FF2B5EF4-FFF2-40B4-BE49-F238E27FC236}">
                <a16:creationId xmlns:a16="http://schemas.microsoft.com/office/drawing/2014/main" id="{FBF3A0DF-5B43-1C4B-968A-8F86FF9A5A87}"/>
              </a:ext>
            </a:extLst>
          </p:cNvPr>
          <p:cNvSpPr/>
          <p:nvPr/>
        </p:nvSpPr>
        <p:spPr>
          <a:xfrm rot="5165572">
            <a:off x="6724465" y="3251974"/>
            <a:ext cx="935024" cy="67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364194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569660"/>
          </a:xfrm>
          <a:prstGeom prst="rect">
            <a:avLst/>
          </a:prstGeom>
          <a:noFill/>
        </p:spPr>
        <p:txBody>
          <a:bodyPr wrap="square" rtlCol="0">
            <a:spAutoFit/>
          </a:bodyPr>
          <a:lstStyle/>
          <a:p>
            <a:r>
              <a:rPr lang="fr-FR" sz="2400" b="1" dirty="0"/>
              <a:t>Sur–échantillonnage : méthode SMOTE (suite)</a:t>
            </a:r>
          </a:p>
          <a:p>
            <a:endParaRPr lang="fr-FR" sz="2400" dirty="0"/>
          </a:p>
          <a:p>
            <a:pPr marL="342900" indent="-342900">
              <a:buFont typeface="Arial" panose="020B0604020202020204" pitchFamily="34" charset="0"/>
              <a:buChar char="•"/>
            </a:pPr>
            <a:r>
              <a:rPr lang="fr-FR" sz="2400" dirty="0"/>
              <a:t>On crée de nouvelles observations à partir des observations précédemment sélectionnées :</a:t>
            </a:r>
          </a:p>
        </p:txBody>
      </p:sp>
      <p:cxnSp>
        <p:nvCxnSpPr>
          <p:cNvPr id="4" name="Connecteur droit 3">
            <a:extLst>
              <a:ext uri="{FF2B5EF4-FFF2-40B4-BE49-F238E27FC236}">
                <a16:creationId xmlns:a16="http://schemas.microsoft.com/office/drawing/2014/main" id="{FD1C86EC-8069-884F-B700-6DDA92994CE8}"/>
              </a:ext>
            </a:extLst>
          </p:cNvPr>
          <p:cNvCxnSpPr>
            <a:cxnSpLocks/>
          </p:cNvCxnSpPr>
          <p:nvPr/>
        </p:nvCxnSpPr>
        <p:spPr>
          <a:xfrm>
            <a:off x="3912788" y="3062183"/>
            <a:ext cx="0" cy="3476847"/>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445DBABD-5265-5F42-B64D-3618B61B9BDF}"/>
              </a:ext>
            </a:extLst>
          </p:cNvPr>
          <p:cNvCxnSpPr>
            <a:cxnSpLocks/>
          </p:cNvCxnSpPr>
          <p:nvPr/>
        </p:nvCxnSpPr>
        <p:spPr>
          <a:xfrm flipH="1">
            <a:off x="3285467" y="6103095"/>
            <a:ext cx="5890437"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 name="Multiplication 5">
            <a:extLst>
              <a:ext uri="{FF2B5EF4-FFF2-40B4-BE49-F238E27FC236}">
                <a16:creationId xmlns:a16="http://schemas.microsoft.com/office/drawing/2014/main" id="{70CA092B-AE5C-194F-96F8-CC27F522C3AD}"/>
              </a:ext>
            </a:extLst>
          </p:cNvPr>
          <p:cNvSpPr>
            <a:spLocks noChangeAspect="1"/>
          </p:cNvSpPr>
          <p:nvPr/>
        </p:nvSpPr>
        <p:spPr>
          <a:xfrm>
            <a:off x="5784111" y="457200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Plus 6">
            <a:extLst>
              <a:ext uri="{FF2B5EF4-FFF2-40B4-BE49-F238E27FC236}">
                <a16:creationId xmlns:a16="http://schemas.microsoft.com/office/drawing/2014/main" id="{5C0BDA50-B3E6-4546-BA0C-AD23E39BC19A}"/>
              </a:ext>
            </a:extLst>
          </p:cNvPr>
          <p:cNvSpPr>
            <a:spLocks noChangeAspect="1"/>
          </p:cNvSpPr>
          <p:nvPr/>
        </p:nvSpPr>
        <p:spPr>
          <a:xfrm>
            <a:off x="6321865" y="5349823"/>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lus 7">
            <a:extLst>
              <a:ext uri="{FF2B5EF4-FFF2-40B4-BE49-F238E27FC236}">
                <a16:creationId xmlns:a16="http://schemas.microsoft.com/office/drawing/2014/main" id="{E66B4882-727F-D247-AC0D-C295B5447C6D}"/>
              </a:ext>
            </a:extLst>
          </p:cNvPr>
          <p:cNvSpPr>
            <a:spLocks noChangeAspect="1"/>
          </p:cNvSpPr>
          <p:nvPr/>
        </p:nvSpPr>
        <p:spPr>
          <a:xfrm>
            <a:off x="7106093" y="519782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lus 8">
            <a:extLst>
              <a:ext uri="{FF2B5EF4-FFF2-40B4-BE49-F238E27FC236}">
                <a16:creationId xmlns:a16="http://schemas.microsoft.com/office/drawing/2014/main" id="{CF7050D6-FDD8-FB49-A3E3-B78D0FB8DC1B}"/>
              </a:ext>
            </a:extLst>
          </p:cNvPr>
          <p:cNvSpPr>
            <a:spLocks noChangeAspect="1"/>
          </p:cNvSpPr>
          <p:nvPr/>
        </p:nvSpPr>
        <p:spPr>
          <a:xfrm>
            <a:off x="6890651" y="489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lus 9">
            <a:extLst>
              <a:ext uri="{FF2B5EF4-FFF2-40B4-BE49-F238E27FC236}">
                <a16:creationId xmlns:a16="http://schemas.microsoft.com/office/drawing/2014/main" id="{60C0C7D9-981B-ED4B-A105-05868337FB44}"/>
              </a:ext>
            </a:extLst>
          </p:cNvPr>
          <p:cNvSpPr>
            <a:spLocks noChangeAspect="1"/>
          </p:cNvSpPr>
          <p:nvPr/>
        </p:nvSpPr>
        <p:spPr>
          <a:xfrm>
            <a:off x="7432912" y="49349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lus 10">
            <a:extLst>
              <a:ext uri="{FF2B5EF4-FFF2-40B4-BE49-F238E27FC236}">
                <a16:creationId xmlns:a16="http://schemas.microsoft.com/office/drawing/2014/main" id="{04DEC66A-2DF1-0A4B-925C-C6B5D547937C}"/>
              </a:ext>
            </a:extLst>
          </p:cNvPr>
          <p:cNvSpPr>
            <a:spLocks noChangeAspect="1"/>
          </p:cNvSpPr>
          <p:nvPr/>
        </p:nvSpPr>
        <p:spPr>
          <a:xfrm>
            <a:off x="734291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Plus 11">
            <a:extLst>
              <a:ext uri="{FF2B5EF4-FFF2-40B4-BE49-F238E27FC236}">
                <a16:creationId xmlns:a16="http://schemas.microsoft.com/office/drawing/2014/main" id="{64AFC25A-9122-944C-A105-FE33D94FF006}"/>
              </a:ext>
            </a:extLst>
          </p:cNvPr>
          <p:cNvSpPr>
            <a:spLocks noChangeAspect="1"/>
          </p:cNvSpPr>
          <p:nvPr/>
        </p:nvSpPr>
        <p:spPr>
          <a:xfrm>
            <a:off x="7522912" y="4079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lus 12">
            <a:extLst>
              <a:ext uri="{FF2B5EF4-FFF2-40B4-BE49-F238E27FC236}">
                <a16:creationId xmlns:a16="http://schemas.microsoft.com/office/drawing/2014/main" id="{BC1ABE9C-76C9-E144-8ECB-2162C247676B}"/>
              </a:ext>
            </a:extLst>
          </p:cNvPr>
          <p:cNvSpPr>
            <a:spLocks noChangeAspect="1"/>
          </p:cNvSpPr>
          <p:nvPr/>
        </p:nvSpPr>
        <p:spPr>
          <a:xfrm>
            <a:off x="8155172" y="528212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13">
            <a:extLst>
              <a:ext uri="{FF2B5EF4-FFF2-40B4-BE49-F238E27FC236}">
                <a16:creationId xmlns:a16="http://schemas.microsoft.com/office/drawing/2014/main" id="{5B06EF02-2D75-1748-AA79-83BAB2689565}"/>
              </a:ext>
            </a:extLst>
          </p:cNvPr>
          <p:cNvSpPr>
            <a:spLocks noChangeAspect="1"/>
          </p:cNvSpPr>
          <p:nvPr/>
        </p:nvSpPr>
        <p:spPr>
          <a:xfrm>
            <a:off x="797517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lus 14">
            <a:extLst>
              <a:ext uri="{FF2B5EF4-FFF2-40B4-BE49-F238E27FC236}">
                <a16:creationId xmlns:a16="http://schemas.microsoft.com/office/drawing/2014/main" id="{B6026175-C43D-4940-BAE1-B9D110F3E997}"/>
              </a:ext>
            </a:extLst>
          </p:cNvPr>
          <p:cNvSpPr>
            <a:spLocks noChangeAspect="1"/>
          </p:cNvSpPr>
          <p:nvPr/>
        </p:nvSpPr>
        <p:spPr>
          <a:xfrm>
            <a:off x="8065172" y="498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lus 15">
            <a:extLst>
              <a:ext uri="{FF2B5EF4-FFF2-40B4-BE49-F238E27FC236}">
                <a16:creationId xmlns:a16="http://schemas.microsoft.com/office/drawing/2014/main" id="{06815871-55C2-6F42-A107-14FC7F66DA28}"/>
              </a:ext>
            </a:extLst>
          </p:cNvPr>
          <p:cNvSpPr>
            <a:spLocks noChangeAspect="1"/>
          </p:cNvSpPr>
          <p:nvPr/>
        </p:nvSpPr>
        <p:spPr>
          <a:xfrm>
            <a:off x="8155172" y="407356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lus 16">
            <a:extLst>
              <a:ext uri="{FF2B5EF4-FFF2-40B4-BE49-F238E27FC236}">
                <a16:creationId xmlns:a16="http://schemas.microsoft.com/office/drawing/2014/main" id="{72DEAF29-2910-5943-A3A0-71EF982411AB}"/>
              </a:ext>
            </a:extLst>
          </p:cNvPr>
          <p:cNvSpPr>
            <a:spLocks noChangeAspect="1"/>
          </p:cNvSpPr>
          <p:nvPr/>
        </p:nvSpPr>
        <p:spPr>
          <a:xfrm>
            <a:off x="6719134" y="5510462"/>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lus 17">
            <a:extLst>
              <a:ext uri="{FF2B5EF4-FFF2-40B4-BE49-F238E27FC236}">
                <a16:creationId xmlns:a16="http://schemas.microsoft.com/office/drawing/2014/main" id="{1CCD9C75-D87D-C74C-833D-FD50BDD12FB0}"/>
              </a:ext>
            </a:extLst>
          </p:cNvPr>
          <p:cNvSpPr>
            <a:spLocks noChangeAspect="1"/>
          </p:cNvSpPr>
          <p:nvPr/>
        </p:nvSpPr>
        <p:spPr>
          <a:xfrm>
            <a:off x="7540633" y="539111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Multiplication 18">
            <a:extLst>
              <a:ext uri="{FF2B5EF4-FFF2-40B4-BE49-F238E27FC236}">
                <a16:creationId xmlns:a16="http://schemas.microsoft.com/office/drawing/2014/main" id="{A3AC06DB-593D-6345-9811-7A42016BB440}"/>
              </a:ext>
            </a:extLst>
          </p:cNvPr>
          <p:cNvSpPr>
            <a:spLocks noChangeAspect="1"/>
          </p:cNvSpPr>
          <p:nvPr/>
        </p:nvSpPr>
        <p:spPr>
          <a:xfrm>
            <a:off x="6331311" y="4512021"/>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Multiplication 19">
            <a:extLst>
              <a:ext uri="{FF2B5EF4-FFF2-40B4-BE49-F238E27FC236}">
                <a16:creationId xmlns:a16="http://schemas.microsoft.com/office/drawing/2014/main" id="{923798D6-C54A-654C-8EB7-5C0F741C28FE}"/>
              </a:ext>
            </a:extLst>
          </p:cNvPr>
          <p:cNvSpPr>
            <a:spLocks noChangeAspect="1"/>
          </p:cNvSpPr>
          <p:nvPr/>
        </p:nvSpPr>
        <p:spPr>
          <a:xfrm>
            <a:off x="6017595" y="475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Multiplication 20">
            <a:extLst>
              <a:ext uri="{FF2B5EF4-FFF2-40B4-BE49-F238E27FC236}">
                <a16:creationId xmlns:a16="http://schemas.microsoft.com/office/drawing/2014/main" id="{7ACB6D74-BC89-EC43-A5A5-6186AF5AFE2C}"/>
              </a:ext>
            </a:extLst>
          </p:cNvPr>
          <p:cNvSpPr>
            <a:spLocks noChangeAspect="1"/>
          </p:cNvSpPr>
          <p:nvPr/>
        </p:nvSpPr>
        <p:spPr>
          <a:xfrm>
            <a:off x="6384474" y="409163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Multiplication 22">
            <a:extLst>
              <a:ext uri="{FF2B5EF4-FFF2-40B4-BE49-F238E27FC236}">
                <a16:creationId xmlns:a16="http://schemas.microsoft.com/office/drawing/2014/main" id="{6BB721B1-78B8-EA46-8E7B-5C5479C549D4}"/>
              </a:ext>
            </a:extLst>
          </p:cNvPr>
          <p:cNvSpPr>
            <a:spLocks noChangeAspect="1"/>
          </p:cNvSpPr>
          <p:nvPr/>
        </p:nvSpPr>
        <p:spPr>
          <a:xfrm>
            <a:off x="7093311" y="389356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Multiplication 23">
            <a:extLst>
              <a:ext uri="{FF2B5EF4-FFF2-40B4-BE49-F238E27FC236}">
                <a16:creationId xmlns:a16="http://schemas.microsoft.com/office/drawing/2014/main" id="{AFE465C0-FEFE-F244-8A6B-EF39049771D6}"/>
              </a:ext>
            </a:extLst>
          </p:cNvPr>
          <p:cNvSpPr>
            <a:spLocks noChangeAspect="1"/>
          </p:cNvSpPr>
          <p:nvPr/>
        </p:nvSpPr>
        <p:spPr>
          <a:xfrm>
            <a:off x="6715590" y="386924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Multiplication 24">
            <a:extLst>
              <a:ext uri="{FF2B5EF4-FFF2-40B4-BE49-F238E27FC236}">
                <a16:creationId xmlns:a16="http://schemas.microsoft.com/office/drawing/2014/main" id="{C589545F-DF63-8F4C-AAC0-E39066051B1C}"/>
              </a:ext>
            </a:extLst>
          </p:cNvPr>
          <p:cNvSpPr>
            <a:spLocks noChangeAspect="1"/>
          </p:cNvSpPr>
          <p:nvPr/>
        </p:nvSpPr>
        <p:spPr>
          <a:xfrm>
            <a:off x="5475335" y="484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Multiplication 26">
            <a:extLst>
              <a:ext uri="{FF2B5EF4-FFF2-40B4-BE49-F238E27FC236}">
                <a16:creationId xmlns:a16="http://schemas.microsoft.com/office/drawing/2014/main" id="{0F5E4ABE-AD11-E042-845B-C9E9403B1DA7}"/>
              </a:ext>
            </a:extLst>
          </p:cNvPr>
          <p:cNvSpPr>
            <a:spLocks noChangeAspect="1"/>
          </p:cNvSpPr>
          <p:nvPr/>
        </p:nvSpPr>
        <p:spPr>
          <a:xfrm>
            <a:off x="7323042" y="342052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Multiplication 27">
            <a:extLst>
              <a:ext uri="{FF2B5EF4-FFF2-40B4-BE49-F238E27FC236}">
                <a16:creationId xmlns:a16="http://schemas.microsoft.com/office/drawing/2014/main" id="{D8DCE511-A1C5-E145-A720-3FFE4484B33F}"/>
              </a:ext>
            </a:extLst>
          </p:cNvPr>
          <p:cNvSpPr>
            <a:spLocks noChangeAspect="1"/>
          </p:cNvSpPr>
          <p:nvPr/>
        </p:nvSpPr>
        <p:spPr>
          <a:xfrm>
            <a:off x="6884957" y="344785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Multiplication 28">
            <a:extLst>
              <a:ext uri="{FF2B5EF4-FFF2-40B4-BE49-F238E27FC236}">
                <a16:creationId xmlns:a16="http://schemas.microsoft.com/office/drawing/2014/main" id="{748C489D-6BFE-734C-80C8-4A06D443B259}"/>
              </a:ext>
            </a:extLst>
          </p:cNvPr>
          <p:cNvSpPr>
            <a:spLocks noChangeAspect="1"/>
          </p:cNvSpPr>
          <p:nvPr/>
        </p:nvSpPr>
        <p:spPr>
          <a:xfrm>
            <a:off x="6703463" y="419570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Plus 29">
            <a:extLst>
              <a:ext uri="{FF2B5EF4-FFF2-40B4-BE49-F238E27FC236}">
                <a16:creationId xmlns:a16="http://schemas.microsoft.com/office/drawing/2014/main" id="{D460BFD3-D01C-124C-BEB7-30A6BD319050}"/>
              </a:ext>
            </a:extLst>
          </p:cNvPr>
          <p:cNvSpPr>
            <a:spLocks noChangeAspect="1"/>
          </p:cNvSpPr>
          <p:nvPr/>
        </p:nvSpPr>
        <p:spPr>
          <a:xfrm>
            <a:off x="7749042" y="511818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Plus 30">
            <a:extLst>
              <a:ext uri="{FF2B5EF4-FFF2-40B4-BE49-F238E27FC236}">
                <a16:creationId xmlns:a16="http://schemas.microsoft.com/office/drawing/2014/main" id="{B5D41CCD-FBBA-E541-B94F-E40BC139B66F}"/>
              </a:ext>
            </a:extLst>
          </p:cNvPr>
          <p:cNvSpPr>
            <a:spLocks noChangeAspect="1"/>
          </p:cNvSpPr>
          <p:nvPr/>
        </p:nvSpPr>
        <p:spPr>
          <a:xfrm>
            <a:off x="7686152" y="46718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Plus 31">
            <a:extLst>
              <a:ext uri="{FF2B5EF4-FFF2-40B4-BE49-F238E27FC236}">
                <a16:creationId xmlns:a16="http://schemas.microsoft.com/office/drawing/2014/main" id="{E8C089ED-2445-4A42-ACED-B2E6692CFE34}"/>
              </a:ext>
            </a:extLst>
          </p:cNvPr>
          <p:cNvSpPr>
            <a:spLocks noChangeAspect="1"/>
          </p:cNvSpPr>
          <p:nvPr/>
        </p:nvSpPr>
        <p:spPr>
          <a:xfrm>
            <a:off x="7885172" y="37343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Plus 32">
            <a:extLst>
              <a:ext uri="{FF2B5EF4-FFF2-40B4-BE49-F238E27FC236}">
                <a16:creationId xmlns:a16="http://schemas.microsoft.com/office/drawing/2014/main" id="{9E403894-F371-A945-ADA3-E82B412DEAB3}"/>
              </a:ext>
            </a:extLst>
          </p:cNvPr>
          <p:cNvSpPr>
            <a:spLocks noChangeAspect="1"/>
          </p:cNvSpPr>
          <p:nvPr/>
        </p:nvSpPr>
        <p:spPr>
          <a:xfrm>
            <a:off x="7885172" y="40972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Plus 33">
            <a:extLst>
              <a:ext uri="{FF2B5EF4-FFF2-40B4-BE49-F238E27FC236}">
                <a16:creationId xmlns:a16="http://schemas.microsoft.com/office/drawing/2014/main" id="{244CD2E0-585D-F74C-8EC7-C0B7109CBE65}"/>
              </a:ext>
            </a:extLst>
          </p:cNvPr>
          <p:cNvSpPr>
            <a:spLocks noChangeAspect="1"/>
          </p:cNvSpPr>
          <p:nvPr/>
        </p:nvSpPr>
        <p:spPr>
          <a:xfrm>
            <a:off x="6670765" y="520205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Plus 34">
            <a:extLst>
              <a:ext uri="{FF2B5EF4-FFF2-40B4-BE49-F238E27FC236}">
                <a16:creationId xmlns:a16="http://schemas.microsoft.com/office/drawing/2014/main" id="{A26DFC80-B7B9-884E-9732-E3728C5775E2}"/>
              </a:ext>
            </a:extLst>
          </p:cNvPr>
          <p:cNvSpPr>
            <a:spLocks noChangeAspect="1"/>
          </p:cNvSpPr>
          <p:nvPr/>
        </p:nvSpPr>
        <p:spPr>
          <a:xfrm>
            <a:off x="6419823" y="500037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Plus 35">
            <a:extLst>
              <a:ext uri="{FF2B5EF4-FFF2-40B4-BE49-F238E27FC236}">
                <a16:creationId xmlns:a16="http://schemas.microsoft.com/office/drawing/2014/main" id="{2F56366B-05B9-1C41-A2B3-F43BBA46C59E}"/>
              </a:ext>
            </a:extLst>
          </p:cNvPr>
          <p:cNvSpPr>
            <a:spLocks noChangeAspect="1"/>
          </p:cNvSpPr>
          <p:nvPr/>
        </p:nvSpPr>
        <p:spPr>
          <a:xfrm>
            <a:off x="6663132" y="47286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Plus 36">
            <a:extLst>
              <a:ext uri="{FF2B5EF4-FFF2-40B4-BE49-F238E27FC236}">
                <a16:creationId xmlns:a16="http://schemas.microsoft.com/office/drawing/2014/main" id="{3B13F005-4970-DA47-AE0D-428352AF8900}"/>
              </a:ext>
            </a:extLst>
          </p:cNvPr>
          <p:cNvSpPr>
            <a:spLocks noChangeAspect="1"/>
          </p:cNvSpPr>
          <p:nvPr/>
        </p:nvSpPr>
        <p:spPr>
          <a:xfrm>
            <a:off x="6981628" y="457741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Plus 37">
            <a:extLst>
              <a:ext uri="{FF2B5EF4-FFF2-40B4-BE49-F238E27FC236}">
                <a16:creationId xmlns:a16="http://schemas.microsoft.com/office/drawing/2014/main" id="{4BDE4447-C2D7-B741-8A62-BA9A600C8053}"/>
              </a:ext>
            </a:extLst>
          </p:cNvPr>
          <p:cNvSpPr>
            <a:spLocks noChangeAspect="1"/>
          </p:cNvSpPr>
          <p:nvPr/>
        </p:nvSpPr>
        <p:spPr>
          <a:xfrm>
            <a:off x="7165311" y="481214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Plus 38">
            <a:extLst>
              <a:ext uri="{FF2B5EF4-FFF2-40B4-BE49-F238E27FC236}">
                <a16:creationId xmlns:a16="http://schemas.microsoft.com/office/drawing/2014/main" id="{1BEE829F-2193-E240-96EF-2C3631088611}"/>
              </a:ext>
            </a:extLst>
          </p:cNvPr>
          <p:cNvSpPr>
            <a:spLocks noChangeAspect="1"/>
          </p:cNvSpPr>
          <p:nvPr/>
        </p:nvSpPr>
        <p:spPr>
          <a:xfrm>
            <a:off x="7481247" y="377409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Plus 39">
            <a:extLst>
              <a:ext uri="{FF2B5EF4-FFF2-40B4-BE49-F238E27FC236}">
                <a16:creationId xmlns:a16="http://schemas.microsoft.com/office/drawing/2014/main" id="{6049C762-92EC-964F-BF81-1B59C572D41F}"/>
              </a:ext>
            </a:extLst>
          </p:cNvPr>
          <p:cNvSpPr>
            <a:spLocks noChangeAspect="1"/>
          </p:cNvSpPr>
          <p:nvPr/>
        </p:nvSpPr>
        <p:spPr>
          <a:xfrm>
            <a:off x="7625247" y="434332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Multiplication 40">
            <a:extLst>
              <a:ext uri="{FF2B5EF4-FFF2-40B4-BE49-F238E27FC236}">
                <a16:creationId xmlns:a16="http://schemas.microsoft.com/office/drawing/2014/main" id="{E94E009B-EB39-BE49-86A1-B9A57A63271B}"/>
              </a:ext>
            </a:extLst>
          </p:cNvPr>
          <p:cNvSpPr>
            <a:spLocks noChangeAspect="1"/>
          </p:cNvSpPr>
          <p:nvPr/>
        </p:nvSpPr>
        <p:spPr>
          <a:xfrm>
            <a:off x="5573850" y="4336975"/>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Multiplication 41">
            <a:extLst>
              <a:ext uri="{FF2B5EF4-FFF2-40B4-BE49-F238E27FC236}">
                <a16:creationId xmlns:a16="http://schemas.microsoft.com/office/drawing/2014/main" id="{E523B86B-C70F-8545-9520-41B41E19516A}"/>
              </a:ext>
            </a:extLst>
          </p:cNvPr>
          <p:cNvSpPr>
            <a:spLocks noChangeAspect="1"/>
          </p:cNvSpPr>
          <p:nvPr/>
        </p:nvSpPr>
        <p:spPr>
          <a:xfrm>
            <a:off x="6187311" y="385501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Multiplication 42">
            <a:extLst>
              <a:ext uri="{FF2B5EF4-FFF2-40B4-BE49-F238E27FC236}">
                <a16:creationId xmlns:a16="http://schemas.microsoft.com/office/drawing/2014/main" id="{EA1251EF-DBB5-2545-8806-B61965A1326A}"/>
              </a:ext>
            </a:extLst>
          </p:cNvPr>
          <p:cNvSpPr>
            <a:spLocks noChangeAspect="1"/>
          </p:cNvSpPr>
          <p:nvPr/>
        </p:nvSpPr>
        <p:spPr>
          <a:xfrm>
            <a:off x="7089247" y="318478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Plus 43">
            <a:extLst>
              <a:ext uri="{FF2B5EF4-FFF2-40B4-BE49-F238E27FC236}">
                <a16:creationId xmlns:a16="http://schemas.microsoft.com/office/drawing/2014/main" id="{0969361A-7643-F545-9E8B-BBEDF0998200}"/>
              </a:ext>
            </a:extLst>
          </p:cNvPr>
          <p:cNvSpPr>
            <a:spLocks noChangeAspect="1"/>
          </p:cNvSpPr>
          <p:nvPr/>
        </p:nvSpPr>
        <p:spPr>
          <a:xfrm>
            <a:off x="7039327" y="4151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Plus 44">
            <a:extLst>
              <a:ext uri="{FF2B5EF4-FFF2-40B4-BE49-F238E27FC236}">
                <a16:creationId xmlns:a16="http://schemas.microsoft.com/office/drawing/2014/main" id="{3DB89071-B3E4-8B48-9290-3F170A0C7089}"/>
              </a:ext>
            </a:extLst>
          </p:cNvPr>
          <p:cNvSpPr>
            <a:spLocks noChangeAspect="1"/>
          </p:cNvSpPr>
          <p:nvPr/>
        </p:nvSpPr>
        <p:spPr>
          <a:xfrm>
            <a:off x="7270912" y="424028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Multiplication 45">
            <a:extLst>
              <a:ext uri="{FF2B5EF4-FFF2-40B4-BE49-F238E27FC236}">
                <a16:creationId xmlns:a16="http://schemas.microsoft.com/office/drawing/2014/main" id="{0F183DDA-A4F1-0642-87CB-CF3A2D94318E}"/>
              </a:ext>
            </a:extLst>
          </p:cNvPr>
          <p:cNvSpPr>
            <a:spLocks noChangeAspect="1"/>
          </p:cNvSpPr>
          <p:nvPr/>
        </p:nvSpPr>
        <p:spPr>
          <a:xfrm>
            <a:off x="7113736" y="358473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Multiplication 47">
            <a:extLst>
              <a:ext uri="{FF2B5EF4-FFF2-40B4-BE49-F238E27FC236}">
                <a16:creationId xmlns:a16="http://schemas.microsoft.com/office/drawing/2014/main" id="{4182E155-C425-EA42-8321-8D7BA4DB4587}"/>
              </a:ext>
            </a:extLst>
          </p:cNvPr>
          <p:cNvSpPr>
            <a:spLocks noChangeAspect="1"/>
          </p:cNvSpPr>
          <p:nvPr/>
        </p:nvSpPr>
        <p:spPr>
          <a:xfrm>
            <a:off x="6072906" y="415769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Multiplication 48">
            <a:extLst>
              <a:ext uri="{FF2B5EF4-FFF2-40B4-BE49-F238E27FC236}">
                <a16:creationId xmlns:a16="http://schemas.microsoft.com/office/drawing/2014/main" id="{CBBB8B25-7A4C-FA4D-A86C-4B5E76DCB114}"/>
              </a:ext>
            </a:extLst>
          </p:cNvPr>
          <p:cNvSpPr>
            <a:spLocks noChangeAspect="1"/>
          </p:cNvSpPr>
          <p:nvPr/>
        </p:nvSpPr>
        <p:spPr>
          <a:xfrm>
            <a:off x="5827716" y="5204825"/>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llipse 49">
            <a:extLst>
              <a:ext uri="{FF2B5EF4-FFF2-40B4-BE49-F238E27FC236}">
                <a16:creationId xmlns:a16="http://schemas.microsoft.com/office/drawing/2014/main" id="{A49AE6BB-503A-E743-B325-4B8241BE4B23}"/>
              </a:ext>
            </a:extLst>
          </p:cNvPr>
          <p:cNvSpPr/>
          <p:nvPr/>
        </p:nvSpPr>
        <p:spPr>
          <a:xfrm rot="21357334">
            <a:off x="5300427" y="4303356"/>
            <a:ext cx="935024" cy="7899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50DDC84B-5F07-E940-ABAD-97036899A90D}"/>
              </a:ext>
            </a:extLst>
          </p:cNvPr>
          <p:cNvSpPr/>
          <p:nvPr/>
        </p:nvSpPr>
        <p:spPr>
          <a:xfrm rot="2484224">
            <a:off x="6101554" y="3730990"/>
            <a:ext cx="935024" cy="67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llipse 51">
            <a:extLst>
              <a:ext uri="{FF2B5EF4-FFF2-40B4-BE49-F238E27FC236}">
                <a16:creationId xmlns:a16="http://schemas.microsoft.com/office/drawing/2014/main" id="{8F6EF33E-66F7-544D-9363-4CB4CF939265}"/>
              </a:ext>
            </a:extLst>
          </p:cNvPr>
          <p:cNvSpPr/>
          <p:nvPr/>
        </p:nvSpPr>
        <p:spPr>
          <a:xfrm rot="5165572">
            <a:off x="6724465" y="3251974"/>
            <a:ext cx="935024" cy="67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820092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569660"/>
          </a:xfrm>
          <a:prstGeom prst="rect">
            <a:avLst/>
          </a:prstGeom>
          <a:noFill/>
        </p:spPr>
        <p:txBody>
          <a:bodyPr wrap="square" rtlCol="0">
            <a:spAutoFit/>
          </a:bodyPr>
          <a:lstStyle/>
          <a:p>
            <a:r>
              <a:rPr lang="fr-FR" sz="2400" b="1" dirty="0"/>
              <a:t>Sous–échantillonnage : méthode Tomek Links</a:t>
            </a:r>
          </a:p>
          <a:p>
            <a:endParaRPr lang="fr-FR" sz="2400" dirty="0"/>
          </a:p>
          <a:p>
            <a:pPr marL="342900" indent="-342900">
              <a:buFont typeface="Arial" panose="020B0604020202020204" pitchFamily="34" charset="0"/>
              <a:buChar char="•"/>
            </a:pPr>
            <a:r>
              <a:rPr lang="fr-FR" sz="2400" dirty="0"/>
              <a:t>On détecte des paires d’observations proches constituées d’un élément de la classe minoritaire et d’un élément de la classe majoritaire :</a:t>
            </a:r>
          </a:p>
        </p:txBody>
      </p:sp>
      <p:cxnSp>
        <p:nvCxnSpPr>
          <p:cNvPr id="4" name="Connecteur droit 3">
            <a:extLst>
              <a:ext uri="{FF2B5EF4-FFF2-40B4-BE49-F238E27FC236}">
                <a16:creationId xmlns:a16="http://schemas.microsoft.com/office/drawing/2014/main" id="{0A313375-9E43-5B4D-A588-3667B802B973}"/>
              </a:ext>
            </a:extLst>
          </p:cNvPr>
          <p:cNvCxnSpPr>
            <a:cxnSpLocks/>
          </p:cNvCxnSpPr>
          <p:nvPr/>
        </p:nvCxnSpPr>
        <p:spPr>
          <a:xfrm>
            <a:off x="3912788" y="3062183"/>
            <a:ext cx="0" cy="3476847"/>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2642166F-3696-F641-90E5-2F6B336302A8}"/>
              </a:ext>
            </a:extLst>
          </p:cNvPr>
          <p:cNvCxnSpPr>
            <a:cxnSpLocks/>
          </p:cNvCxnSpPr>
          <p:nvPr/>
        </p:nvCxnSpPr>
        <p:spPr>
          <a:xfrm flipH="1">
            <a:off x="3285467" y="6103095"/>
            <a:ext cx="5890437"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 name="Multiplication 5">
            <a:extLst>
              <a:ext uri="{FF2B5EF4-FFF2-40B4-BE49-F238E27FC236}">
                <a16:creationId xmlns:a16="http://schemas.microsoft.com/office/drawing/2014/main" id="{0B653555-9746-8448-95F3-1B27801BBB70}"/>
              </a:ext>
            </a:extLst>
          </p:cNvPr>
          <p:cNvSpPr>
            <a:spLocks noChangeAspect="1"/>
          </p:cNvSpPr>
          <p:nvPr/>
        </p:nvSpPr>
        <p:spPr>
          <a:xfrm>
            <a:off x="5784111" y="457200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Plus 6">
            <a:extLst>
              <a:ext uri="{FF2B5EF4-FFF2-40B4-BE49-F238E27FC236}">
                <a16:creationId xmlns:a16="http://schemas.microsoft.com/office/drawing/2014/main" id="{D417A13E-EC68-4A49-B652-A51084485412}"/>
              </a:ext>
            </a:extLst>
          </p:cNvPr>
          <p:cNvSpPr>
            <a:spLocks noChangeAspect="1"/>
          </p:cNvSpPr>
          <p:nvPr/>
        </p:nvSpPr>
        <p:spPr>
          <a:xfrm>
            <a:off x="6321865" y="5349823"/>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lus 7">
            <a:extLst>
              <a:ext uri="{FF2B5EF4-FFF2-40B4-BE49-F238E27FC236}">
                <a16:creationId xmlns:a16="http://schemas.microsoft.com/office/drawing/2014/main" id="{D2B1CBE2-0EEB-3A4C-BB01-D0C7AABABE13}"/>
              </a:ext>
            </a:extLst>
          </p:cNvPr>
          <p:cNvSpPr>
            <a:spLocks noChangeAspect="1"/>
          </p:cNvSpPr>
          <p:nvPr/>
        </p:nvSpPr>
        <p:spPr>
          <a:xfrm>
            <a:off x="7106093" y="519782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lus 8">
            <a:extLst>
              <a:ext uri="{FF2B5EF4-FFF2-40B4-BE49-F238E27FC236}">
                <a16:creationId xmlns:a16="http://schemas.microsoft.com/office/drawing/2014/main" id="{B3B2E98A-B981-524D-B955-666E32DC3C22}"/>
              </a:ext>
            </a:extLst>
          </p:cNvPr>
          <p:cNvSpPr>
            <a:spLocks noChangeAspect="1"/>
          </p:cNvSpPr>
          <p:nvPr/>
        </p:nvSpPr>
        <p:spPr>
          <a:xfrm>
            <a:off x="6890651" y="489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lus 9">
            <a:extLst>
              <a:ext uri="{FF2B5EF4-FFF2-40B4-BE49-F238E27FC236}">
                <a16:creationId xmlns:a16="http://schemas.microsoft.com/office/drawing/2014/main" id="{F88F20C1-61C2-3C41-A96B-BF4730FBA8CB}"/>
              </a:ext>
            </a:extLst>
          </p:cNvPr>
          <p:cNvSpPr>
            <a:spLocks noChangeAspect="1"/>
          </p:cNvSpPr>
          <p:nvPr/>
        </p:nvSpPr>
        <p:spPr>
          <a:xfrm>
            <a:off x="7432912" y="49349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lus 10">
            <a:extLst>
              <a:ext uri="{FF2B5EF4-FFF2-40B4-BE49-F238E27FC236}">
                <a16:creationId xmlns:a16="http://schemas.microsoft.com/office/drawing/2014/main" id="{BC4C107B-1B26-5E46-990A-7649C773B771}"/>
              </a:ext>
            </a:extLst>
          </p:cNvPr>
          <p:cNvSpPr>
            <a:spLocks noChangeAspect="1"/>
          </p:cNvSpPr>
          <p:nvPr/>
        </p:nvSpPr>
        <p:spPr>
          <a:xfrm>
            <a:off x="734291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Plus 11">
            <a:extLst>
              <a:ext uri="{FF2B5EF4-FFF2-40B4-BE49-F238E27FC236}">
                <a16:creationId xmlns:a16="http://schemas.microsoft.com/office/drawing/2014/main" id="{CEE50382-AD25-1343-9AEA-47968E2B3714}"/>
              </a:ext>
            </a:extLst>
          </p:cNvPr>
          <p:cNvSpPr>
            <a:spLocks noChangeAspect="1"/>
          </p:cNvSpPr>
          <p:nvPr/>
        </p:nvSpPr>
        <p:spPr>
          <a:xfrm>
            <a:off x="7522912" y="4079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lus 12">
            <a:extLst>
              <a:ext uri="{FF2B5EF4-FFF2-40B4-BE49-F238E27FC236}">
                <a16:creationId xmlns:a16="http://schemas.microsoft.com/office/drawing/2014/main" id="{219A2FD8-985B-9B49-A250-503CF7E6297E}"/>
              </a:ext>
            </a:extLst>
          </p:cNvPr>
          <p:cNvSpPr>
            <a:spLocks noChangeAspect="1"/>
          </p:cNvSpPr>
          <p:nvPr/>
        </p:nvSpPr>
        <p:spPr>
          <a:xfrm>
            <a:off x="8155172" y="528212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13">
            <a:extLst>
              <a:ext uri="{FF2B5EF4-FFF2-40B4-BE49-F238E27FC236}">
                <a16:creationId xmlns:a16="http://schemas.microsoft.com/office/drawing/2014/main" id="{9223148A-24BB-3746-8FC8-C6F9D347B392}"/>
              </a:ext>
            </a:extLst>
          </p:cNvPr>
          <p:cNvSpPr>
            <a:spLocks noChangeAspect="1"/>
          </p:cNvSpPr>
          <p:nvPr/>
        </p:nvSpPr>
        <p:spPr>
          <a:xfrm>
            <a:off x="797517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lus 14">
            <a:extLst>
              <a:ext uri="{FF2B5EF4-FFF2-40B4-BE49-F238E27FC236}">
                <a16:creationId xmlns:a16="http://schemas.microsoft.com/office/drawing/2014/main" id="{5788A389-867B-F148-86B0-FDE6C76236D3}"/>
              </a:ext>
            </a:extLst>
          </p:cNvPr>
          <p:cNvSpPr>
            <a:spLocks noChangeAspect="1"/>
          </p:cNvSpPr>
          <p:nvPr/>
        </p:nvSpPr>
        <p:spPr>
          <a:xfrm>
            <a:off x="8065172" y="498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lus 15">
            <a:extLst>
              <a:ext uri="{FF2B5EF4-FFF2-40B4-BE49-F238E27FC236}">
                <a16:creationId xmlns:a16="http://schemas.microsoft.com/office/drawing/2014/main" id="{9173B312-6ADD-6140-9E24-0A316911523B}"/>
              </a:ext>
            </a:extLst>
          </p:cNvPr>
          <p:cNvSpPr>
            <a:spLocks noChangeAspect="1"/>
          </p:cNvSpPr>
          <p:nvPr/>
        </p:nvSpPr>
        <p:spPr>
          <a:xfrm>
            <a:off x="8155172" y="407356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lus 16">
            <a:extLst>
              <a:ext uri="{FF2B5EF4-FFF2-40B4-BE49-F238E27FC236}">
                <a16:creationId xmlns:a16="http://schemas.microsoft.com/office/drawing/2014/main" id="{A579962F-B42B-1D43-B1D3-6E006FFA0EA7}"/>
              </a:ext>
            </a:extLst>
          </p:cNvPr>
          <p:cNvSpPr>
            <a:spLocks noChangeAspect="1"/>
          </p:cNvSpPr>
          <p:nvPr/>
        </p:nvSpPr>
        <p:spPr>
          <a:xfrm>
            <a:off x="6719134" y="5510462"/>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lus 17">
            <a:extLst>
              <a:ext uri="{FF2B5EF4-FFF2-40B4-BE49-F238E27FC236}">
                <a16:creationId xmlns:a16="http://schemas.microsoft.com/office/drawing/2014/main" id="{EEA08D85-BEC1-324A-B1E6-4D90A9A25C5D}"/>
              </a:ext>
            </a:extLst>
          </p:cNvPr>
          <p:cNvSpPr>
            <a:spLocks noChangeAspect="1"/>
          </p:cNvSpPr>
          <p:nvPr/>
        </p:nvSpPr>
        <p:spPr>
          <a:xfrm>
            <a:off x="7540633" y="539111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Multiplication 18">
            <a:extLst>
              <a:ext uri="{FF2B5EF4-FFF2-40B4-BE49-F238E27FC236}">
                <a16:creationId xmlns:a16="http://schemas.microsoft.com/office/drawing/2014/main" id="{E4372B47-37E8-2D49-983B-17A192DFBBCE}"/>
              </a:ext>
            </a:extLst>
          </p:cNvPr>
          <p:cNvSpPr>
            <a:spLocks noChangeAspect="1"/>
          </p:cNvSpPr>
          <p:nvPr/>
        </p:nvSpPr>
        <p:spPr>
          <a:xfrm>
            <a:off x="6331311" y="4512021"/>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Multiplication 19">
            <a:extLst>
              <a:ext uri="{FF2B5EF4-FFF2-40B4-BE49-F238E27FC236}">
                <a16:creationId xmlns:a16="http://schemas.microsoft.com/office/drawing/2014/main" id="{7D03A3CE-637A-2B4F-B08C-77A059E3FEA4}"/>
              </a:ext>
            </a:extLst>
          </p:cNvPr>
          <p:cNvSpPr>
            <a:spLocks noChangeAspect="1"/>
          </p:cNvSpPr>
          <p:nvPr/>
        </p:nvSpPr>
        <p:spPr>
          <a:xfrm>
            <a:off x="6017595" y="475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Multiplication 22">
            <a:extLst>
              <a:ext uri="{FF2B5EF4-FFF2-40B4-BE49-F238E27FC236}">
                <a16:creationId xmlns:a16="http://schemas.microsoft.com/office/drawing/2014/main" id="{1E4D5BD8-C3BA-2848-9DD6-971D88D5A553}"/>
              </a:ext>
            </a:extLst>
          </p:cNvPr>
          <p:cNvSpPr>
            <a:spLocks noChangeAspect="1"/>
          </p:cNvSpPr>
          <p:nvPr/>
        </p:nvSpPr>
        <p:spPr>
          <a:xfrm>
            <a:off x="6384474" y="409163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Multiplication 23">
            <a:extLst>
              <a:ext uri="{FF2B5EF4-FFF2-40B4-BE49-F238E27FC236}">
                <a16:creationId xmlns:a16="http://schemas.microsoft.com/office/drawing/2014/main" id="{A032C10D-8388-D14E-B039-85CC3A431B8D}"/>
              </a:ext>
            </a:extLst>
          </p:cNvPr>
          <p:cNvSpPr>
            <a:spLocks noChangeAspect="1"/>
          </p:cNvSpPr>
          <p:nvPr/>
        </p:nvSpPr>
        <p:spPr>
          <a:xfrm>
            <a:off x="6006000" y="423575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Multiplication 24">
            <a:extLst>
              <a:ext uri="{FF2B5EF4-FFF2-40B4-BE49-F238E27FC236}">
                <a16:creationId xmlns:a16="http://schemas.microsoft.com/office/drawing/2014/main" id="{A796C602-6112-7142-BD93-7AEF1EAABC1B}"/>
              </a:ext>
            </a:extLst>
          </p:cNvPr>
          <p:cNvSpPr>
            <a:spLocks noChangeAspect="1"/>
          </p:cNvSpPr>
          <p:nvPr/>
        </p:nvSpPr>
        <p:spPr>
          <a:xfrm>
            <a:off x="7093311" y="389356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Multiplication 25">
            <a:extLst>
              <a:ext uri="{FF2B5EF4-FFF2-40B4-BE49-F238E27FC236}">
                <a16:creationId xmlns:a16="http://schemas.microsoft.com/office/drawing/2014/main" id="{A933EAF9-6323-3B41-AB26-F17A33CDFA16}"/>
              </a:ext>
            </a:extLst>
          </p:cNvPr>
          <p:cNvSpPr>
            <a:spLocks noChangeAspect="1"/>
          </p:cNvSpPr>
          <p:nvPr/>
        </p:nvSpPr>
        <p:spPr>
          <a:xfrm>
            <a:off x="6715590" y="386924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Multiplication 26">
            <a:extLst>
              <a:ext uri="{FF2B5EF4-FFF2-40B4-BE49-F238E27FC236}">
                <a16:creationId xmlns:a16="http://schemas.microsoft.com/office/drawing/2014/main" id="{77455738-A322-9748-A040-B9508D8FE070}"/>
              </a:ext>
            </a:extLst>
          </p:cNvPr>
          <p:cNvSpPr>
            <a:spLocks noChangeAspect="1"/>
          </p:cNvSpPr>
          <p:nvPr/>
        </p:nvSpPr>
        <p:spPr>
          <a:xfrm>
            <a:off x="5475335" y="484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Multiplication 27">
            <a:extLst>
              <a:ext uri="{FF2B5EF4-FFF2-40B4-BE49-F238E27FC236}">
                <a16:creationId xmlns:a16="http://schemas.microsoft.com/office/drawing/2014/main" id="{B8E464B7-EA01-B647-A716-B747DB1E2F1A}"/>
              </a:ext>
            </a:extLst>
          </p:cNvPr>
          <p:cNvSpPr>
            <a:spLocks noChangeAspect="1"/>
          </p:cNvSpPr>
          <p:nvPr/>
        </p:nvSpPr>
        <p:spPr>
          <a:xfrm>
            <a:off x="5827716" y="5037558"/>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Multiplication 28">
            <a:extLst>
              <a:ext uri="{FF2B5EF4-FFF2-40B4-BE49-F238E27FC236}">
                <a16:creationId xmlns:a16="http://schemas.microsoft.com/office/drawing/2014/main" id="{05DE0036-0735-9F4E-A0EB-86947EA33D05}"/>
              </a:ext>
            </a:extLst>
          </p:cNvPr>
          <p:cNvSpPr>
            <a:spLocks noChangeAspect="1"/>
          </p:cNvSpPr>
          <p:nvPr/>
        </p:nvSpPr>
        <p:spPr>
          <a:xfrm>
            <a:off x="7323042" y="342052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Multiplication 29">
            <a:extLst>
              <a:ext uri="{FF2B5EF4-FFF2-40B4-BE49-F238E27FC236}">
                <a16:creationId xmlns:a16="http://schemas.microsoft.com/office/drawing/2014/main" id="{9A4654A3-2467-BA43-8423-B051268417A8}"/>
              </a:ext>
            </a:extLst>
          </p:cNvPr>
          <p:cNvSpPr>
            <a:spLocks noChangeAspect="1"/>
          </p:cNvSpPr>
          <p:nvPr/>
        </p:nvSpPr>
        <p:spPr>
          <a:xfrm>
            <a:off x="6884957" y="344785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Multiplication 33">
            <a:extLst>
              <a:ext uri="{FF2B5EF4-FFF2-40B4-BE49-F238E27FC236}">
                <a16:creationId xmlns:a16="http://schemas.microsoft.com/office/drawing/2014/main" id="{E9DEAE5E-F871-424F-AA11-F3D8F628EC07}"/>
              </a:ext>
            </a:extLst>
          </p:cNvPr>
          <p:cNvSpPr>
            <a:spLocks noChangeAspect="1"/>
          </p:cNvSpPr>
          <p:nvPr/>
        </p:nvSpPr>
        <p:spPr>
          <a:xfrm>
            <a:off x="6703463" y="419570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Plus 35">
            <a:extLst>
              <a:ext uri="{FF2B5EF4-FFF2-40B4-BE49-F238E27FC236}">
                <a16:creationId xmlns:a16="http://schemas.microsoft.com/office/drawing/2014/main" id="{490AB6FC-ECF8-6F4F-BAD7-71AAE0606B17}"/>
              </a:ext>
            </a:extLst>
          </p:cNvPr>
          <p:cNvSpPr>
            <a:spLocks noChangeAspect="1"/>
          </p:cNvSpPr>
          <p:nvPr/>
        </p:nvSpPr>
        <p:spPr>
          <a:xfrm>
            <a:off x="7749042" y="511818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Plus 36">
            <a:extLst>
              <a:ext uri="{FF2B5EF4-FFF2-40B4-BE49-F238E27FC236}">
                <a16:creationId xmlns:a16="http://schemas.microsoft.com/office/drawing/2014/main" id="{A08E92DC-5086-C941-A567-4A971A83B0ED}"/>
              </a:ext>
            </a:extLst>
          </p:cNvPr>
          <p:cNvSpPr>
            <a:spLocks noChangeAspect="1"/>
          </p:cNvSpPr>
          <p:nvPr/>
        </p:nvSpPr>
        <p:spPr>
          <a:xfrm>
            <a:off x="7686152" y="46718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Plus 37">
            <a:extLst>
              <a:ext uri="{FF2B5EF4-FFF2-40B4-BE49-F238E27FC236}">
                <a16:creationId xmlns:a16="http://schemas.microsoft.com/office/drawing/2014/main" id="{EAA744EA-0BF2-5D42-BDF3-781BA212EC4F}"/>
              </a:ext>
            </a:extLst>
          </p:cNvPr>
          <p:cNvSpPr>
            <a:spLocks noChangeAspect="1"/>
          </p:cNvSpPr>
          <p:nvPr/>
        </p:nvSpPr>
        <p:spPr>
          <a:xfrm>
            <a:off x="7885172" y="37343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Plus 38">
            <a:extLst>
              <a:ext uri="{FF2B5EF4-FFF2-40B4-BE49-F238E27FC236}">
                <a16:creationId xmlns:a16="http://schemas.microsoft.com/office/drawing/2014/main" id="{A1471FC1-8916-1744-AA6A-BE5A85320B28}"/>
              </a:ext>
            </a:extLst>
          </p:cNvPr>
          <p:cNvSpPr>
            <a:spLocks noChangeAspect="1"/>
          </p:cNvSpPr>
          <p:nvPr/>
        </p:nvSpPr>
        <p:spPr>
          <a:xfrm>
            <a:off x="7885172" y="40972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Plus 45">
            <a:extLst>
              <a:ext uri="{FF2B5EF4-FFF2-40B4-BE49-F238E27FC236}">
                <a16:creationId xmlns:a16="http://schemas.microsoft.com/office/drawing/2014/main" id="{4C9EEEAA-E51D-4143-B04D-55B79D95D62A}"/>
              </a:ext>
            </a:extLst>
          </p:cNvPr>
          <p:cNvSpPr>
            <a:spLocks noChangeAspect="1"/>
          </p:cNvSpPr>
          <p:nvPr/>
        </p:nvSpPr>
        <p:spPr>
          <a:xfrm>
            <a:off x="6038993" y="503755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Plus 46">
            <a:extLst>
              <a:ext uri="{FF2B5EF4-FFF2-40B4-BE49-F238E27FC236}">
                <a16:creationId xmlns:a16="http://schemas.microsoft.com/office/drawing/2014/main" id="{C05E69CA-5CFC-FA4C-8342-34B47E453B01}"/>
              </a:ext>
            </a:extLst>
          </p:cNvPr>
          <p:cNvSpPr>
            <a:spLocks noChangeAspect="1"/>
          </p:cNvSpPr>
          <p:nvPr/>
        </p:nvSpPr>
        <p:spPr>
          <a:xfrm>
            <a:off x="6670765" y="520205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Plus 47">
            <a:extLst>
              <a:ext uri="{FF2B5EF4-FFF2-40B4-BE49-F238E27FC236}">
                <a16:creationId xmlns:a16="http://schemas.microsoft.com/office/drawing/2014/main" id="{F4DB5733-CA70-354A-AE42-FB0C4B90B9E5}"/>
              </a:ext>
            </a:extLst>
          </p:cNvPr>
          <p:cNvSpPr>
            <a:spLocks noChangeAspect="1"/>
          </p:cNvSpPr>
          <p:nvPr/>
        </p:nvSpPr>
        <p:spPr>
          <a:xfrm>
            <a:off x="6419823" y="500037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Plus 48">
            <a:extLst>
              <a:ext uri="{FF2B5EF4-FFF2-40B4-BE49-F238E27FC236}">
                <a16:creationId xmlns:a16="http://schemas.microsoft.com/office/drawing/2014/main" id="{F43F965E-751A-404D-B2F8-1FF221DD98F5}"/>
              </a:ext>
            </a:extLst>
          </p:cNvPr>
          <p:cNvSpPr>
            <a:spLocks noChangeAspect="1"/>
          </p:cNvSpPr>
          <p:nvPr/>
        </p:nvSpPr>
        <p:spPr>
          <a:xfrm>
            <a:off x="6663132" y="47286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Plus 49">
            <a:extLst>
              <a:ext uri="{FF2B5EF4-FFF2-40B4-BE49-F238E27FC236}">
                <a16:creationId xmlns:a16="http://schemas.microsoft.com/office/drawing/2014/main" id="{31982412-B6AE-864A-933B-798B69E34C96}"/>
              </a:ext>
            </a:extLst>
          </p:cNvPr>
          <p:cNvSpPr>
            <a:spLocks noChangeAspect="1"/>
          </p:cNvSpPr>
          <p:nvPr/>
        </p:nvSpPr>
        <p:spPr>
          <a:xfrm>
            <a:off x="6981628" y="457741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Plus 50">
            <a:extLst>
              <a:ext uri="{FF2B5EF4-FFF2-40B4-BE49-F238E27FC236}">
                <a16:creationId xmlns:a16="http://schemas.microsoft.com/office/drawing/2014/main" id="{8F81672D-5E35-4D46-854E-D342FE5D7FF1}"/>
              </a:ext>
            </a:extLst>
          </p:cNvPr>
          <p:cNvSpPr>
            <a:spLocks noChangeAspect="1"/>
          </p:cNvSpPr>
          <p:nvPr/>
        </p:nvSpPr>
        <p:spPr>
          <a:xfrm>
            <a:off x="6479252" y="442147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Plus 51">
            <a:extLst>
              <a:ext uri="{FF2B5EF4-FFF2-40B4-BE49-F238E27FC236}">
                <a16:creationId xmlns:a16="http://schemas.microsoft.com/office/drawing/2014/main" id="{7A332544-39D3-7947-8A4E-909F640E38C2}"/>
              </a:ext>
            </a:extLst>
          </p:cNvPr>
          <p:cNvSpPr>
            <a:spLocks noChangeAspect="1"/>
          </p:cNvSpPr>
          <p:nvPr/>
        </p:nvSpPr>
        <p:spPr>
          <a:xfrm>
            <a:off x="6953693" y="402895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Plus 52">
            <a:extLst>
              <a:ext uri="{FF2B5EF4-FFF2-40B4-BE49-F238E27FC236}">
                <a16:creationId xmlns:a16="http://schemas.microsoft.com/office/drawing/2014/main" id="{DB88055F-C9AF-AF4A-85F2-5CF08599BA25}"/>
              </a:ext>
            </a:extLst>
          </p:cNvPr>
          <p:cNvSpPr>
            <a:spLocks noChangeAspect="1"/>
          </p:cNvSpPr>
          <p:nvPr/>
        </p:nvSpPr>
        <p:spPr>
          <a:xfrm>
            <a:off x="7534477" y="339435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Plus 54">
            <a:extLst>
              <a:ext uri="{FF2B5EF4-FFF2-40B4-BE49-F238E27FC236}">
                <a16:creationId xmlns:a16="http://schemas.microsoft.com/office/drawing/2014/main" id="{753D7389-6EF4-A741-A502-5BE9DB829827}"/>
              </a:ext>
            </a:extLst>
          </p:cNvPr>
          <p:cNvSpPr>
            <a:spLocks noChangeAspect="1"/>
          </p:cNvSpPr>
          <p:nvPr/>
        </p:nvSpPr>
        <p:spPr>
          <a:xfrm>
            <a:off x="6855784" y="430775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Plus 55">
            <a:extLst>
              <a:ext uri="{FF2B5EF4-FFF2-40B4-BE49-F238E27FC236}">
                <a16:creationId xmlns:a16="http://schemas.microsoft.com/office/drawing/2014/main" id="{DF15BBC3-81A6-A648-BFD9-609DB1CC0805}"/>
              </a:ext>
            </a:extLst>
          </p:cNvPr>
          <p:cNvSpPr>
            <a:spLocks noChangeAspect="1"/>
          </p:cNvSpPr>
          <p:nvPr/>
        </p:nvSpPr>
        <p:spPr>
          <a:xfrm>
            <a:off x="7165311" y="481214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Plus 56">
            <a:extLst>
              <a:ext uri="{FF2B5EF4-FFF2-40B4-BE49-F238E27FC236}">
                <a16:creationId xmlns:a16="http://schemas.microsoft.com/office/drawing/2014/main" id="{33170EC8-529C-F845-B3D5-B4145C25D603}"/>
              </a:ext>
            </a:extLst>
          </p:cNvPr>
          <p:cNvSpPr>
            <a:spLocks noChangeAspect="1"/>
          </p:cNvSpPr>
          <p:nvPr/>
        </p:nvSpPr>
        <p:spPr>
          <a:xfrm>
            <a:off x="7481247" y="377409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Plus 57">
            <a:extLst>
              <a:ext uri="{FF2B5EF4-FFF2-40B4-BE49-F238E27FC236}">
                <a16:creationId xmlns:a16="http://schemas.microsoft.com/office/drawing/2014/main" id="{526974B7-7C51-5A4A-88B4-AFC4A0EF6801}"/>
              </a:ext>
            </a:extLst>
          </p:cNvPr>
          <p:cNvSpPr>
            <a:spLocks noChangeAspect="1"/>
          </p:cNvSpPr>
          <p:nvPr/>
        </p:nvSpPr>
        <p:spPr>
          <a:xfrm>
            <a:off x="7625247" y="434332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Ellipse 58">
            <a:extLst>
              <a:ext uri="{FF2B5EF4-FFF2-40B4-BE49-F238E27FC236}">
                <a16:creationId xmlns:a16="http://schemas.microsoft.com/office/drawing/2014/main" id="{44D4B3B8-C181-964F-A76B-33C1CFEDC125}"/>
              </a:ext>
            </a:extLst>
          </p:cNvPr>
          <p:cNvSpPr/>
          <p:nvPr/>
        </p:nvSpPr>
        <p:spPr>
          <a:xfrm rot="2163162">
            <a:off x="6666603" y="4212726"/>
            <a:ext cx="401286" cy="25748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llipse 59">
            <a:extLst>
              <a:ext uri="{FF2B5EF4-FFF2-40B4-BE49-F238E27FC236}">
                <a16:creationId xmlns:a16="http://schemas.microsoft.com/office/drawing/2014/main" id="{79563EA3-DDCC-0A4A-9D33-5074CEB39737}"/>
              </a:ext>
            </a:extLst>
          </p:cNvPr>
          <p:cNvSpPr/>
          <p:nvPr/>
        </p:nvSpPr>
        <p:spPr>
          <a:xfrm rot="21357334">
            <a:off x="5791058" y="5025192"/>
            <a:ext cx="439877" cy="20359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Ellipse 60">
            <a:extLst>
              <a:ext uri="{FF2B5EF4-FFF2-40B4-BE49-F238E27FC236}">
                <a16:creationId xmlns:a16="http://schemas.microsoft.com/office/drawing/2014/main" id="{93EB6DE0-B0EA-C54A-A14F-E02B52545E49}"/>
              </a:ext>
            </a:extLst>
          </p:cNvPr>
          <p:cNvSpPr/>
          <p:nvPr/>
        </p:nvSpPr>
        <p:spPr>
          <a:xfrm rot="19520138">
            <a:off x="6307438" y="4441630"/>
            <a:ext cx="346385" cy="2248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Ellipse 61">
            <a:extLst>
              <a:ext uri="{FF2B5EF4-FFF2-40B4-BE49-F238E27FC236}">
                <a16:creationId xmlns:a16="http://schemas.microsoft.com/office/drawing/2014/main" id="{56C11A12-0CC2-324D-8096-6F198833C603}"/>
              </a:ext>
            </a:extLst>
          </p:cNvPr>
          <p:cNvSpPr/>
          <p:nvPr/>
        </p:nvSpPr>
        <p:spPr>
          <a:xfrm rot="19520138">
            <a:off x="6892475" y="3930629"/>
            <a:ext cx="418631" cy="22279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Ellipse 62">
            <a:extLst>
              <a:ext uri="{FF2B5EF4-FFF2-40B4-BE49-F238E27FC236}">
                <a16:creationId xmlns:a16="http://schemas.microsoft.com/office/drawing/2014/main" id="{3BCE9738-DC89-C24E-9F6C-888CA81EAE7B}"/>
              </a:ext>
            </a:extLst>
          </p:cNvPr>
          <p:cNvSpPr/>
          <p:nvPr/>
        </p:nvSpPr>
        <p:spPr>
          <a:xfrm rot="20866046">
            <a:off x="7293333" y="3366175"/>
            <a:ext cx="416379" cy="2358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23910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Position du problème.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200329"/>
          </a:xfrm>
          <a:prstGeom prst="rect">
            <a:avLst/>
          </a:prstGeom>
          <a:noFill/>
        </p:spPr>
        <p:txBody>
          <a:bodyPr wrap="square" rtlCol="0">
            <a:spAutoFit/>
          </a:bodyPr>
          <a:lstStyle/>
          <a:p>
            <a:r>
              <a:rPr lang="fr-FR" sz="2400" b="1" dirty="0"/>
              <a:t>Sous–échantillonnage : méthode Tomek Links (suite)</a:t>
            </a:r>
          </a:p>
          <a:p>
            <a:endParaRPr lang="fr-FR" sz="2400" dirty="0"/>
          </a:p>
          <a:p>
            <a:pPr marL="342900" indent="-342900">
              <a:buFont typeface="Arial" panose="020B0604020202020204" pitchFamily="34" charset="0"/>
              <a:buChar char="•"/>
            </a:pPr>
            <a:r>
              <a:rPr lang="fr-FR" sz="2400" dirty="0"/>
              <a:t>Dans chaque paire on supprime l’observation de la classe majoritaire :</a:t>
            </a:r>
          </a:p>
        </p:txBody>
      </p:sp>
      <p:cxnSp>
        <p:nvCxnSpPr>
          <p:cNvPr id="4" name="Connecteur droit 3">
            <a:extLst>
              <a:ext uri="{FF2B5EF4-FFF2-40B4-BE49-F238E27FC236}">
                <a16:creationId xmlns:a16="http://schemas.microsoft.com/office/drawing/2014/main" id="{0A313375-9E43-5B4D-A588-3667B802B973}"/>
              </a:ext>
            </a:extLst>
          </p:cNvPr>
          <p:cNvCxnSpPr>
            <a:cxnSpLocks/>
          </p:cNvCxnSpPr>
          <p:nvPr/>
        </p:nvCxnSpPr>
        <p:spPr>
          <a:xfrm>
            <a:off x="3912788" y="3062183"/>
            <a:ext cx="0" cy="3476847"/>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2642166F-3696-F641-90E5-2F6B336302A8}"/>
              </a:ext>
            </a:extLst>
          </p:cNvPr>
          <p:cNvCxnSpPr>
            <a:cxnSpLocks/>
          </p:cNvCxnSpPr>
          <p:nvPr/>
        </p:nvCxnSpPr>
        <p:spPr>
          <a:xfrm flipH="1">
            <a:off x="3285467" y="6103095"/>
            <a:ext cx="5890437"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 name="Multiplication 5">
            <a:extLst>
              <a:ext uri="{FF2B5EF4-FFF2-40B4-BE49-F238E27FC236}">
                <a16:creationId xmlns:a16="http://schemas.microsoft.com/office/drawing/2014/main" id="{0B653555-9746-8448-95F3-1B27801BBB70}"/>
              </a:ext>
            </a:extLst>
          </p:cNvPr>
          <p:cNvSpPr>
            <a:spLocks noChangeAspect="1"/>
          </p:cNvSpPr>
          <p:nvPr/>
        </p:nvSpPr>
        <p:spPr>
          <a:xfrm>
            <a:off x="5784111" y="457200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Plus 6">
            <a:extLst>
              <a:ext uri="{FF2B5EF4-FFF2-40B4-BE49-F238E27FC236}">
                <a16:creationId xmlns:a16="http://schemas.microsoft.com/office/drawing/2014/main" id="{D417A13E-EC68-4A49-B652-A51084485412}"/>
              </a:ext>
            </a:extLst>
          </p:cNvPr>
          <p:cNvSpPr>
            <a:spLocks noChangeAspect="1"/>
          </p:cNvSpPr>
          <p:nvPr/>
        </p:nvSpPr>
        <p:spPr>
          <a:xfrm>
            <a:off x="6321865" y="5349823"/>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Plus 7">
            <a:extLst>
              <a:ext uri="{FF2B5EF4-FFF2-40B4-BE49-F238E27FC236}">
                <a16:creationId xmlns:a16="http://schemas.microsoft.com/office/drawing/2014/main" id="{D2B1CBE2-0EEB-3A4C-BB01-D0C7AABABE13}"/>
              </a:ext>
            </a:extLst>
          </p:cNvPr>
          <p:cNvSpPr>
            <a:spLocks noChangeAspect="1"/>
          </p:cNvSpPr>
          <p:nvPr/>
        </p:nvSpPr>
        <p:spPr>
          <a:xfrm>
            <a:off x="7106093" y="519782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Plus 8">
            <a:extLst>
              <a:ext uri="{FF2B5EF4-FFF2-40B4-BE49-F238E27FC236}">
                <a16:creationId xmlns:a16="http://schemas.microsoft.com/office/drawing/2014/main" id="{B3B2E98A-B981-524D-B955-666E32DC3C22}"/>
              </a:ext>
            </a:extLst>
          </p:cNvPr>
          <p:cNvSpPr>
            <a:spLocks noChangeAspect="1"/>
          </p:cNvSpPr>
          <p:nvPr/>
        </p:nvSpPr>
        <p:spPr>
          <a:xfrm>
            <a:off x="6890651" y="489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Plus 9">
            <a:extLst>
              <a:ext uri="{FF2B5EF4-FFF2-40B4-BE49-F238E27FC236}">
                <a16:creationId xmlns:a16="http://schemas.microsoft.com/office/drawing/2014/main" id="{F88F20C1-61C2-3C41-A96B-BF4730FBA8CB}"/>
              </a:ext>
            </a:extLst>
          </p:cNvPr>
          <p:cNvSpPr>
            <a:spLocks noChangeAspect="1"/>
          </p:cNvSpPr>
          <p:nvPr/>
        </p:nvSpPr>
        <p:spPr>
          <a:xfrm>
            <a:off x="7432912" y="49349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Plus 10">
            <a:extLst>
              <a:ext uri="{FF2B5EF4-FFF2-40B4-BE49-F238E27FC236}">
                <a16:creationId xmlns:a16="http://schemas.microsoft.com/office/drawing/2014/main" id="{BC4C107B-1B26-5E46-990A-7649C773B771}"/>
              </a:ext>
            </a:extLst>
          </p:cNvPr>
          <p:cNvSpPr>
            <a:spLocks noChangeAspect="1"/>
          </p:cNvSpPr>
          <p:nvPr/>
        </p:nvSpPr>
        <p:spPr>
          <a:xfrm>
            <a:off x="734291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Plus 11">
            <a:extLst>
              <a:ext uri="{FF2B5EF4-FFF2-40B4-BE49-F238E27FC236}">
                <a16:creationId xmlns:a16="http://schemas.microsoft.com/office/drawing/2014/main" id="{CEE50382-AD25-1343-9AEA-47968E2B3714}"/>
              </a:ext>
            </a:extLst>
          </p:cNvPr>
          <p:cNvSpPr>
            <a:spLocks noChangeAspect="1"/>
          </p:cNvSpPr>
          <p:nvPr/>
        </p:nvSpPr>
        <p:spPr>
          <a:xfrm>
            <a:off x="7522912" y="4079365"/>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Plus 12">
            <a:extLst>
              <a:ext uri="{FF2B5EF4-FFF2-40B4-BE49-F238E27FC236}">
                <a16:creationId xmlns:a16="http://schemas.microsoft.com/office/drawing/2014/main" id="{219A2FD8-985B-9B49-A250-503CF7E6297E}"/>
              </a:ext>
            </a:extLst>
          </p:cNvPr>
          <p:cNvSpPr>
            <a:spLocks noChangeAspect="1"/>
          </p:cNvSpPr>
          <p:nvPr/>
        </p:nvSpPr>
        <p:spPr>
          <a:xfrm>
            <a:off x="8155172" y="528212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lus 13">
            <a:extLst>
              <a:ext uri="{FF2B5EF4-FFF2-40B4-BE49-F238E27FC236}">
                <a16:creationId xmlns:a16="http://schemas.microsoft.com/office/drawing/2014/main" id="{9223148A-24BB-3746-8FC8-C6F9D347B392}"/>
              </a:ext>
            </a:extLst>
          </p:cNvPr>
          <p:cNvSpPr>
            <a:spLocks noChangeAspect="1"/>
          </p:cNvSpPr>
          <p:nvPr/>
        </p:nvSpPr>
        <p:spPr>
          <a:xfrm>
            <a:off x="7975172" y="4489737"/>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Plus 14">
            <a:extLst>
              <a:ext uri="{FF2B5EF4-FFF2-40B4-BE49-F238E27FC236}">
                <a16:creationId xmlns:a16="http://schemas.microsoft.com/office/drawing/2014/main" id="{5788A389-867B-F148-86B0-FDE6C76236D3}"/>
              </a:ext>
            </a:extLst>
          </p:cNvPr>
          <p:cNvSpPr>
            <a:spLocks noChangeAspect="1"/>
          </p:cNvSpPr>
          <p:nvPr/>
        </p:nvSpPr>
        <p:spPr>
          <a:xfrm>
            <a:off x="8065172" y="49873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Plus 15">
            <a:extLst>
              <a:ext uri="{FF2B5EF4-FFF2-40B4-BE49-F238E27FC236}">
                <a16:creationId xmlns:a16="http://schemas.microsoft.com/office/drawing/2014/main" id="{9173B312-6ADD-6140-9E24-0A316911523B}"/>
              </a:ext>
            </a:extLst>
          </p:cNvPr>
          <p:cNvSpPr>
            <a:spLocks noChangeAspect="1"/>
          </p:cNvSpPr>
          <p:nvPr/>
        </p:nvSpPr>
        <p:spPr>
          <a:xfrm>
            <a:off x="8155172" y="4073560"/>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Plus 16">
            <a:extLst>
              <a:ext uri="{FF2B5EF4-FFF2-40B4-BE49-F238E27FC236}">
                <a16:creationId xmlns:a16="http://schemas.microsoft.com/office/drawing/2014/main" id="{A579962F-B42B-1D43-B1D3-6E006FFA0EA7}"/>
              </a:ext>
            </a:extLst>
          </p:cNvPr>
          <p:cNvSpPr>
            <a:spLocks noChangeAspect="1"/>
          </p:cNvSpPr>
          <p:nvPr/>
        </p:nvSpPr>
        <p:spPr>
          <a:xfrm>
            <a:off x="6719134" y="5510462"/>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lus 17">
            <a:extLst>
              <a:ext uri="{FF2B5EF4-FFF2-40B4-BE49-F238E27FC236}">
                <a16:creationId xmlns:a16="http://schemas.microsoft.com/office/drawing/2014/main" id="{EEA08D85-BEC1-324A-B1E6-4D90A9A25C5D}"/>
              </a:ext>
            </a:extLst>
          </p:cNvPr>
          <p:cNvSpPr>
            <a:spLocks noChangeAspect="1"/>
          </p:cNvSpPr>
          <p:nvPr/>
        </p:nvSpPr>
        <p:spPr>
          <a:xfrm>
            <a:off x="7540633" y="539111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Multiplication 18">
            <a:extLst>
              <a:ext uri="{FF2B5EF4-FFF2-40B4-BE49-F238E27FC236}">
                <a16:creationId xmlns:a16="http://schemas.microsoft.com/office/drawing/2014/main" id="{E4372B47-37E8-2D49-983B-17A192DFBBCE}"/>
              </a:ext>
            </a:extLst>
          </p:cNvPr>
          <p:cNvSpPr>
            <a:spLocks noChangeAspect="1"/>
          </p:cNvSpPr>
          <p:nvPr/>
        </p:nvSpPr>
        <p:spPr>
          <a:xfrm>
            <a:off x="6331311" y="4512021"/>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Multiplication 19">
            <a:extLst>
              <a:ext uri="{FF2B5EF4-FFF2-40B4-BE49-F238E27FC236}">
                <a16:creationId xmlns:a16="http://schemas.microsoft.com/office/drawing/2014/main" id="{7D03A3CE-637A-2B4F-B08C-77A059E3FEA4}"/>
              </a:ext>
            </a:extLst>
          </p:cNvPr>
          <p:cNvSpPr>
            <a:spLocks noChangeAspect="1"/>
          </p:cNvSpPr>
          <p:nvPr/>
        </p:nvSpPr>
        <p:spPr>
          <a:xfrm>
            <a:off x="6017595" y="475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Multiplication 22">
            <a:extLst>
              <a:ext uri="{FF2B5EF4-FFF2-40B4-BE49-F238E27FC236}">
                <a16:creationId xmlns:a16="http://schemas.microsoft.com/office/drawing/2014/main" id="{1E4D5BD8-C3BA-2848-9DD6-971D88D5A553}"/>
              </a:ext>
            </a:extLst>
          </p:cNvPr>
          <p:cNvSpPr>
            <a:spLocks noChangeAspect="1"/>
          </p:cNvSpPr>
          <p:nvPr/>
        </p:nvSpPr>
        <p:spPr>
          <a:xfrm>
            <a:off x="6384474" y="4091637"/>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Multiplication 23">
            <a:extLst>
              <a:ext uri="{FF2B5EF4-FFF2-40B4-BE49-F238E27FC236}">
                <a16:creationId xmlns:a16="http://schemas.microsoft.com/office/drawing/2014/main" id="{A032C10D-8388-D14E-B039-85CC3A431B8D}"/>
              </a:ext>
            </a:extLst>
          </p:cNvPr>
          <p:cNvSpPr>
            <a:spLocks noChangeAspect="1"/>
          </p:cNvSpPr>
          <p:nvPr/>
        </p:nvSpPr>
        <p:spPr>
          <a:xfrm>
            <a:off x="6006000" y="423575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Multiplication 24">
            <a:extLst>
              <a:ext uri="{FF2B5EF4-FFF2-40B4-BE49-F238E27FC236}">
                <a16:creationId xmlns:a16="http://schemas.microsoft.com/office/drawing/2014/main" id="{A796C602-6112-7142-BD93-7AEF1EAABC1B}"/>
              </a:ext>
            </a:extLst>
          </p:cNvPr>
          <p:cNvSpPr>
            <a:spLocks noChangeAspect="1"/>
          </p:cNvSpPr>
          <p:nvPr/>
        </p:nvSpPr>
        <p:spPr>
          <a:xfrm>
            <a:off x="7093311" y="389356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Multiplication 25">
            <a:extLst>
              <a:ext uri="{FF2B5EF4-FFF2-40B4-BE49-F238E27FC236}">
                <a16:creationId xmlns:a16="http://schemas.microsoft.com/office/drawing/2014/main" id="{A933EAF9-6323-3B41-AB26-F17A33CDFA16}"/>
              </a:ext>
            </a:extLst>
          </p:cNvPr>
          <p:cNvSpPr>
            <a:spLocks noChangeAspect="1"/>
          </p:cNvSpPr>
          <p:nvPr/>
        </p:nvSpPr>
        <p:spPr>
          <a:xfrm>
            <a:off x="6715590" y="3869240"/>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Multiplication 26">
            <a:extLst>
              <a:ext uri="{FF2B5EF4-FFF2-40B4-BE49-F238E27FC236}">
                <a16:creationId xmlns:a16="http://schemas.microsoft.com/office/drawing/2014/main" id="{77455738-A322-9748-A040-B9508D8FE070}"/>
              </a:ext>
            </a:extLst>
          </p:cNvPr>
          <p:cNvSpPr>
            <a:spLocks noChangeAspect="1"/>
          </p:cNvSpPr>
          <p:nvPr/>
        </p:nvSpPr>
        <p:spPr>
          <a:xfrm>
            <a:off x="5475335" y="484490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Multiplication 27">
            <a:extLst>
              <a:ext uri="{FF2B5EF4-FFF2-40B4-BE49-F238E27FC236}">
                <a16:creationId xmlns:a16="http://schemas.microsoft.com/office/drawing/2014/main" id="{B8E464B7-EA01-B647-A716-B747DB1E2F1A}"/>
              </a:ext>
            </a:extLst>
          </p:cNvPr>
          <p:cNvSpPr>
            <a:spLocks noChangeAspect="1"/>
          </p:cNvSpPr>
          <p:nvPr/>
        </p:nvSpPr>
        <p:spPr>
          <a:xfrm>
            <a:off x="5827716" y="5037558"/>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Multiplication 28">
            <a:extLst>
              <a:ext uri="{FF2B5EF4-FFF2-40B4-BE49-F238E27FC236}">
                <a16:creationId xmlns:a16="http://schemas.microsoft.com/office/drawing/2014/main" id="{05DE0036-0735-9F4E-A0EB-86947EA33D05}"/>
              </a:ext>
            </a:extLst>
          </p:cNvPr>
          <p:cNvSpPr>
            <a:spLocks noChangeAspect="1"/>
          </p:cNvSpPr>
          <p:nvPr/>
        </p:nvSpPr>
        <p:spPr>
          <a:xfrm>
            <a:off x="7323042" y="3420523"/>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Multiplication 29">
            <a:extLst>
              <a:ext uri="{FF2B5EF4-FFF2-40B4-BE49-F238E27FC236}">
                <a16:creationId xmlns:a16="http://schemas.microsoft.com/office/drawing/2014/main" id="{9A4654A3-2467-BA43-8423-B051268417A8}"/>
              </a:ext>
            </a:extLst>
          </p:cNvPr>
          <p:cNvSpPr>
            <a:spLocks noChangeAspect="1"/>
          </p:cNvSpPr>
          <p:nvPr/>
        </p:nvSpPr>
        <p:spPr>
          <a:xfrm>
            <a:off x="6884957" y="3447859"/>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Multiplication 33">
            <a:extLst>
              <a:ext uri="{FF2B5EF4-FFF2-40B4-BE49-F238E27FC236}">
                <a16:creationId xmlns:a16="http://schemas.microsoft.com/office/drawing/2014/main" id="{E9DEAE5E-F871-424F-AA11-F3D8F628EC07}"/>
              </a:ext>
            </a:extLst>
          </p:cNvPr>
          <p:cNvSpPr>
            <a:spLocks noChangeAspect="1"/>
          </p:cNvSpPr>
          <p:nvPr/>
        </p:nvSpPr>
        <p:spPr>
          <a:xfrm>
            <a:off x="6703463" y="4195704"/>
            <a:ext cx="144000" cy="1440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Plus 35">
            <a:extLst>
              <a:ext uri="{FF2B5EF4-FFF2-40B4-BE49-F238E27FC236}">
                <a16:creationId xmlns:a16="http://schemas.microsoft.com/office/drawing/2014/main" id="{490AB6FC-ECF8-6F4F-BAD7-71AAE0606B17}"/>
              </a:ext>
            </a:extLst>
          </p:cNvPr>
          <p:cNvSpPr>
            <a:spLocks noChangeAspect="1"/>
          </p:cNvSpPr>
          <p:nvPr/>
        </p:nvSpPr>
        <p:spPr>
          <a:xfrm>
            <a:off x="7749042" y="511818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Plus 36">
            <a:extLst>
              <a:ext uri="{FF2B5EF4-FFF2-40B4-BE49-F238E27FC236}">
                <a16:creationId xmlns:a16="http://schemas.microsoft.com/office/drawing/2014/main" id="{A08E92DC-5086-C941-A567-4A971A83B0ED}"/>
              </a:ext>
            </a:extLst>
          </p:cNvPr>
          <p:cNvSpPr>
            <a:spLocks noChangeAspect="1"/>
          </p:cNvSpPr>
          <p:nvPr/>
        </p:nvSpPr>
        <p:spPr>
          <a:xfrm>
            <a:off x="7686152" y="4671809"/>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Plus 37">
            <a:extLst>
              <a:ext uri="{FF2B5EF4-FFF2-40B4-BE49-F238E27FC236}">
                <a16:creationId xmlns:a16="http://schemas.microsoft.com/office/drawing/2014/main" id="{EAA744EA-0BF2-5D42-BDF3-781BA212EC4F}"/>
              </a:ext>
            </a:extLst>
          </p:cNvPr>
          <p:cNvSpPr>
            <a:spLocks noChangeAspect="1"/>
          </p:cNvSpPr>
          <p:nvPr/>
        </p:nvSpPr>
        <p:spPr>
          <a:xfrm>
            <a:off x="7885172" y="37343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Plus 38">
            <a:extLst>
              <a:ext uri="{FF2B5EF4-FFF2-40B4-BE49-F238E27FC236}">
                <a16:creationId xmlns:a16="http://schemas.microsoft.com/office/drawing/2014/main" id="{A1471FC1-8916-1744-AA6A-BE5A85320B28}"/>
              </a:ext>
            </a:extLst>
          </p:cNvPr>
          <p:cNvSpPr>
            <a:spLocks noChangeAspect="1"/>
          </p:cNvSpPr>
          <p:nvPr/>
        </p:nvSpPr>
        <p:spPr>
          <a:xfrm>
            <a:off x="7885172" y="4097218"/>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Plus 46">
            <a:extLst>
              <a:ext uri="{FF2B5EF4-FFF2-40B4-BE49-F238E27FC236}">
                <a16:creationId xmlns:a16="http://schemas.microsoft.com/office/drawing/2014/main" id="{C05E69CA-5CFC-FA4C-8342-34B47E453B01}"/>
              </a:ext>
            </a:extLst>
          </p:cNvPr>
          <p:cNvSpPr>
            <a:spLocks noChangeAspect="1"/>
          </p:cNvSpPr>
          <p:nvPr/>
        </p:nvSpPr>
        <p:spPr>
          <a:xfrm>
            <a:off x="6670765" y="520205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Plus 47">
            <a:extLst>
              <a:ext uri="{FF2B5EF4-FFF2-40B4-BE49-F238E27FC236}">
                <a16:creationId xmlns:a16="http://schemas.microsoft.com/office/drawing/2014/main" id="{F4DB5733-CA70-354A-AE42-FB0C4B90B9E5}"/>
              </a:ext>
            </a:extLst>
          </p:cNvPr>
          <p:cNvSpPr>
            <a:spLocks noChangeAspect="1"/>
          </p:cNvSpPr>
          <p:nvPr/>
        </p:nvSpPr>
        <p:spPr>
          <a:xfrm>
            <a:off x="6419823" y="500037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Plus 48">
            <a:extLst>
              <a:ext uri="{FF2B5EF4-FFF2-40B4-BE49-F238E27FC236}">
                <a16:creationId xmlns:a16="http://schemas.microsoft.com/office/drawing/2014/main" id="{F43F965E-751A-404D-B2F8-1FF221DD98F5}"/>
              </a:ext>
            </a:extLst>
          </p:cNvPr>
          <p:cNvSpPr>
            <a:spLocks noChangeAspect="1"/>
          </p:cNvSpPr>
          <p:nvPr/>
        </p:nvSpPr>
        <p:spPr>
          <a:xfrm>
            <a:off x="6663132" y="4728606"/>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Plus 49">
            <a:extLst>
              <a:ext uri="{FF2B5EF4-FFF2-40B4-BE49-F238E27FC236}">
                <a16:creationId xmlns:a16="http://schemas.microsoft.com/office/drawing/2014/main" id="{31982412-B6AE-864A-933B-798B69E34C96}"/>
              </a:ext>
            </a:extLst>
          </p:cNvPr>
          <p:cNvSpPr>
            <a:spLocks noChangeAspect="1"/>
          </p:cNvSpPr>
          <p:nvPr/>
        </p:nvSpPr>
        <p:spPr>
          <a:xfrm>
            <a:off x="6981628" y="457741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Plus 55">
            <a:extLst>
              <a:ext uri="{FF2B5EF4-FFF2-40B4-BE49-F238E27FC236}">
                <a16:creationId xmlns:a16="http://schemas.microsoft.com/office/drawing/2014/main" id="{DF15BBC3-81A6-A648-BFD9-609DB1CC0805}"/>
              </a:ext>
            </a:extLst>
          </p:cNvPr>
          <p:cNvSpPr>
            <a:spLocks noChangeAspect="1"/>
          </p:cNvSpPr>
          <p:nvPr/>
        </p:nvSpPr>
        <p:spPr>
          <a:xfrm>
            <a:off x="7165311" y="481214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Plus 56">
            <a:extLst>
              <a:ext uri="{FF2B5EF4-FFF2-40B4-BE49-F238E27FC236}">
                <a16:creationId xmlns:a16="http://schemas.microsoft.com/office/drawing/2014/main" id="{33170EC8-529C-F845-B3D5-B4145C25D603}"/>
              </a:ext>
            </a:extLst>
          </p:cNvPr>
          <p:cNvSpPr>
            <a:spLocks noChangeAspect="1"/>
          </p:cNvSpPr>
          <p:nvPr/>
        </p:nvSpPr>
        <p:spPr>
          <a:xfrm>
            <a:off x="7481247" y="3774094"/>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Plus 57">
            <a:extLst>
              <a:ext uri="{FF2B5EF4-FFF2-40B4-BE49-F238E27FC236}">
                <a16:creationId xmlns:a16="http://schemas.microsoft.com/office/drawing/2014/main" id="{526974B7-7C51-5A4A-88B4-AFC4A0EF6801}"/>
              </a:ext>
            </a:extLst>
          </p:cNvPr>
          <p:cNvSpPr>
            <a:spLocks noChangeAspect="1"/>
          </p:cNvSpPr>
          <p:nvPr/>
        </p:nvSpPr>
        <p:spPr>
          <a:xfrm>
            <a:off x="7625247" y="4343321"/>
            <a:ext cx="144000" cy="144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65173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1. Position du problème.</a:t>
            </a:r>
          </a:p>
        </p:txBody>
      </p:sp>
    </p:spTree>
    <p:extLst>
      <p:ext uri="{BB962C8B-B14F-4D97-AF65-F5344CB8AC3E}">
        <p14:creationId xmlns:p14="http://schemas.microsoft.com/office/powerpoint/2010/main" val="1926402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800" dirty="0">
                <a:solidFill>
                  <a:schemeClr val="bg1"/>
                </a:solidFill>
              </a:rPr>
              <a:t>2. Classification binaire.</a:t>
            </a:r>
          </a:p>
        </p:txBody>
      </p:sp>
    </p:spTree>
    <p:extLst>
      <p:ext uri="{BB962C8B-B14F-4D97-AF65-F5344CB8AC3E}">
        <p14:creationId xmlns:p14="http://schemas.microsoft.com/office/powerpoint/2010/main" val="227131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938992"/>
          </a:xfrm>
          <a:prstGeom prst="rect">
            <a:avLst/>
          </a:prstGeom>
          <a:noFill/>
        </p:spPr>
        <p:txBody>
          <a:bodyPr wrap="square" rtlCol="0">
            <a:spAutoFit/>
          </a:bodyPr>
          <a:lstStyle/>
          <a:p>
            <a:r>
              <a:rPr lang="fr-FR" sz="2400" b="1" dirty="0"/>
              <a:t>Hypothèse pour cette partie</a:t>
            </a:r>
          </a:p>
          <a:p>
            <a:endParaRPr lang="fr-FR" sz="2400" dirty="0"/>
          </a:p>
          <a:p>
            <a:pPr marL="342900" indent="-342900">
              <a:buFont typeface="Arial" panose="020B0604020202020204" pitchFamily="34" charset="0"/>
              <a:buChar char="•"/>
            </a:pPr>
            <a:r>
              <a:rPr lang="fr-FR" sz="2400" dirty="0"/>
              <a:t>Dans la suite de cette partie nous ne considèrerons que des algorithmes de classification binaire, </a:t>
            </a:r>
            <a:r>
              <a:rPr lang="fr-FR" sz="2400" i="1" dirty="0"/>
              <a:t>i.e.</a:t>
            </a:r>
            <a:r>
              <a:rPr lang="fr-FR" sz="2400" dirty="0"/>
              <a:t> traitant des jeux de données dont la variable cible ne peut prendre que deux valeurs.</a:t>
            </a:r>
          </a:p>
        </p:txBody>
      </p:sp>
      <p:pic>
        <p:nvPicPr>
          <p:cNvPr id="4" name="Graphique 3" descr="Avertissement">
            <a:extLst>
              <a:ext uri="{FF2B5EF4-FFF2-40B4-BE49-F238E27FC236}">
                <a16:creationId xmlns:a16="http://schemas.microsoft.com/office/drawing/2014/main" id="{22D7916A-A434-C445-9027-9295A9A5B8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4108889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Différentes mesures de la qualité d’un algorithme de classification binaire</a:t>
                </a:r>
              </a:p>
              <a:p>
                <a:endParaRPr lang="fr-FR" sz="2400" dirty="0"/>
              </a:p>
              <a:p>
                <a:pPr marL="342900" indent="-342900">
                  <a:buFont typeface="Arial" panose="020B0604020202020204" pitchFamily="34" charset="0"/>
                  <a:buChar char="•"/>
                </a:pPr>
                <a:r>
                  <a:rPr lang="fr-FR" sz="2400" dirty="0"/>
                  <a:t>Selon le contexte et le but fixé on pourra choisir l’une de ces métriques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Exactitude.</a:t>
                </a:r>
              </a:p>
              <a:p>
                <a:pPr marL="800100" lvl="1" indent="-342900">
                  <a:buFont typeface="Arial" panose="020B0604020202020204" pitchFamily="34" charset="0"/>
                  <a:buChar char="•"/>
                </a:pPr>
                <a:r>
                  <a:rPr lang="fr-FR" sz="2400" dirty="0"/>
                  <a:t>Taux de faux/vrais positifs/négatifs.</a:t>
                </a:r>
              </a:p>
              <a:p>
                <a:pPr marL="800100" lvl="1" indent="-342900">
                  <a:buFont typeface="Arial" panose="020B0604020202020204" pitchFamily="34" charset="0"/>
                  <a:buChar char="•"/>
                </a:pPr>
                <a:r>
                  <a:rPr lang="fr-FR" sz="2400" dirty="0"/>
                  <a:t>Précision.</a:t>
                </a:r>
              </a:p>
              <a:p>
                <a:pPr marL="800100" lvl="1" indent="-342900">
                  <a:buFont typeface="Arial" panose="020B0604020202020204" pitchFamily="34" charset="0"/>
                  <a:buChar char="•"/>
                </a:pPr>
                <a:r>
                  <a:rPr lang="fr-FR" sz="2400" dirty="0"/>
                  <a:t>Rappel.</a:t>
                </a:r>
              </a:p>
              <a:p>
                <a:pPr marL="800100" lvl="1" indent="-342900">
                  <a:buFont typeface="Arial" panose="020B0604020202020204" pitchFamily="34" charset="0"/>
                  <a:buChar char="•"/>
                </a:pPr>
                <a14:m>
                  <m:oMath xmlns:m="http://schemas.openxmlformats.org/officeDocument/2006/math">
                    <m:r>
                      <a:rPr lang="fr-FR" sz="2400" b="0" i="1" smtClean="0">
                        <a:latin typeface="Cambria Math" panose="02040503050406030204" pitchFamily="18" charset="0"/>
                      </a:rPr>
                      <m:t>𝐹</m:t>
                    </m:r>
                  </m:oMath>
                </a14:m>
                <a:r>
                  <a:rPr lang="fr-FR" sz="2400" dirty="0"/>
                  <a:t>-mesure.</a:t>
                </a:r>
              </a:p>
              <a:p>
                <a:pPr marL="800100" lvl="1" indent="-342900">
                  <a:buFont typeface="Arial" panose="020B0604020202020204" pitchFamily="34" charset="0"/>
                  <a:buChar char="•"/>
                </a:pPr>
                <a:r>
                  <a:rPr lang="fr-FR" sz="2400" dirty="0"/>
                  <a:t>Aire de la courbe </a:t>
                </a:r>
                <a14:m>
                  <m:oMath xmlns:m="http://schemas.openxmlformats.org/officeDocument/2006/math">
                    <m:r>
                      <a:rPr lang="fr-FR" sz="2400" b="0" i="1" smtClean="0">
                        <a:latin typeface="Cambria Math" panose="02040503050406030204" pitchFamily="18" charset="0"/>
                      </a:rPr>
                      <m:t>𝑅𝑂𝐶</m:t>
                    </m:r>
                  </m:oMath>
                </a14:m>
                <a:r>
                  <a:rPr lang="fr-FR" sz="2400" dirty="0"/>
                  <a:t>.</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3"/>
                <a:stretch>
                  <a:fillRect l="-843" t="-1338" b="-3010"/>
                </a:stretch>
              </a:blipFill>
            </p:spPr>
            <p:txBody>
              <a:bodyPr/>
              <a:lstStyle/>
              <a:p>
                <a:r>
                  <a:rPr lang="fr-FR">
                    <a:noFill/>
                  </a:rPr>
                  <a:t> </a:t>
                </a:r>
              </a:p>
            </p:txBody>
          </p:sp>
        </mc:Fallback>
      </mc:AlternateContent>
      <p:pic>
        <p:nvPicPr>
          <p:cNvPr id="5" name="Graphique 4" descr="Thermomètre avec un remplissage uni">
            <a:extLst>
              <a:ext uri="{FF2B5EF4-FFF2-40B4-BE49-F238E27FC236}">
                <a16:creationId xmlns:a16="http://schemas.microsoft.com/office/drawing/2014/main" id="{DA16DF4E-59AC-9E42-8CDB-61585EA5177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81256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380862"/>
              </a:xfrm>
              <a:prstGeom prst="rect">
                <a:avLst/>
              </a:prstGeom>
              <a:noFill/>
            </p:spPr>
            <p:txBody>
              <a:bodyPr wrap="square" rtlCol="0">
                <a:spAutoFit/>
              </a:bodyPr>
              <a:lstStyle/>
              <a:p>
                <a:r>
                  <a:rPr lang="fr-FR" sz="2400" b="1" dirty="0"/>
                  <a:t>Exactitude : définition</a:t>
                </a:r>
              </a:p>
              <a:p>
                <a:endParaRPr lang="fr-FR" sz="2400" dirty="0"/>
              </a:p>
              <a:p>
                <a:pPr marL="342900" indent="-342900">
                  <a:buFont typeface="Arial" panose="020B0604020202020204" pitchFamily="34" charset="0"/>
                  <a:buChar char="•"/>
                </a:pPr>
                <a:r>
                  <a:rPr lang="fr-FR" sz="2400" dirty="0"/>
                  <a:t>Il s’agit du taux de prévisions correctes</a:t>
                </a:r>
              </a:p>
              <a:p>
                <a:pPr marL="342900" indent="-342900">
                  <a:buFont typeface="Arial" panose="020B0604020202020204" pitchFamily="34" charset="0"/>
                  <a:buChar char="•"/>
                </a:pPr>
                <a:endParaRPr lang="fr-FR" sz="2400" dirty="0"/>
              </a:p>
              <a:p>
                <a:endParaRPr lang="fr-FR" sz="2400" dirty="0"/>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𝐸𝑥𝑎𝑐𝑡𝑖𝑡𝑢𝑑𝑒</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 </m:t>
                          </m:r>
                          <m:r>
                            <a:rPr lang="fr-FR" sz="2400" i="1">
                              <a:latin typeface="Cambria Math" panose="02040503050406030204" pitchFamily="18" charset="0"/>
                            </a:rPr>
                            <m:t>𝑝𝑟</m:t>
                          </m:r>
                          <m:r>
                            <a:rPr lang="fr-FR" sz="2400" i="1">
                              <a:latin typeface="Cambria Math" panose="02040503050406030204" pitchFamily="18" charset="0"/>
                            </a:rPr>
                            <m:t>é</m:t>
                          </m:r>
                          <m:r>
                            <a:rPr lang="fr-FR" sz="2400" i="1">
                              <a:latin typeface="Cambria Math" panose="02040503050406030204" pitchFamily="18" charset="0"/>
                            </a:rPr>
                            <m:t>𝑣𝑖𝑠𝑖𝑜𝑛𝑠</m:t>
                          </m:r>
                          <m:r>
                            <a:rPr lang="fr-FR" sz="2400" i="1">
                              <a:latin typeface="Cambria Math" panose="02040503050406030204" pitchFamily="18" charset="0"/>
                            </a:rPr>
                            <m:t> </m:t>
                          </m:r>
                          <m:r>
                            <a:rPr lang="fr-FR" sz="2400" i="1">
                              <a:latin typeface="Cambria Math" panose="02040503050406030204" pitchFamily="18" charset="0"/>
                            </a:rPr>
                            <m:t>𝑐𝑜𝑟𝑟𝑒𝑐𝑡𝑒𝑠</m:t>
                          </m:r>
                        </m:num>
                        <m:den>
                          <m:r>
                            <a:rPr lang="fr-FR" sz="2400" i="1">
                              <a:latin typeface="Cambria Math" panose="02040503050406030204" pitchFamily="18" charset="0"/>
                            </a:rPr>
                            <m:t># </m:t>
                          </m:r>
                          <m:r>
                            <a:rPr lang="fr-FR" sz="2400" i="1">
                              <a:latin typeface="Cambria Math" panose="02040503050406030204" pitchFamily="18" charset="0"/>
                            </a:rPr>
                            <m:t>𝑜𝑏𝑠𝑒𝑟𝑣𝑎𝑡𝑖𝑜𝑛𝑠</m:t>
                          </m:r>
                        </m:den>
                      </m:f>
                    </m:oMath>
                  </m:oMathPara>
                </a14:m>
                <a:endParaRPr lang="fr-FR" sz="2400" dirty="0"/>
              </a:p>
              <a:p>
                <a:endParaRPr lang="fr-FR" sz="2400" dirty="0"/>
              </a:p>
              <a:p>
                <a:endParaRPr lang="fr-FR" sz="2400" dirty="0"/>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380862"/>
              </a:xfrm>
              <a:prstGeom prst="rect">
                <a:avLst/>
              </a:prstGeom>
              <a:blipFill>
                <a:blip r:embed="rId3"/>
                <a:stretch>
                  <a:fillRect l="-843" t="-1498"/>
                </a:stretch>
              </a:blipFill>
            </p:spPr>
            <p:txBody>
              <a:bodyPr/>
              <a:lstStyle/>
              <a:p>
                <a:r>
                  <a:rPr lang="fr-FR">
                    <a:noFill/>
                  </a:rPr>
                  <a:t> </a:t>
                </a:r>
              </a:p>
            </p:txBody>
          </p:sp>
        </mc:Fallback>
      </mc:AlternateContent>
      <p:pic>
        <p:nvPicPr>
          <p:cNvPr id="5" name="Graphique 4" descr="Retouches et couture avec un remplissage uni">
            <a:extLst>
              <a:ext uri="{FF2B5EF4-FFF2-40B4-BE49-F238E27FC236}">
                <a16:creationId xmlns:a16="http://schemas.microsoft.com/office/drawing/2014/main" id="{ABDF98D0-8B3F-6048-9149-727D310FB8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119500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Exactitude : remarque</a:t>
                </a:r>
              </a:p>
              <a:p>
                <a:endParaRPr lang="fr-FR" sz="2400" dirty="0"/>
              </a:p>
              <a:p>
                <a:pPr marL="342900" indent="-342900">
                  <a:buFont typeface="Arial" panose="020B0604020202020204" pitchFamily="34" charset="0"/>
                  <a:buChar char="•"/>
                </a:pPr>
                <a:r>
                  <a:rPr lang="fr-FR" sz="2400" dirty="0"/>
                  <a:t>Mesure insuffisante, en particulier si la répartition des deux classes est déséquilibrée.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Si par exemple une classe possède environ </a:t>
                </a:r>
                <a14:m>
                  <m:oMath xmlns:m="http://schemas.openxmlformats.org/officeDocument/2006/math">
                    <m:r>
                      <a:rPr lang="fr-FR" sz="2400" i="1" dirty="0" smtClean="0">
                        <a:latin typeface="Cambria Math" panose="02040503050406030204" pitchFamily="18" charset="0"/>
                      </a:rPr>
                      <m:t>90%</m:t>
                    </m:r>
                  </m:oMath>
                </a14:m>
                <a:r>
                  <a:rPr lang="fr-FR" sz="2400" dirty="0"/>
                  <a:t> des données et l’autre </a:t>
                </a:r>
                <a14:m>
                  <m:oMath xmlns:m="http://schemas.openxmlformats.org/officeDocument/2006/math">
                    <m:r>
                      <a:rPr lang="fr-FR" sz="2400" b="0" i="1" smtClean="0">
                        <a:latin typeface="Cambria Math" panose="02040503050406030204" pitchFamily="18" charset="0"/>
                      </a:rPr>
                      <m:t>10%</m:t>
                    </m:r>
                  </m:oMath>
                </a14:m>
                <a:r>
                  <a:rPr lang="fr-FR" sz="2400" dirty="0"/>
                  <a:t>, un classificateur constant prédisant toujours l’appartenance à la classe la plus importante aura une exactitude d’environ </a:t>
                </a:r>
                <a14:m>
                  <m:oMath xmlns:m="http://schemas.openxmlformats.org/officeDocument/2006/math">
                    <m:r>
                      <a:rPr lang="fr-FR" sz="2400" i="1" dirty="0" smtClean="0">
                        <a:latin typeface="Cambria Math" panose="02040503050406030204" pitchFamily="18" charset="0"/>
                      </a:rPr>
                      <m:t>0,9</m:t>
                    </m:r>
                  </m:oMath>
                </a14:m>
                <a:r>
                  <a:rPr lang="fr-FR" sz="2400" dirty="0"/>
                  <a:t> ce qui est une très bonne valeur. </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Il ne servira pourtant à rien.</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2"/>
                <a:stretch>
                  <a:fillRect l="-843" t="-1338" r="-361" b="-3010"/>
                </a:stretch>
              </a:blipFill>
            </p:spPr>
            <p:txBody>
              <a:bodyPr/>
              <a:lstStyle/>
              <a:p>
                <a:r>
                  <a:rPr lang="fr-FR">
                    <a:noFill/>
                  </a:rPr>
                  <a:t> </a:t>
                </a:r>
              </a:p>
            </p:txBody>
          </p:sp>
        </mc:Fallback>
      </mc:AlternateContent>
      <p:pic>
        <p:nvPicPr>
          <p:cNvPr id="5" name="Graphique 4" descr="Balance de la justice avec un remplissage uni">
            <a:extLst>
              <a:ext uri="{FF2B5EF4-FFF2-40B4-BE49-F238E27FC236}">
                <a16:creationId xmlns:a16="http://schemas.microsoft.com/office/drawing/2014/main" id="{1CC391BF-3572-CD42-865C-FC0F1ADBDA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76279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16320"/>
          </a:xfrm>
          <a:prstGeom prst="rect">
            <a:avLst/>
          </a:prstGeom>
          <a:noFill/>
        </p:spPr>
        <p:txBody>
          <a:bodyPr wrap="square" rtlCol="0">
            <a:spAutoFit/>
          </a:bodyPr>
          <a:lstStyle/>
          <a:p>
            <a:r>
              <a:rPr lang="fr-FR" sz="2400" b="1" dirty="0"/>
              <a:t>Classe positive et classe négative</a:t>
            </a:r>
          </a:p>
          <a:p>
            <a:endParaRPr lang="fr-FR" sz="2400" dirty="0"/>
          </a:p>
          <a:p>
            <a:pPr marL="342900" indent="-342900">
              <a:buFont typeface="Arial" panose="020B0604020202020204" pitchFamily="34" charset="0"/>
              <a:buChar char="•"/>
            </a:pPr>
            <a:r>
              <a:rPr lang="fr-FR" sz="2400" dirty="0"/>
              <a:t>Dans le contexte d’une classification binaire on distingue souvent le rôle des deux classes par un qualificatif.</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L’une est appelée </a:t>
            </a:r>
            <a:r>
              <a:rPr lang="fr-FR" sz="2400" b="1" dirty="0"/>
              <a:t>positive</a:t>
            </a:r>
            <a:r>
              <a:rPr lang="fr-FR" sz="2400" dirty="0"/>
              <a:t> et correspond à la classe dont on veut détecter prioritairement l’appartenance.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L’autre est alors qualifiée de </a:t>
            </a:r>
            <a:r>
              <a:rPr lang="fr-FR" sz="2400" b="1" dirty="0"/>
              <a:t>négative</a:t>
            </a:r>
            <a:r>
              <a:rPr lang="fr-FR" sz="2400" dirty="0"/>
              <a:t>.</a:t>
            </a:r>
          </a:p>
        </p:txBody>
      </p:sp>
      <p:pic>
        <p:nvPicPr>
          <p:cNvPr id="5" name="Graphique 4" descr="Homme scientifique avec un remplissage uni">
            <a:extLst>
              <a:ext uri="{FF2B5EF4-FFF2-40B4-BE49-F238E27FC236}">
                <a16:creationId xmlns:a16="http://schemas.microsoft.com/office/drawing/2014/main" id="{D6435CFC-649A-CB41-AF75-3B5F73C918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4206609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Vrais / Faux Positifs et Vrais / Faux Négatifs : définitions</a:t>
            </a:r>
          </a:p>
          <a:p>
            <a:endParaRPr lang="fr-FR" sz="2400" dirty="0"/>
          </a:p>
          <a:p>
            <a:pPr marL="342900" indent="-342900">
              <a:buFont typeface="Arial" panose="020B0604020202020204" pitchFamily="34" charset="0"/>
              <a:buChar char="•"/>
            </a:pPr>
            <a:r>
              <a:rPr lang="fr-FR" sz="2400" dirty="0"/>
              <a:t>Vrais positifs : éléments détectés à raison comme positifs.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Vrais négatifs : éléments détectés à raison comme négatifs.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Faux Positifs : éléments détectés à tort comme positifs (fausse alerte…). </a:t>
            </a:r>
          </a:p>
          <a:p>
            <a:endParaRPr lang="fr-FR" sz="2400" dirty="0"/>
          </a:p>
          <a:p>
            <a:pPr marL="342900" indent="-342900">
              <a:buFont typeface="Arial" panose="020B0604020202020204" pitchFamily="34" charset="0"/>
              <a:buChar char="•"/>
            </a:pPr>
            <a:r>
              <a:rPr lang="fr-FR" sz="2400" dirty="0"/>
              <a:t>Faux Négatifs : éléments détectés à tort comme négatifs (absence de diagnostic…). </a:t>
            </a:r>
          </a:p>
        </p:txBody>
      </p:sp>
      <p:pic>
        <p:nvPicPr>
          <p:cNvPr id="5" name="Graphique 4" descr="Sonnerie d’alarme avec un remplissage uni">
            <a:extLst>
              <a:ext uri="{FF2B5EF4-FFF2-40B4-BE49-F238E27FC236}">
                <a16:creationId xmlns:a16="http://schemas.microsoft.com/office/drawing/2014/main" id="{7B1F5DD8-CC5D-B84A-9E15-8D44D7C1AE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4123402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Matrice de confusion</a:t>
            </a:r>
          </a:p>
        </p:txBody>
      </p:sp>
      <p:sp>
        <p:nvSpPr>
          <p:cNvPr id="4" name="Rectangle 3">
            <a:extLst>
              <a:ext uri="{FF2B5EF4-FFF2-40B4-BE49-F238E27FC236}">
                <a16:creationId xmlns:a16="http://schemas.microsoft.com/office/drawing/2014/main" id="{86723366-7209-BC45-87D9-001FC4A326D0}"/>
              </a:ext>
            </a:extLst>
          </p:cNvPr>
          <p:cNvSpPr>
            <a:spLocks noChangeAspect="1"/>
          </p:cNvSpPr>
          <p:nvPr/>
        </p:nvSpPr>
        <p:spPr>
          <a:xfrm>
            <a:off x="3996165" y="3394049"/>
            <a:ext cx="2094742" cy="1047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Vrais Négatifs</a:t>
            </a:r>
          </a:p>
        </p:txBody>
      </p:sp>
      <p:sp>
        <p:nvSpPr>
          <p:cNvPr id="5" name="Rectangle 4">
            <a:extLst>
              <a:ext uri="{FF2B5EF4-FFF2-40B4-BE49-F238E27FC236}">
                <a16:creationId xmlns:a16="http://schemas.microsoft.com/office/drawing/2014/main" id="{8C672BF8-F964-DD4F-976A-B6BBD15E24D5}"/>
              </a:ext>
            </a:extLst>
          </p:cNvPr>
          <p:cNvSpPr>
            <a:spLocks noChangeAspect="1"/>
          </p:cNvSpPr>
          <p:nvPr/>
        </p:nvSpPr>
        <p:spPr>
          <a:xfrm>
            <a:off x="6096000" y="3394049"/>
            <a:ext cx="2094742" cy="104737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Faux Positifs</a:t>
            </a:r>
          </a:p>
        </p:txBody>
      </p:sp>
      <p:sp>
        <p:nvSpPr>
          <p:cNvPr id="6" name="Rectangle 5">
            <a:extLst>
              <a:ext uri="{FF2B5EF4-FFF2-40B4-BE49-F238E27FC236}">
                <a16:creationId xmlns:a16="http://schemas.microsoft.com/office/drawing/2014/main" id="{41B6A7E9-EA96-D148-A9EE-F7E968472F12}"/>
              </a:ext>
            </a:extLst>
          </p:cNvPr>
          <p:cNvSpPr>
            <a:spLocks noChangeAspect="1"/>
          </p:cNvSpPr>
          <p:nvPr/>
        </p:nvSpPr>
        <p:spPr>
          <a:xfrm>
            <a:off x="3996165" y="4441420"/>
            <a:ext cx="2094742" cy="104737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Faux Négatifs</a:t>
            </a:r>
          </a:p>
        </p:txBody>
      </p:sp>
      <p:sp>
        <p:nvSpPr>
          <p:cNvPr id="7" name="Rectangle 6">
            <a:extLst>
              <a:ext uri="{FF2B5EF4-FFF2-40B4-BE49-F238E27FC236}">
                <a16:creationId xmlns:a16="http://schemas.microsoft.com/office/drawing/2014/main" id="{6C23114F-DD13-7247-BF48-0E6B87F5E767}"/>
              </a:ext>
            </a:extLst>
          </p:cNvPr>
          <p:cNvSpPr>
            <a:spLocks noChangeAspect="1"/>
          </p:cNvSpPr>
          <p:nvPr/>
        </p:nvSpPr>
        <p:spPr>
          <a:xfrm>
            <a:off x="6096000" y="4441420"/>
            <a:ext cx="2094742" cy="1047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Vrais Positifs</a:t>
            </a:r>
          </a:p>
        </p:txBody>
      </p:sp>
      <p:sp>
        <p:nvSpPr>
          <p:cNvPr id="8" name="Rectangle 7">
            <a:extLst>
              <a:ext uri="{FF2B5EF4-FFF2-40B4-BE49-F238E27FC236}">
                <a16:creationId xmlns:a16="http://schemas.microsoft.com/office/drawing/2014/main" id="{38650C2E-6AD1-1847-9B86-5A6138FDAD05}"/>
              </a:ext>
            </a:extLst>
          </p:cNvPr>
          <p:cNvSpPr>
            <a:spLocks noChangeAspect="1"/>
          </p:cNvSpPr>
          <p:nvPr/>
        </p:nvSpPr>
        <p:spPr>
          <a:xfrm>
            <a:off x="4001258" y="3001285"/>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Négatif</a:t>
            </a:r>
          </a:p>
        </p:txBody>
      </p:sp>
      <p:sp>
        <p:nvSpPr>
          <p:cNvPr id="9" name="Rectangle 8">
            <a:extLst>
              <a:ext uri="{FF2B5EF4-FFF2-40B4-BE49-F238E27FC236}">
                <a16:creationId xmlns:a16="http://schemas.microsoft.com/office/drawing/2014/main" id="{AC0BD4E9-331C-644E-88C7-2F182973EC3D}"/>
              </a:ext>
            </a:extLst>
          </p:cNvPr>
          <p:cNvSpPr>
            <a:spLocks noChangeAspect="1"/>
          </p:cNvSpPr>
          <p:nvPr/>
        </p:nvSpPr>
        <p:spPr>
          <a:xfrm>
            <a:off x="6096000" y="3001285"/>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Positif</a:t>
            </a:r>
          </a:p>
        </p:txBody>
      </p:sp>
      <p:sp>
        <p:nvSpPr>
          <p:cNvPr id="10" name="Rectangle 9">
            <a:extLst>
              <a:ext uri="{FF2B5EF4-FFF2-40B4-BE49-F238E27FC236}">
                <a16:creationId xmlns:a16="http://schemas.microsoft.com/office/drawing/2014/main" id="{F02A575F-727B-5140-82CC-E943DA4D6207}"/>
              </a:ext>
            </a:extLst>
          </p:cNvPr>
          <p:cNvSpPr>
            <a:spLocks noChangeAspect="1"/>
          </p:cNvSpPr>
          <p:nvPr/>
        </p:nvSpPr>
        <p:spPr>
          <a:xfrm rot="16200000">
            <a:off x="3271005" y="4768722"/>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Positif</a:t>
            </a:r>
          </a:p>
        </p:txBody>
      </p:sp>
      <p:sp>
        <p:nvSpPr>
          <p:cNvPr id="11" name="Rectangle 10">
            <a:extLst>
              <a:ext uri="{FF2B5EF4-FFF2-40B4-BE49-F238E27FC236}">
                <a16:creationId xmlns:a16="http://schemas.microsoft.com/office/drawing/2014/main" id="{9A579D9C-26DE-D742-B7E2-4B1A9A8D7520}"/>
              </a:ext>
            </a:extLst>
          </p:cNvPr>
          <p:cNvSpPr>
            <a:spLocks noChangeAspect="1"/>
          </p:cNvSpPr>
          <p:nvPr/>
        </p:nvSpPr>
        <p:spPr>
          <a:xfrm rot="16200000">
            <a:off x="3271005" y="3721351"/>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Négatif</a:t>
            </a:r>
          </a:p>
        </p:txBody>
      </p:sp>
      <p:sp>
        <p:nvSpPr>
          <p:cNvPr id="12" name="Rectangle 11">
            <a:extLst>
              <a:ext uri="{FF2B5EF4-FFF2-40B4-BE49-F238E27FC236}">
                <a16:creationId xmlns:a16="http://schemas.microsoft.com/office/drawing/2014/main" id="{B7F17087-651A-2849-989F-E757E632C498}"/>
              </a:ext>
            </a:extLst>
          </p:cNvPr>
          <p:cNvSpPr>
            <a:spLocks noChangeAspect="1"/>
          </p:cNvSpPr>
          <p:nvPr/>
        </p:nvSpPr>
        <p:spPr>
          <a:xfrm>
            <a:off x="4001258" y="2599947"/>
            <a:ext cx="4189485"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Prédictions</a:t>
            </a:r>
          </a:p>
        </p:txBody>
      </p:sp>
      <p:sp>
        <p:nvSpPr>
          <p:cNvPr id="13" name="Rectangle 12">
            <a:extLst>
              <a:ext uri="{FF2B5EF4-FFF2-40B4-BE49-F238E27FC236}">
                <a16:creationId xmlns:a16="http://schemas.microsoft.com/office/drawing/2014/main" id="{42F52BE2-8046-434D-9D97-7A076044036D}"/>
              </a:ext>
            </a:extLst>
          </p:cNvPr>
          <p:cNvSpPr>
            <a:spLocks noChangeAspect="1"/>
          </p:cNvSpPr>
          <p:nvPr/>
        </p:nvSpPr>
        <p:spPr>
          <a:xfrm rot="16200000">
            <a:off x="2344370" y="4245036"/>
            <a:ext cx="2094742"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Réalité</a:t>
            </a:r>
          </a:p>
        </p:txBody>
      </p:sp>
    </p:spTree>
    <p:extLst>
      <p:ext uri="{BB962C8B-B14F-4D97-AF65-F5344CB8AC3E}">
        <p14:creationId xmlns:p14="http://schemas.microsoft.com/office/powerpoint/2010/main" val="715313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811958"/>
              </a:xfrm>
              <a:prstGeom prst="rect">
                <a:avLst/>
              </a:prstGeom>
              <a:noFill/>
            </p:spPr>
            <p:txBody>
              <a:bodyPr wrap="square" rtlCol="0">
                <a:spAutoFit/>
              </a:bodyPr>
              <a:lstStyle/>
              <a:p>
                <a:r>
                  <a:rPr lang="fr-FR" sz="2400" b="1" dirty="0"/>
                  <a:t>Taux de Vrais Positifs et Faux négatifs : définitions</a:t>
                </a:r>
              </a:p>
              <a:p>
                <a:endParaRPr lang="fr-FR" sz="2400" dirty="0"/>
              </a:p>
              <a:p>
                <a:pPr marL="342900" indent="-342900">
                  <a:buFont typeface="Arial" panose="020B0604020202020204" pitchFamily="34" charset="0"/>
                  <a:buChar char="•"/>
                </a:pPr>
                <a:r>
                  <a:rPr lang="fr-FR" sz="2400" b="1" dirty="0"/>
                  <a:t>Taux de Vrais Positifs </a:t>
                </a:r>
                <a:r>
                  <a:rPr lang="fr-FR" sz="2400" dirty="0"/>
                  <a:t>(aussi appelé </a:t>
                </a:r>
                <a:r>
                  <a:rPr lang="fr-FR" sz="2400" b="1" dirty="0"/>
                  <a:t>rappel</a:t>
                </a:r>
                <a:r>
                  <a:rPr lang="fr-FR" sz="2400" dirty="0"/>
                  <a:t> ou </a:t>
                </a:r>
                <a:r>
                  <a:rPr lang="fr-FR" sz="2400" b="1" dirty="0"/>
                  <a:t>sensibilité</a:t>
                </a:r>
                <a:r>
                  <a:rPr lang="fr-FR" sz="2400" dirty="0"/>
                  <a:t>) : proportion de Vrais positifs parmi les éléments réellement positifs</a:t>
                </a:r>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𝑇</m:t>
                      </m:r>
                      <m:r>
                        <a:rPr lang="fr-FR" sz="2400" b="0" i="1" smtClean="0">
                          <a:latin typeface="Cambria Math" panose="02040503050406030204" pitchFamily="18" charset="0"/>
                        </a:rPr>
                        <m:t>𝑉</m:t>
                      </m:r>
                      <m:r>
                        <a:rPr lang="fr-FR" sz="2400" i="1">
                          <a:latin typeface="Cambria Math" panose="02040503050406030204" pitchFamily="18" charset="0"/>
                        </a:rPr>
                        <m:t>𝑃</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m:t>
                          </m:r>
                          <m:r>
                            <a:rPr lang="fr-FR" sz="2400" b="0" i="1" smtClean="0">
                              <a:latin typeface="Cambria Math" panose="02040503050406030204" pitchFamily="18" charset="0"/>
                            </a:rPr>
                            <m:t>𝑉</m:t>
                          </m:r>
                          <m:r>
                            <a:rPr lang="fr-FR" sz="2400" i="1">
                              <a:latin typeface="Cambria Math" panose="02040503050406030204" pitchFamily="18" charset="0"/>
                            </a:rPr>
                            <m:t>𝑃</m:t>
                          </m:r>
                        </m:num>
                        <m:den>
                          <m:r>
                            <a:rPr lang="fr-FR" sz="2400" i="1">
                              <a:latin typeface="Cambria Math" panose="02040503050406030204" pitchFamily="18" charset="0"/>
                            </a:rPr>
                            <m:t>#</m:t>
                          </m:r>
                          <m:r>
                            <a:rPr lang="fr-FR" sz="2400" b="0" i="1" smtClean="0">
                              <a:latin typeface="Cambria Math" panose="02040503050406030204" pitchFamily="18" charset="0"/>
                            </a:rPr>
                            <m:t>𝑉</m:t>
                          </m:r>
                          <m:r>
                            <a:rPr lang="fr-FR" sz="2400" i="1">
                              <a:latin typeface="Cambria Math" panose="02040503050406030204" pitchFamily="18" charset="0"/>
                            </a:rPr>
                            <m:t>𝑃</m:t>
                          </m:r>
                          <m:r>
                            <a:rPr lang="fr-FR" sz="2400" i="1">
                              <a:latin typeface="Cambria Math" panose="02040503050406030204" pitchFamily="18" charset="0"/>
                            </a:rPr>
                            <m:t>+#</m:t>
                          </m:r>
                          <m:r>
                            <a:rPr lang="fr-FR" sz="2400" b="0" i="1" smtClean="0">
                              <a:latin typeface="Cambria Math" panose="02040503050406030204" pitchFamily="18" charset="0"/>
                            </a:rPr>
                            <m:t>𝐹</m:t>
                          </m:r>
                          <m:r>
                            <a:rPr lang="fr-FR" sz="2400" i="1">
                              <a:latin typeface="Cambria Math" panose="02040503050406030204" pitchFamily="18" charset="0"/>
                            </a:rPr>
                            <m:t>𝑁</m:t>
                          </m:r>
                        </m:den>
                      </m:f>
                    </m:oMath>
                  </m:oMathPara>
                </a14:m>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b="1" dirty="0"/>
                  <a:t>Taux de Faux Négatifs </a:t>
                </a:r>
                <a:r>
                  <a:rPr lang="fr-FR" sz="2400" dirty="0"/>
                  <a:t>: proportion de faux négatifs parmi les éléments réellement positifs</a:t>
                </a:r>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𝑇𝐹𝑁</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m:t>
                          </m:r>
                          <m:r>
                            <a:rPr lang="fr-FR" sz="2400" i="1">
                              <a:latin typeface="Cambria Math" panose="02040503050406030204" pitchFamily="18" charset="0"/>
                            </a:rPr>
                            <m:t>𝐹𝑁</m:t>
                          </m:r>
                        </m:num>
                        <m:den>
                          <m:r>
                            <a:rPr lang="fr-FR" sz="2400" i="1">
                              <a:latin typeface="Cambria Math" panose="02040503050406030204" pitchFamily="18" charset="0"/>
                            </a:rPr>
                            <m:t>#</m:t>
                          </m:r>
                          <m:r>
                            <a:rPr lang="fr-FR" sz="2400" b="0" i="1" smtClean="0">
                              <a:latin typeface="Cambria Math" panose="02040503050406030204" pitchFamily="18" charset="0"/>
                            </a:rPr>
                            <m:t>𝑉𝑃</m:t>
                          </m:r>
                          <m:r>
                            <a:rPr lang="fr-FR" sz="2400" i="1">
                              <a:latin typeface="Cambria Math" panose="02040503050406030204" pitchFamily="18" charset="0"/>
                            </a:rPr>
                            <m:t>+#</m:t>
                          </m:r>
                          <m:r>
                            <a:rPr lang="fr-FR" sz="2400" b="0" i="1" smtClean="0">
                              <a:latin typeface="Cambria Math" panose="02040503050406030204" pitchFamily="18" charset="0"/>
                            </a:rPr>
                            <m:t>𝐹𝑁</m:t>
                          </m:r>
                        </m:den>
                      </m:f>
                    </m:oMath>
                  </m:oMathPara>
                </a14:m>
                <a:endParaRPr lang="fr-FR" sz="2400" dirty="0"/>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4811958"/>
              </a:xfrm>
              <a:prstGeom prst="rect">
                <a:avLst/>
              </a:prstGeom>
              <a:blipFill>
                <a:blip r:embed="rId2"/>
                <a:stretch>
                  <a:fillRect l="-843" t="-1053" b="-263"/>
                </a:stretch>
              </a:blipFill>
            </p:spPr>
            <p:txBody>
              <a:bodyPr/>
              <a:lstStyle/>
              <a:p>
                <a:r>
                  <a:rPr lang="fr-FR">
                    <a:noFill/>
                  </a:rPr>
                  <a:t> </a:t>
                </a:r>
              </a:p>
            </p:txBody>
          </p:sp>
        </mc:Fallback>
      </mc:AlternateContent>
    </p:spTree>
    <p:extLst>
      <p:ext uri="{BB962C8B-B14F-4D97-AF65-F5344CB8AC3E}">
        <p14:creationId xmlns:p14="http://schemas.microsoft.com/office/powerpoint/2010/main" val="880018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811958"/>
              </a:xfrm>
              <a:prstGeom prst="rect">
                <a:avLst/>
              </a:prstGeom>
              <a:noFill/>
            </p:spPr>
            <p:txBody>
              <a:bodyPr wrap="square" rtlCol="0">
                <a:spAutoFit/>
              </a:bodyPr>
              <a:lstStyle/>
              <a:p>
                <a:r>
                  <a:rPr lang="fr-FR" sz="2400" b="1" dirty="0"/>
                  <a:t>Taux de Vrais Négatifs et Faux Positifs : définitions</a:t>
                </a:r>
              </a:p>
              <a:p>
                <a:endParaRPr lang="fr-FR" sz="2400" dirty="0"/>
              </a:p>
              <a:p>
                <a:pPr marL="342900" indent="-342900">
                  <a:buFont typeface="Arial" panose="020B0604020202020204" pitchFamily="34" charset="0"/>
                  <a:buChar char="•"/>
                </a:pPr>
                <a:r>
                  <a:rPr lang="fr-FR" sz="2400" b="1" dirty="0"/>
                  <a:t>Taux de Vrais Négatifs </a:t>
                </a:r>
                <a:r>
                  <a:rPr lang="fr-FR" sz="2400" dirty="0"/>
                  <a:t>(aussi appelé </a:t>
                </a:r>
                <a:r>
                  <a:rPr lang="fr-FR" sz="2400" b="1" dirty="0"/>
                  <a:t>spécificité</a:t>
                </a:r>
                <a:r>
                  <a:rPr lang="fr-FR" sz="2400" dirty="0"/>
                  <a:t>) : proportion de vrais négatifs parmi les éléments réellement négatifs</a:t>
                </a:r>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𝑇𝑉𝑁</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m:t>
                          </m:r>
                          <m:r>
                            <a:rPr lang="fr-FR" sz="2400" i="1">
                              <a:latin typeface="Cambria Math" panose="02040503050406030204" pitchFamily="18" charset="0"/>
                            </a:rPr>
                            <m:t>𝑉𝑁</m:t>
                          </m:r>
                        </m:num>
                        <m:den>
                          <m:r>
                            <a:rPr lang="fr-FR" sz="2400" i="1">
                              <a:latin typeface="Cambria Math" panose="02040503050406030204" pitchFamily="18" charset="0"/>
                            </a:rPr>
                            <m:t>#</m:t>
                          </m:r>
                          <m:r>
                            <a:rPr lang="fr-FR" sz="2400" i="1">
                              <a:latin typeface="Cambria Math" panose="02040503050406030204" pitchFamily="18" charset="0"/>
                            </a:rPr>
                            <m:t>𝑉𝑁</m:t>
                          </m:r>
                          <m:r>
                            <a:rPr lang="fr-FR" sz="2400" i="1">
                              <a:latin typeface="Cambria Math" panose="02040503050406030204" pitchFamily="18" charset="0"/>
                            </a:rPr>
                            <m:t>+#</m:t>
                          </m:r>
                          <m:r>
                            <a:rPr lang="fr-FR" sz="2400" i="1">
                              <a:latin typeface="Cambria Math" panose="02040503050406030204" pitchFamily="18" charset="0"/>
                            </a:rPr>
                            <m:t>𝐹𝑃</m:t>
                          </m:r>
                        </m:den>
                      </m:f>
                    </m:oMath>
                  </m:oMathPara>
                </a14:m>
                <a:endParaRPr lang="fr-FR" sz="2400" dirty="0"/>
              </a:p>
              <a:p>
                <a:endParaRPr lang="fr-FR" sz="2400" dirty="0"/>
              </a:p>
              <a:p>
                <a:pPr marL="342900" indent="-342900">
                  <a:buFont typeface="Arial" panose="020B0604020202020204" pitchFamily="34" charset="0"/>
                  <a:buChar char="•"/>
                </a:pPr>
                <a:r>
                  <a:rPr lang="fr-FR" sz="2400" b="1" dirty="0"/>
                  <a:t>Taux de Faux Positifs </a:t>
                </a:r>
                <a:r>
                  <a:rPr lang="fr-FR" sz="2400" dirty="0"/>
                  <a:t>: proportion de faux positifs parmi les éléments réellement négatifs</a:t>
                </a:r>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𝑇𝐹𝑃</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m:t>
                          </m:r>
                          <m:r>
                            <a:rPr lang="fr-FR" sz="2400" i="1">
                              <a:latin typeface="Cambria Math" panose="02040503050406030204" pitchFamily="18" charset="0"/>
                            </a:rPr>
                            <m:t>𝐹𝑃</m:t>
                          </m:r>
                        </m:num>
                        <m:den>
                          <m:r>
                            <a:rPr lang="fr-FR" sz="2400" i="1">
                              <a:latin typeface="Cambria Math" panose="02040503050406030204" pitchFamily="18" charset="0"/>
                            </a:rPr>
                            <m:t>#</m:t>
                          </m:r>
                          <m:r>
                            <a:rPr lang="fr-FR" sz="2400" b="0" i="1" smtClean="0">
                              <a:latin typeface="Cambria Math" panose="02040503050406030204" pitchFamily="18" charset="0"/>
                            </a:rPr>
                            <m:t>𝑉𝑁</m:t>
                          </m:r>
                          <m:r>
                            <a:rPr lang="fr-FR" sz="2400" i="1">
                              <a:latin typeface="Cambria Math" panose="02040503050406030204" pitchFamily="18" charset="0"/>
                            </a:rPr>
                            <m:t>+#</m:t>
                          </m:r>
                          <m:r>
                            <a:rPr lang="fr-FR" sz="2400" b="0" i="1" smtClean="0">
                              <a:latin typeface="Cambria Math" panose="02040503050406030204" pitchFamily="18" charset="0"/>
                            </a:rPr>
                            <m:t>𝐹𝑃</m:t>
                          </m:r>
                        </m:den>
                      </m:f>
                    </m:oMath>
                  </m:oMathPara>
                </a14:m>
                <a:endParaRPr lang="fr-FR" sz="2400" dirty="0"/>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4811958"/>
              </a:xfrm>
              <a:prstGeom prst="rect">
                <a:avLst/>
              </a:prstGeom>
              <a:blipFill>
                <a:blip r:embed="rId2"/>
                <a:stretch>
                  <a:fillRect l="-843" t="-1053" r="-964" b="-263"/>
                </a:stretch>
              </a:blipFill>
            </p:spPr>
            <p:txBody>
              <a:bodyPr/>
              <a:lstStyle/>
              <a:p>
                <a:r>
                  <a:rPr lang="fr-FR">
                    <a:noFill/>
                  </a:rPr>
                  <a:t> </a:t>
                </a:r>
              </a:p>
            </p:txBody>
          </p:sp>
        </mc:Fallback>
      </mc:AlternateContent>
    </p:spTree>
    <p:extLst>
      <p:ext uri="{BB962C8B-B14F-4D97-AF65-F5344CB8AC3E}">
        <p14:creationId xmlns:p14="http://schemas.microsoft.com/office/powerpoint/2010/main" val="1072731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811958"/>
              </a:xfrm>
              <a:prstGeom prst="rect">
                <a:avLst/>
              </a:prstGeom>
              <a:noFill/>
            </p:spPr>
            <p:txBody>
              <a:bodyPr wrap="square" rtlCol="0">
                <a:spAutoFit/>
              </a:bodyPr>
              <a:lstStyle/>
              <a:p>
                <a:r>
                  <a:rPr lang="fr-FR" sz="2400" b="1" dirty="0"/>
                  <a:t>Précision et Taux de fausses omissions : définitions</a:t>
                </a:r>
              </a:p>
              <a:p>
                <a:endParaRPr lang="fr-FR" sz="2400" dirty="0"/>
              </a:p>
              <a:p>
                <a:pPr marL="342900" indent="-342900">
                  <a:buFont typeface="Arial" panose="020B0604020202020204" pitchFamily="34" charset="0"/>
                  <a:buChar char="•"/>
                </a:pPr>
                <a:r>
                  <a:rPr lang="fr-FR" sz="2400" b="1" dirty="0"/>
                  <a:t>Précision</a:t>
                </a:r>
                <a:r>
                  <a:rPr lang="fr-FR" sz="2400" dirty="0"/>
                  <a:t> : proportion de vrais positifs parmi les éléments détectés comme positifs</a:t>
                </a:r>
              </a:p>
              <a:p>
                <a:endParaRPr lang="fr-FR"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𝑃𝑟</m:t>
                      </m:r>
                      <m:r>
                        <a:rPr lang="fr-FR" sz="2400" i="1">
                          <a:latin typeface="Cambria Math" panose="02040503050406030204" pitchFamily="18" charset="0"/>
                        </a:rPr>
                        <m:t>é</m:t>
                      </m:r>
                      <m:r>
                        <a:rPr lang="fr-FR" sz="2400" i="1">
                          <a:latin typeface="Cambria Math" panose="02040503050406030204" pitchFamily="18" charset="0"/>
                        </a:rPr>
                        <m:t>𝑐𝑖𝑠𝑖𝑜𝑛</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m:t>
                          </m:r>
                          <m:r>
                            <a:rPr lang="fr-FR" sz="2400" i="1">
                              <a:latin typeface="Cambria Math" panose="02040503050406030204" pitchFamily="18" charset="0"/>
                            </a:rPr>
                            <m:t>𝑉𝑃</m:t>
                          </m:r>
                        </m:num>
                        <m:den>
                          <m:r>
                            <a:rPr lang="fr-FR" sz="2400" i="1">
                              <a:latin typeface="Cambria Math" panose="02040503050406030204" pitchFamily="18" charset="0"/>
                            </a:rPr>
                            <m:t>#</m:t>
                          </m:r>
                          <m:r>
                            <a:rPr lang="fr-FR" sz="2400" i="1">
                              <a:latin typeface="Cambria Math" panose="02040503050406030204" pitchFamily="18" charset="0"/>
                            </a:rPr>
                            <m:t>𝑉𝑃</m:t>
                          </m:r>
                          <m:r>
                            <a:rPr lang="fr-FR" sz="2400" i="1">
                              <a:latin typeface="Cambria Math" panose="02040503050406030204" pitchFamily="18" charset="0"/>
                            </a:rPr>
                            <m:t>+#</m:t>
                          </m:r>
                          <m:r>
                            <a:rPr lang="fr-FR" sz="2400" i="1">
                              <a:latin typeface="Cambria Math" panose="02040503050406030204" pitchFamily="18" charset="0"/>
                            </a:rPr>
                            <m:t>𝐹𝑃</m:t>
                          </m:r>
                        </m:den>
                      </m:f>
                    </m:oMath>
                  </m:oMathPara>
                </a14:m>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b="1" dirty="0"/>
                  <a:t>Taux de fausses omissions </a:t>
                </a:r>
                <a:r>
                  <a:rPr lang="fr-FR" sz="2400" dirty="0"/>
                  <a:t>: proportion de faux négatifs parmi les éléments détectés comme négatifs</a:t>
                </a:r>
              </a:p>
              <a:p>
                <a:endParaRPr lang="fr-FR"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FR" sz="2400" b="0" i="1" smtClean="0">
                          <a:latin typeface="Cambria Math" panose="02040503050406030204" pitchFamily="18" charset="0"/>
                        </a:rPr>
                        <m:t>𝐹𝑎𝑢𝑠𝑠𝑒𝑠</m:t>
                      </m:r>
                      <m:r>
                        <a:rPr lang="fr-FR" sz="2400" b="0" i="1" smtClean="0">
                          <a:latin typeface="Cambria Math" panose="02040503050406030204" pitchFamily="18" charset="0"/>
                        </a:rPr>
                        <m:t> </m:t>
                      </m:r>
                      <m:r>
                        <a:rPr lang="fr-FR" sz="2400" b="0" i="1" smtClean="0">
                          <a:latin typeface="Cambria Math" panose="02040503050406030204" pitchFamily="18" charset="0"/>
                        </a:rPr>
                        <m:t>𝑂𝑚𝑖𝑠𝑠𝑖𝑜𝑛𝑠</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m:t>
                          </m:r>
                          <m:r>
                            <a:rPr lang="fr-FR" sz="2400" b="0" i="1" smtClean="0">
                              <a:latin typeface="Cambria Math" panose="02040503050406030204" pitchFamily="18" charset="0"/>
                            </a:rPr>
                            <m:t>𝐹𝑁</m:t>
                          </m:r>
                        </m:num>
                        <m:den>
                          <m:r>
                            <a:rPr lang="fr-FR" sz="2400" i="1">
                              <a:latin typeface="Cambria Math" panose="02040503050406030204" pitchFamily="18" charset="0"/>
                            </a:rPr>
                            <m:t>#</m:t>
                          </m:r>
                          <m:r>
                            <a:rPr lang="fr-FR" sz="2400" b="0" i="1" smtClean="0">
                              <a:latin typeface="Cambria Math" panose="02040503050406030204" pitchFamily="18" charset="0"/>
                            </a:rPr>
                            <m:t>𝑉𝑁</m:t>
                          </m:r>
                          <m:r>
                            <a:rPr lang="fr-FR" sz="2400" i="1">
                              <a:latin typeface="Cambria Math" panose="02040503050406030204" pitchFamily="18" charset="0"/>
                            </a:rPr>
                            <m:t>+#</m:t>
                          </m:r>
                          <m:r>
                            <a:rPr lang="fr-FR" sz="2400" i="1">
                              <a:latin typeface="Cambria Math" panose="02040503050406030204" pitchFamily="18" charset="0"/>
                            </a:rPr>
                            <m:t>𝐹𝑁</m:t>
                          </m:r>
                        </m:den>
                      </m:f>
                    </m:oMath>
                  </m:oMathPara>
                </a14:m>
                <a:endParaRPr lang="fr-FR" sz="2400" dirty="0"/>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4811958"/>
              </a:xfrm>
              <a:prstGeom prst="rect">
                <a:avLst/>
              </a:prstGeom>
              <a:blipFill>
                <a:blip r:embed="rId3"/>
                <a:stretch>
                  <a:fillRect l="-843" t="-1053" b="-263"/>
                </a:stretch>
              </a:blipFill>
            </p:spPr>
            <p:txBody>
              <a:bodyPr/>
              <a:lstStyle/>
              <a:p>
                <a:r>
                  <a:rPr lang="fr-FR">
                    <a:noFill/>
                  </a:rPr>
                  <a:t> </a:t>
                </a:r>
              </a:p>
            </p:txBody>
          </p:sp>
        </mc:Fallback>
      </mc:AlternateContent>
    </p:spTree>
    <p:extLst>
      <p:ext uri="{BB962C8B-B14F-4D97-AF65-F5344CB8AC3E}">
        <p14:creationId xmlns:p14="http://schemas.microsoft.com/office/powerpoint/2010/main" val="2597999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Matrice de confusion &amp; métriques</a:t>
            </a:r>
          </a:p>
        </p:txBody>
      </p:sp>
      <p:sp>
        <p:nvSpPr>
          <p:cNvPr id="4" name="Rectangle 3">
            <a:extLst>
              <a:ext uri="{FF2B5EF4-FFF2-40B4-BE49-F238E27FC236}">
                <a16:creationId xmlns:a16="http://schemas.microsoft.com/office/drawing/2014/main" id="{86723366-7209-BC45-87D9-001FC4A326D0}"/>
              </a:ext>
            </a:extLst>
          </p:cNvPr>
          <p:cNvSpPr>
            <a:spLocks noChangeAspect="1"/>
          </p:cNvSpPr>
          <p:nvPr/>
        </p:nvSpPr>
        <p:spPr>
          <a:xfrm>
            <a:off x="1842016" y="3174009"/>
            <a:ext cx="2094742" cy="1047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Vrais Négatifs</a:t>
            </a:r>
          </a:p>
        </p:txBody>
      </p:sp>
      <p:sp>
        <p:nvSpPr>
          <p:cNvPr id="5" name="Rectangle 4">
            <a:extLst>
              <a:ext uri="{FF2B5EF4-FFF2-40B4-BE49-F238E27FC236}">
                <a16:creationId xmlns:a16="http://schemas.microsoft.com/office/drawing/2014/main" id="{8C672BF8-F964-DD4F-976A-B6BBD15E24D5}"/>
              </a:ext>
            </a:extLst>
          </p:cNvPr>
          <p:cNvSpPr>
            <a:spLocks noChangeAspect="1"/>
          </p:cNvSpPr>
          <p:nvPr/>
        </p:nvSpPr>
        <p:spPr>
          <a:xfrm>
            <a:off x="3941851" y="3174009"/>
            <a:ext cx="2094742" cy="104737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Faux Positifs</a:t>
            </a:r>
          </a:p>
        </p:txBody>
      </p:sp>
      <p:sp>
        <p:nvSpPr>
          <p:cNvPr id="6" name="Rectangle 5">
            <a:extLst>
              <a:ext uri="{FF2B5EF4-FFF2-40B4-BE49-F238E27FC236}">
                <a16:creationId xmlns:a16="http://schemas.microsoft.com/office/drawing/2014/main" id="{41B6A7E9-EA96-D148-A9EE-F7E968472F12}"/>
              </a:ext>
            </a:extLst>
          </p:cNvPr>
          <p:cNvSpPr>
            <a:spLocks noChangeAspect="1"/>
          </p:cNvSpPr>
          <p:nvPr/>
        </p:nvSpPr>
        <p:spPr>
          <a:xfrm>
            <a:off x="1842016" y="4221380"/>
            <a:ext cx="2094742" cy="104737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Faux Négatifs</a:t>
            </a:r>
          </a:p>
        </p:txBody>
      </p:sp>
      <p:sp>
        <p:nvSpPr>
          <p:cNvPr id="7" name="Rectangle 6">
            <a:extLst>
              <a:ext uri="{FF2B5EF4-FFF2-40B4-BE49-F238E27FC236}">
                <a16:creationId xmlns:a16="http://schemas.microsoft.com/office/drawing/2014/main" id="{6C23114F-DD13-7247-BF48-0E6B87F5E767}"/>
              </a:ext>
            </a:extLst>
          </p:cNvPr>
          <p:cNvSpPr>
            <a:spLocks noChangeAspect="1"/>
          </p:cNvSpPr>
          <p:nvPr/>
        </p:nvSpPr>
        <p:spPr>
          <a:xfrm>
            <a:off x="3941851" y="4221380"/>
            <a:ext cx="2094742" cy="1047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Vrais Positifs</a:t>
            </a:r>
          </a:p>
        </p:txBody>
      </p:sp>
      <p:sp>
        <p:nvSpPr>
          <p:cNvPr id="8" name="Rectangle 7">
            <a:extLst>
              <a:ext uri="{FF2B5EF4-FFF2-40B4-BE49-F238E27FC236}">
                <a16:creationId xmlns:a16="http://schemas.microsoft.com/office/drawing/2014/main" id="{38650C2E-6AD1-1847-9B86-5A6138FDAD05}"/>
              </a:ext>
            </a:extLst>
          </p:cNvPr>
          <p:cNvSpPr>
            <a:spLocks noChangeAspect="1"/>
          </p:cNvSpPr>
          <p:nvPr/>
        </p:nvSpPr>
        <p:spPr>
          <a:xfrm>
            <a:off x="1847109" y="2781245"/>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Négatif</a:t>
            </a:r>
          </a:p>
        </p:txBody>
      </p:sp>
      <p:sp>
        <p:nvSpPr>
          <p:cNvPr id="9" name="Rectangle 8">
            <a:extLst>
              <a:ext uri="{FF2B5EF4-FFF2-40B4-BE49-F238E27FC236}">
                <a16:creationId xmlns:a16="http://schemas.microsoft.com/office/drawing/2014/main" id="{AC0BD4E9-331C-644E-88C7-2F182973EC3D}"/>
              </a:ext>
            </a:extLst>
          </p:cNvPr>
          <p:cNvSpPr>
            <a:spLocks noChangeAspect="1"/>
          </p:cNvSpPr>
          <p:nvPr/>
        </p:nvSpPr>
        <p:spPr>
          <a:xfrm>
            <a:off x="3941851" y="2781245"/>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Positif</a:t>
            </a:r>
          </a:p>
        </p:txBody>
      </p:sp>
      <p:sp>
        <p:nvSpPr>
          <p:cNvPr id="10" name="Rectangle 9">
            <a:extLst>
              <a:ext uri="{FF2B5EF4-FFF2-40B4-BE49-F238E27FC236}">
                <a16:creationId xmlns:a16="http://schemas.microsoft.com/office/drawing/2014/main" id="{F02A575F-727B-5140-82CC-E943DA4D6207}"/>
              </a:ext>
            </a:extLst>
          </p:cNvPr>
          <p:cNvSpPr>
            <a:spLocks noChangeAspect="1"/>
          </p:cNvSpPr>
          <p:nvPr/>
        </p:nvSpPr>
        <p:spPr>
          <a:xfrm rot="16200000">
            <a:off x="1116856" y="4548682"/>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Positif</a:t>
            </a:r>
          </a:p>
        </p:txBody>
      </p:sp>
      <p:sp>
        <p:nvSpPr>
          <p:cNvPr id="11" name="Rectangle 10">
            <a:extLst>
              <a:ext uri="{FF2B5EF4-FFF2-40B4-BE49-F238E27FC236}">
                <a16:creationId xmlns:a16="http://schemas.microsoft.com/office/drawing/2014/main" id="{9A579D9C-26DE-D742-B7E2-4B1A9A8D7520}"/>
              </a:ext>
            </a:extLst>
          </p:cNvPr>
          <p:cNvSpPr>
            <a:spLocks noChangeAspect="1"/>
          </p:cNvSpPr>
          <p:nvPr/>
        </p:nvSpPr>
        <p:spPr>
          <a:xfrm rot="16200000">
            <a:off x="1116856" y="3501311"/>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Négatif</a:t>
            </a:r>
          </a:p>
        </p:txBody>
      </p:sp>
      <p:sp>
        <p:nvSpPr>
          <p:cNvPr id="12" name="Rectangle 11">
            <a:extLst>
              <a:ext uri="{FF2B5EF4-FFF2-40B4-BE49-F238E27FC236}">
                <a16:creationId xmlns:a16="http://schemas.microsoft.com/office/drawing/2014/main" id="{B7F17087-651A-2849-989F-E757E632C498}"/>
              </a:ext>
            </a:extLst>
          </p:cNvPr>
          <p:cNvSpPr>
            <a:spLocks noChangeAspect="1"/>
          </p:cNvSpPr>
          <p:nvPr/>
        </p:nvSpPr>
        <p:spPr>
          <a:xfrm>
            <a:off x="1847109" y="2379907"/>
            <a:ext cx="4189485"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Prédictions</a:t>
            </a:r>
          </a:p>
        </p:txBody>
      </p:sp>
      <p:sp>
        <p:nvSpPr>
          <p:cNvPr id="13" name="Rectangle 12">
            <a:extLst>
              <a:ext uri="{FF2B5EF4-FFF2-40B4-BE49-F238E27FC236}">
                <a16:creationId xmlns:a16="http://schemas.microsoft.com/office/drawing/2014/main" id="{42F52BE2-8046-434D-9D97-7A076044036D}"/>
              </a:ext>
            </a:extLst>
          </p:cNvPr>
          <p:cNvSpPr>
            <a:spLocks noChangeAspect="1"/>
          </p:cNvSpPr>
          <p:nvPr/>
        </p:nvSpPr>
        <p:spPr>
          <a:xfrm rot="16200000">
            <a:off x="190221" y="4024996"/>
            <a:ext cx="2094742"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Réalité</a:t>
            </a:r>
          </a:p>
        </p:txBody>
      </p:sp>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FF7CC137-CB3D-D448-BA6A-4F386A5E4B4B}"/>
                  </a:ext>
                </a:extLst>
              </p:cNvPr>
              <p:cNvSpPr txBox="1"/>
              <p:nvPr/>
            </p:nvSpPr>
            <p:spPr>
              <a:xfrm>
                <a:off x="6036593" y="3337441"/>
                <a:ext cx="2666172" cy="6156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𝑇𝐹𝑃</m:t>
                      </m:r>
                      <m:r>
                        <a:rPr lang="fr-FR" sz="1800" i="1" smtClean="0">
                          <a:latin typeface="Cambria Math" panose="02040503050406030204" pitchFamily="18" charset="0"/>
                        </a:rPr>
                        <m:t>=</m:t>
                      </m:r>
                      <m:f>
                        <m:fPr>
                          <m:ctrlPr>
                            <a:rPr lang="fr-FR" sz="1800" i="1">
                              <a:latin typeface="Cambria Math" panose="02040503050406030204" pitchFamily="18" charset="0"/>
                            </a:rPr>
                          </m:ctrlPr>
                        </m:fPr>
                        <m:num>
                          <m:r>
                            <a:rPr lang="fr-FR" sz="1800" i="1">
                              <a:latin typeface="Cambria Math" panose="02040503050406030204" pitchFamily="18" charset="0"/>
                            </a:rPr>
                            <m:t>#</m:t>
                          </m:r>
                          <m:r>
                            <a:rPr lang="fr-FR" sz="1800" i="1">
                              <a:latin typeface="Cambria Math" panose="02040503050406030204" pitchFamily="18" charset="0"/>
                            </a:rPr>
                            <m:t>𝐹𝑃</m:t>
                          </m:r>
                        </m:num>
                        <m:den>
                          <m:r>
                            <a:rPr lang="fr-FR" sz="1800" i="1">
                              <a:latin typeface="Cambria Math" panose="02040503050406030204" pitchFamily="18" charset="0"/>
                            </a:rPr>
                            <m:t>#</m:t>
                          </m:r>
                          <m:r>
                            <a:rPr lang="fr-FR" sz="1800" b="0" i="1" smtClean="0">
                              <a:latin typeface="Cambria Math" panose="02040503050406030204" pitchFamily="18" charset="0"/>
                            </a:rPr>
                            <m:t>𝑉𝑁</m:t>
                          </m:r>
                          <m:r>
                            <a:rPr lang="fr-FR" sz="1800" i="1">
                              <a:latin typeface="Cambria Math" panose="02040503050406030204" pitchFamily="18" charset="0"/>
                            </a:rPr>
                            <m:t>+#</m:t>
                          </m:r>
                          <m:r>
                            <a:rPr lang="fr-FR" sz="1800" b="0" i="1" smtClean="0">
                              <a:latin typeface="Cambria Math" panose="02040503050406030204" pitchFamily="18" charset="0"/>
                            </a:rPr>
                            <m:t>𝐹𝑃</m:t>
                          </m:r>
                        </m:den>
                      </m:f>
                    </m:oMath>
                  </m:oMathPara>
                </a14:m>
                <a:endParaRPr lang="fr-FR" dirty="0"/>
              </a:p>
            </p:txBody>
          </p:sp>
        </mc:Choice>
        <mc:Fallback xmlns="">
          <p:sp>
            <p:nvSpPr>
              <p:cNvPr id="17" name="ZoneTexte 16">
                <a:extLst>
                  <a:ext uri="{FF2B5EF4-FFF2-40B4-BE49-F238E27FC236}">
                    <a16:creationId xmlns:a16="http://schemas.microsoft.com/office/drawing/2014/main" id="{FF7CC137-CB3D-D448-BA6A-4F386A5E4B4B}"/>
                  </a:ext>
                </a:extLst>
              </p:cNvPr>
              <p:cNvSpPr txBox="1">
                <a:spLocks noRot="1" noChangeAspect="1" noMove="1" noResize="1" noEditPoints="1" noAdjustHandles="1" noChangeArrowheads="1" noChangeShapeType="1" noTextEdit="1"/>
              </p:cNvSpPr>
              <p:nvPr/>
            </p:nvSpPr>
            <p:spPr>
              <a:xfrm>
                <a:off x="6036593" y="3337441"/>
                <a:ext cx="2666172" cy="615618"/>
              </a:xfrm>
              <a:prstGeom prst="rect">
                <a:avLst/>
              </a:prstGeom>
              <a:blipFill>
                <a:blip r:embed="rId3"/>
                <a:stretch>
                  <a:fillRect b="-2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33596FB4-C554-2048-959B-95E6CB270E6A}"/>
                  </a:ext>
                </a:extLst>
              </p:cNvPr>
              <p:cNvSpPr txBox="1"/>
              <p:nvPr/>
            </p:nvSpPr>
            <p:spPr>
              <a:xfrm>
                <a:off x="6035165" y="4384812"/>
                <a:ext cx="2667600" cy="6156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𝑇𝐹𝑁</m:t>
                      </m:r>
                      <m:r>
                        <a:rPr lang="fr-FR" sz="1800" i="1" smtClean="0">
                          <a:latin typeface="Cambria Math" panose="02040503050406030204" pitchFamily="18" charset="0"/>
                        </a:rPr>
                        <m:t>=</m:t>
                      </m:r>
                      <m:f>
                        <m:fPr>
                          <m:ctrlPr>
                            <a:rPr lang="fr-FR" sz="1800" i="1">
                              <a:latin typeface="Cambria Math" panose="02040503050406030204" pitchFamily="18" charset="0"/>
                            </a:rPr>
                          </m:ctrlPr>
                        </m:fPr>
                        <m:num>
                          <m:r>
                            <a:rPr lang="fr-FR" sz="1800" i="1">
                              <a:latin typeface="Cambria Math" panose="02040503050406030204" pitchFamily="18" charset="0"/>
                            </a:rPr>
                            <m:t>#</m:t>
                          </m:r>
                          <m:r>
                            <a:rPr lang="fr-FR" sz="1800" i="1">
                              <a:latin typeface="Cambria Math" panose="02040503050406030204" pitchFamily="18" charset="0"/>
                            </a:rPr>
                            <m:t>𝐹𝑁</m:t>
                          </m:r>
                        </m:num>
                        <m:den>
                          <m:r>
                            <a:rPr lang="fr-FR" sz="1800" i="1">
                              <a:latin typeface="Cambria Math" panose="02040503050406030204" pitchFamily="18" charset="0"/>
                            </a:rPr>
                            <m:t>#</m:t>
                          </m:r>
                          <m:r>
                            <a:rPr lang="fr-FR" sz="1800" b="0" i="1" smtClean="0">
                              <a:latin typeface="Cambria Math" panose="02040503050406030204" pitchFamily="18" charset="0"/>
                            </a:rPr>
                            <m:t>𝑉𝑃</m:t>
                          </m:r>
                          <m:r>
                            <a:rPr lang="fr-FR" sz="1800" i="1">
                              <a:latin typeface="Cambria Math" panose="02040503050406030204" pitchFamily="18" charset="0"/>
                            </a:rPr>
                            <m:t>+#</m:t>
                          </m:r>
                          <m:r>
                            <a:rPr lang="fr-FR" sz="1800" b="0" i="1" smtClean="0">
                              <a:latin typeface="Cambria Math" panose="02040503050406030204" pitchFamily="18" charset="0"/>
                            </a:rPr>
                            <m:t>𝐹𝑁</m:t>
                          </m:r>
                        </m:den>
                      </m:f>
                    </m:oMath>
                  </m:oMathPara>
                </a14:m>
                <a:endParaRPr lang="fr-FR" dirty="0"/>
              </a:p>
            </p:txBody>
          </p:sp>
        </mc:Choice>
        <mc:Fallback xmlns="">
          <p:sp>
            <p:nvSpPr>
              <p:cNvPr id="19" name="ZoneTexte 18">
                <a:extLst>
                  <a:ext uri="{FF2B5EF4-FFF2-40B4-BE49-F238E27FC236}">
                    <a16:creationId xmlns:a16="http://schemas.microsoft.com/office/drawing/2014/main" id="{33596FB4-C554-2048-959B-95E6CB270E6A}"/>
                  </a:ext>
                </a:extLst>
              </p:cNvPr>
              <p:cNvSpPr txBox="1">
                <a:spLocks noRot="1" noChangeAspect="1" noMove="1" noResize="1" noEditPoints="1" noAdjustHandles="1" noChangeArrowheads="1" noChangeShapeType="1" noTextEdit="1"/>
              </p:cNvSpPr>
              <p:nvPr/>
            </p:nvSpPr>
            <p:spPr>
              <a:xfrm>
                <a:off x="6035165" y="4384812"/>
                <a:ext cx="2667600" cy="615618"/>
              </a:xfrm>
              <a:prstGeom prst="rect">
                <a:avLst/>
              </a:prstGeom>
              <a:blipFill>
                <a:blip r:embed="rId4"/>
                <a:stretch>
                  <a:fillRect b="-408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33AF3605-6D72-9743-999A-30A8AED189D2}"/>
                  </a:ext>
                </a:extLst>
              </p:cNvPr>
              <p:cNvSpPr txBox="1"/>
              <p:nvPr/>
            </p:nvSpPr>
            <p:spPr>
              <a:xfrm>
                <a:off x="8702765" y="4384812"/>
                <a:ext cx="2667600" cy="6156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m:t>
                      </m:r>
                      <m:r>
                        <a:rPr lang="fr-FR" sz="1800" b="0" i="1" smtClean="0">
                          <a:latin typeface="Cambria Math" panose="02040503050406030204" pitchFamily="18" charset="0"/>
                        </a:rPr>
                        <m:t>𝑉</m:t>
                      </m:r>
                      <m:r>
                        <a:rPr lang="fr-FR" sz="1800" i="1">
                          <a:latin typeface="Cambria Math" panose="02040503050406030204" pitchFamily="18" charset="0"/>
                        </a:rPr>
                        <m:t>𝑃</m:t>
                      </m:r>
                      <m:r>
                        <a:rPr lang="fr-FR" sz="1800" i="1">
                          <a:latin typeface="Cambria Math" panose="02040503050406030204" pitchFamily="18" charset="0"/>
                        </a:rPr>
                        <m:t>=</m:t>
                      </m:r>
                      <m:f>
                        <m:fPr>
                          <m:ctrlPr>
                            <a:rPr lang="fr-FR" sz="1800" i="1">
                              <a:latin typeface="Cambria Math" panose="02040503050406030204" pitchFamily="18" charset="0"/>
                            </a:rPr>
                          </m:ctrlPr>
                        </m:fPr>
                        <m:num>
                          <m:r>
                            <a:rPr lang="fr-FR" sz="1800" i="1">
                              <a:latin typeface="Cambria Math" panose="02040503050406030204" pitchFamily="18" charset="0"/>
                            </a:rPr>
                            <m:t>#</m:t>
                          </m:r>
                          <m:r>
                            <a:rPr lang="fr-FR" sz="1800" b="0" i="1" smtClean="0">
                              <a:latin typeface="Cambria Math" panose="02040503050406030204" pitchFamily="18" charset="0"/>
                            </a:rPr>
                            <m:t>𝑉</m:t>
                          </m:r>
                          <m:r>
                            <a:rPr lang="fr-FR" sz="1800" i="1">
                              <a:latin typeface="Cambria Math" panose="02040503050406030204" pitchFamily="18" charset="0"/>
                            </a:rPr>
                            <m:t>𝑃</m:t>
                          </m:r>
                        </m:num>
                        <m:den>
                          <m:r>
                            <a:rPr lang="fr-FR" sz="1800" i="1">
                              <a:latin typeface="Cambria Math" panose="02040503050406030204" pitchFamily="18" charset="0"/>
                            </a:rPr>
                            <m:t>#</m:t>
                          </m:r>
                          <m:r>
                            <a:rPr lang="fr-FR" sz="1800" b="0" i="1" smtClean="0">
                              <a:latin typeface="Cambria Math" panose="02040503050406030204" pitchFamily="18" charset="0"/>
                            </a:rPr>
                            <m:t>𝑉</m:t>
                          </m:r>
                          <m:r>
                            <a:rPr lang="fr-FR" sz="1800" i="1">
                              <a:latin typeface="Cambria Math" panose="02040503050406030204" pitchFamily="18" charset="0"/>
                            </a:rPr>
                            <m:t>𝑃</m:t>
                          </m:r>
                          <m:r>
                            <a:rPr lang="fr-FR" sz="1800" i="1">
                              <a:latin typeface="Cambria Math" panose="02040503050406030204" pitchFamily="18" charset="0"/>
                            </a:rPr>
                            <m:t>+#</m:t>
                          </m:r>
                          <m:r>
                            <a:rPr lang="fr-FR" sz="1800" b="0" i="1" smtClean="0">
                              <a:latin typeface="Cambria Math" panose="02040503050406030204" pitchFamily="18" charset="0"/>
                            </a:rPr>
                            <m:t>𝐹</m:t>
                          </m:r>
                          <m:r>
                            <a:rPr lang="fr-FR" sz="1800" i="1">
                              <a:latin typeface="Cambria Math" panose="02040503050406030204" pitchFamily="18" charset="0"/>
                            </a:rPr>
                            <m:t>𝑁</m:t>
                          </m:r>
                        </m:den>
                      </m:f>
                    </m:oMath>
                  </m:oMathPara>
                </a14:m>
                <a:endParaRPr lang="fr-FR" dirty="0"/>
              </a:p>
            </p:txBody>
          </p:sp>
        </mc:Choice>
        <mc:Fallback xmlns="">
          <p:sp>
            <p:nvSpPr>
              <p:cNvPr id="21" name="ZoneTexte 20">
                <a:extLst>
                  <a:ext uri="{FF2B5EF4-FFF2-40B4-BE49-F238E27FC236}">
                    <a16:creationId xmlns:a16="http://schemas.microsoft.com/office/drawing/2014/main" id="{33AF3605-6D72-9743-999A-30A8AED189D2}"/>
                  </a:ext>
                </a:extLst>
              </p:cNvPr>
              <p:cNvSpPr txBox="1">
                <a:spLocks noRot="1" noChangeAspect="1" noMove="1" noResize="1" noEditPoints="1" noAdjustHandles="1" noChangeArrowheads="1" noChangeShapeType="1" noTextEdit="1"/>
              </p:cNvSpPr>
              <p:nvPr/>
            </p:nvSpPr>
            <p:spPr>
              <a:xfrm>
                <a:off x="8702765" y="4384812"/>
                <a:ext cx="2667600" cy="615618"/>
              </a:xfrm>
              <a:prstGeom prst="rect">
                <a:avLst/>
              </a:prstGeom>
              <a:blipFill>
                <a:blip r:embed="rId5"/>
                <a:stretch>
                  <a:fillRect b="-408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01373BDE-A907-7744-932A-CEC0BFA7DCFB}"/>
                  </a:ext>
                </a:extLst>
              </p:cNvPr>
              <p:cNvSpPr txBox="1"/>
              <p:nvPr/>
            </p:nvSpPr>
            <p:spPr>
              <a:xfrm>
                <a:off x="8702765" y="3389884"/>
                <a:ext cx="2667600" cy="6156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𝑇𝑉𝑁</m:t>
                      </m:r>
                      <m:r>
                        <a:rPr lang="fr-FR" sz="1800" i="1" smtClean="0">
                          <a:latin typeface="Cambria Math" panose="02040503050406030204" pitchFamily="18" charset="0"/>
                        </a:rPr>
                        <m:t>=</m:t>
                      </m:r>
                      <m:f>
                        <m:fPr>
                          <m:ctrlPr>
                            <a:rPr lang="fr-FR" sz="1800" i="1">
                              <a:latin typeface="Cambria Math" panose="02040503050406030204" pitchFamily="18" charset="0"/>
                            </a:rPr>
                          </m:ctrlPr>
                        </m:fPr>
                        <m:num>
                          <m:r>
                            <a:rPr lang="fr-FR" sz="1800" i="1">
                              <a:latin typeface="Cambria Math" panose="02040503050406030204" pitchFamily="18" charset="0"/>
                            </a:rPr>
                            <m:t>#</m:t>
                          </m:r>
                          <m:r>
                            <a:rPr lang="fr-FR" sz="1800" i="1">
                              <a:latin typeface="Cambria Math" panose="02040503050406030204" pitchFamily="18" charset="0"/>
                            </a:rPr>
                            <m:t>𝑉𝑁</m:t>
                          </m:r>
                        </m:num>
                        <m:den>
                          <m:r>
                            <a:rPr lang="fr-FR" sz="1800" i="1">
                              <a:latin typeface="Cambria Math" panose="02040503050406030204" pitchFamily="18" charset="0"/>
                            </a:rPr>
                            <m:t>#</m:t>
                          </m:r>
                          <m:r>
                            <a:rPr lang="fr-FR" sz="1800" i="1">
                              <a:latin typeface="Cambria Math" panose="02040503050406030204" pitchFamily="18" charset="0"/>
                            </a:rPr>
                            <m:t>𝑉𝑁</m:t>
                          </m:r>
                          <m:r>
                            <a:rPr lang="fr-FR" sz="1800" i="1">
                              <a:latin typeface="Cambria Math" panose="02040503050406030204" pitchFamily="18" charset="0"/>
                            </a:rPr>
                            <m:t>+#</m:t>
                          </m:r>
                          <m:r>
                            <a:rPr lang="fr-FR" sz="1800" i="1">
                              <a:latin typeface="Cambria Math" panose="02040503050406030204" pitchFamily="18" charset="0"/>
                            </a:rPr>
                            <m:t>𝐹𝑃</m:t>
                          </m:r>
                        </m:den>
                      </m:f>
                    </m:oMath>
                  </m:oMathPara>
                </a14:m>
                <a:endParaRPr lang="fr-FR" dirty="0"/>
              </a:p>
            </p:txBody>
          </p:sp>
        </mc:Choice>
        <mc:Fallback xmlns="">
          <p:sp>
            <p:nvSpPr>
              <p:cNvPr id="23" name="ZoneTexte 22">
                <a:extLst>
                  <a:ext uri="{FF2B5EF4-FFF2-40B4-BE49-F238E27FC236}">
                    <a16:creationId xmlns:a16="http://schemas.microsoft.com/office/drawing/2014/main" id="{01373BDE-A907-7744-932A-CEC0BFA7DCFB}"/>
                  </a:ext>
                </a:extLst>
              </p:cNvPr>
              <p:cNvSpPr txBox="1">
                <a:spLocks noRot="1" noChangeAspect="1" noMove="1" noResize="1" noEditPoints="1" noAdjustHandles="1" noChangeArrowheads="1" noChangeShapeType="1" noTextEdit="1"/>
              </p:cNvSpPr>
              <p:nvPr/>
            </p:nvSpPr>
            <p:spPr>
              <a:xfrm>
                <a:off x="8702765" y="3389884"/>
                <a:ext cx="2667600" cy="615618"/>
              </a:xfrm>
              <a:prstGeom prst="rect">
                <a:avLst/>
              </a:prstGeom>
              <a:blipFill>
                <a:blip r:embed="rId6"/>
                <a:stretch>
                  <a:fillRect b="-2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8251544-889E-DC45-AE1F-1050F9C149E2}"/>
                  </a:ext>
                </a:extLst>
              </p:cNvPr>
              <p:cNvSpPr txBox="1"/>
              <p:nvPr/>
            </p:nvSpPr>
            <p:spPr>
              <a:xfrm>
                <a:off x="3655422" y="5557709"/>
                <a:ext cx="2667600" cy="8926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𝑃𝑟</m:t>
                      </m:r>
                      <m:r>
                        <a:rPr lang="fr-FR" sz="1800" i="1" smtClean="0">
                          <a:latin typeface="Cambria Math" panose="02040503050406030204" pitchFamily="18" charset="0"/>
                        </a:rPr>
                        <m:t>é</m:t>
                      </m:r>
                      <m:r>
                        <a:rPr lang="fr-FR" sz="1800" i="1" smtClean="0">
                          <a:latin typeface="Cambria Math" panose="02040503050406030204" pitchFamily="18" charset="0"/>
                        </a:rPr>
                        <m:t>𝑐𝑖𝑠𝑖𝑜𝑛</m:t>
                      </m:r>
                    </m:oMath>
                  </m:oMathPara>
                </a14:m>
                <a:endParaRPr lang="fr-FR" sz="1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fr-FR" sz="1800" i="1">
                              <a:latin typeface="Cambria Math" panose="02040503050406030204" pitchFamily="18" charset="0"/>
                            </a:rPr>
                          </m:ctrlPr>
                        </m:fPr>
                        <m:num>
                          <m:r>
                            <a:rPr lang="fr-FR" sz="1800" i="1">
                              <a:latin typeface="Cambria Math" panose="02040503050406030204" pitchFamily="18" charset="0"/>
                            </a:rPr>
                            <m:t>#</m:t>
                          </m:r>
                          <m:r>
                            <a:rPr lang="fr-FR" sz="1800" i="1">
                              <a:latin typeface="Cambria Math" panose="02040503050406030204" pitchFamily="18" charset="0"/>
                            </a:rPr>
                            <m:t>𝑉𝑃</m:t>
                          </m:r>
                        </m:num>
                        <m:den>
                          <m:r>
                            <a:rPr lang="fr-FR" sz="1800" i="1">
                              <a:latin typeface="Cambria Math" panose="02040503050406030204" pitchFamily="18" charset="0"/>
                            </a:rPr>
                            <m:t>#</m:t>
                          </m:r>
                          <m:r>
                            <a:rPr lang="fr-FR" sz="1800" i="1">
                              <a:latin typeface="Cambria Math" panose="02040503050406030204" pitchFamily="18" charset="0"/>
                            </a:rPr>
                            <m:t>𝑉𝑃</m:t>
                          </m:r>
                          <m:r>
                            <a:rPr lang="fr-FR" sz="1800" i="1">
                              <a:latin typeface="Cambria Math" panose="02040503050406030204" pitchFamily="18" charset="0"/>
                            </a:rPr>
                            <m:t>+#</m:t>
                          </m:r>
                          <m:r>
                            <a:rPr lang="fr-FR" sz="1800" i="1">
                              <a:latin typeface="Cambria Math" panose="02040503050406030204" pitchFamily="18" charset="0"/>
                            </a:rPr>
                            <m:t>𝐹𝑃</m:t>
                          </m:r>
                        </m:den>
                      </m:f>
                    </m:oMath>
                  </m:oMathPara>
                </a14:m>
                <a:endParaRPr lang="fr-FR" dirty="0"/>
              </a:p>
            </p:txBody>
          </p:sp>
        </mc:Choice>
        <mc:Fallback xmlns="">
          <p:sp>
            <p:nvSpPr>
              <p:cNvPr id="25" name="ZoneTexte 24">
                <a:extLst>
                  <a:ext uri="{FF2B5EF4-FFF2-40B4-BE49-F238E27FC236}">
                    <a16:creationId xmlns:a16="http://schemas.microsoft.com/office/drawing/2014/main" id="{98251544-889E-DC45-AE1F-1050F9C149E2}"/>
                  </a:ext>
                </a:extLst>
              </p:cNvPr>
              <p:cNvSpPr txBox="1">
                <a:spLocks noRot="1" noChangeAspect="1" noMove="1" noResize="1" noEditPoints="1" noAdjustHandles="1" noChangeArrowheads="1" noChangeShapeType="1" noTextEdit="1"/>
              </p:cNvSpPr>
              <p:nvPr/>
            </p:nvSpPr>
            <p:spPr>
              <a:xfrm>
                <a:off x="3655422" y="5557709"/>
                <a:ext cx="2667600" cy="892617"/>
              </a:xfrm>
              <a:prstGeom prst="rect">
                <a:avLst/>
              </a:prstGeom>
              <a:blipFill>
                <a:blip r:embed="rId7"/>
                <a:stretch>
                  <a:fillRect b="-281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6E837925-1E8B-C14D-8501-B619B023B6A7}"/>
                  </a:ext>
                </a:extLst>
              </p:cNvPr>
              <p:cNvSpPr txBox="1"/>
              <p:nvPr/>
            </p:nvSpPr>
            <p:spPr>
              <a:xfrm>
                <a:off x="1555587" y="5557708"/>
                <a:ext cx="2667600" cy="8926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b="0" i="1" smtClean="0">
                          <a:latin typeface="Cambria Math" panose="02040503050406030204" pitchFamily="18" charset="0"/>
                        </a:rPr>
                        <m:t>𝐹𝑎𝑢𝑠𝑠𝑒𝑠</m:t>
                      </m:r>
                      <m:r>
                        <a:rPr lang="fr-FR" sz="1800" b="0" i="1" smtClean="0">
                          <a:latin typeface="Cambria Math" panose="02040503050406030204" pitchFamily="18" charset="0"/>
                        </a:rPr>
                        <m:t> </m:t>
                      </m:r>
                      <m:r>
                        <a:rPr lang="fr-FR" sz="1800" b="0" i="1" smtClean="0">
                          <a:latin typeface="Cambria Math" panose="02040503050406030204" pitchFamily="18" charset="0"/>
                        </a:rPr>
                        <m:t>𝑂𝑚𝑖𝑠𝑠𝑖𝑜𝑛𝑠</m:t>
                      </m:r>
                    </m:oMath>
                  </m:oMathPara>
                </a14:m>
                <a:endParaRPr lang="fr-FR" sz="18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fr-FR" sz="1800" i="1">
                              <a:latin typeface="Cambria Math" panose="02040503050406030204" pitchFamily="18" charset="0"/>
                            </a:rPr>
                          </m:ctrlPr>
                        </m:fPr>
                        <m:num>
                          <m:r>
                            <a:rPr lang="fr-FR" sz="1800" i="1">
                              <a:latin typeface="Cambria Math" panose="02040503050406030204" pitchFamily="18" charset="0"/>
                            </a:rPr>
                            <m:t>#</m:t>
                          </m:r>
                          <m:r>
                            <a:rPr lang="fr-FR" sz="1800" b="0" i="1" smtClean="0">
                              <a:latin typeface="Cambria Math" panose="02040503050406030204" pitchFamily="18" charset="0"/>
                            </a:rPr>
                            <m:t>𝐹𝑁</m:t>
                          </m:r>
                        </m:num>
                        <m:den>
                          <m:r>
                            <a:rPr lang="fr-FR" sz="1800" i="1">
                              <a:latin typeface="Cambria Math" panose="02040503050406030204" pitchFamily="18" charset="0"/>
                            </a:rPr>
                            <m:t>#</m:t>
                          </m:r>
                          <m:r>
                            <a:rPr lang="fr-FR" sz="1800" i="1">
                              <a:latin typeface="Cambria Math" panose="02040503050406030204" pitchFamily="18" charset="0"/>
                            </a:rPr>
                            <m:t>𝑉𝑁</m:t>
                          </m:r>
                          <m:r>
                            <a:rPr lang="fr-FR" sz="1800" i="1">
                              <a:latin typeface="Cambria Math" panose="02040503050406030204" pitchFamily="18" charset="0"/>
                            </a:rPr>
                            <m:t>+#</m:t>
                          </m:r>
                          <m:r>
                            <a:rPr lang="fr-FR" sz="1800" i="1">
                              <a:latin typeface="Cambria Math" panose="02040503050406030204" pitchFamily="18" charset="0"/>
                            </a:rPr>
                            <m:t>𝐹𝑁</m:t>
                          </m:r>
                        </m:den>
                      </m:f>
                    </m:oMath>
                  </m:oMathPara>
                </a14:m>
                <a:endParaRPr lang="fr-FR" sz="1800" dirty="0"/>
              </a:p>
            </p:txBody>
          </p:sp>
        </mc:Choice>
        <mc:Fallback xmlns="">
          <p:sp>
            <p:nvSpPr>
              <p:cNvPr id="27" name="ZoneTexte 26">
                <a:extLst>
                  <a:ext uri="{FF2B5EF4-FFF2-40B4-BE49-F238E27FC236}">
                    <a16:creationId xmlns:a16="http://schemas.microsoft.com/office/drawing/2014/main" id="{6E837925-1E8B-C14D-8501-B619B023B6A7}"/>
                  </a:ext>
                </a:extLst>
              </p:cNvPr>
              <p:cNvSpPr txBox="1">
                <a:spLocks noRot="1" noChangeAspect="1" noMove="1" noResize="1" noEditPoints="1" noAdjustHandles="1" noChangeArrowheads="1" noChangeShapeType="1" noTextEdit="1"/>
              </p:cNvSpPr>
              <p:nvPr/>
            </p:nvSpPr>
            <p:spPr>
              <a:xfrm>
                <a:off x="1555587" y="5557708"/>
                <a:ext cx="2667600" cy="892617"/>
              </a:xfrm>
              <a:prstGeom prst="rect">
                <a:avLst/>
              </a:prstGeom>
              <a:blipFill>
                <a:blip r:embed="rId8"/>
                <a:stretch>
                  <a:fillRect b="-2817"/>
                </a:stretch>
              </a:blipFill>
            </p:spPr>
            <p:txBody>
              <a:bodyPr/>
              <a:lstStyle/>
              <a:p>
                <a:r>
                  <a:rPr lang="fr-FR">
                    <a:noFill/>
                  </a:rPr>
                  <a:t> </a:t>
                </a:r>
              </a:p>
            </p:txBody>
          </p:sp>
        </mc:Fallback>
      </mc:AlternateContent>
    </p:spTree>
    <p:extLst>
      <p:ext uri="{BB962C8B-B14F-4D97-AF65-F5344CB8AC3E}">
        <p14:creationId xmlns:p14="http://schemas.microsoft.com/office/powerpoint/2010/main" val="3766843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Matrice de confusion &amp; métriques : exemple du diagnostic d’une maladie</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E6391C4-FF0E-3740-BE45-2AEE0F484ABA}"/>
                  </a:ext>
                </a:extLst>
              </p:cNvPr>
              <p:cNvSpPr>
                <a:spLocks noChangeAspect="1"/>
              </p:cNvSpPr>
              <p:nvPr/>
            </p:nvSpPr>
            <p:spPr>
              <a:xfrm>
                <a:off x="1842016" y="3174009"/>
                <a:ext cx="2094742" cy="1047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000" i="1" dirty="0" smtClean="0">
                          <a:solidFill>
                            <a:schemeClr val="tx1"/>
                          </a:solidFill>
                          <a:latin typeface="Cambria Math" panose="02040503050406030204" pitchFamily="18" charset="0"/>
                        </a:rPr>
                        <m:t>118</m:t>
                      </m:r>
                    </m:oMath>
                  </m:oMathPara>
                </a14:m>
                <a:endParaRPr lang="fr-FR" sz="2000" dirty="0">
                  <a:solidFill>
                    <a:schemeClr val="tx1"/>
                  </a:solidFill>
                </a:endParaRPr>
              </a:p>
            </p:txBody>
          </p:sp>
        </mc:Choice>
        <mc:Fallback xmlns="">
          <p:sp>
            <p:nvSpPr>
              <p:cNvPr id="4" name="Rectangle 3">
                <a:extLst>
                  <a:ext uri="{FF2B5EF4-FFF2-40B4-BE49-F238E27FC236}">
                    <a16:creationId xmlns:a16="http://schemas.microsoft.com/office/drawing/2014/main" id="{0E6391C4-FF0E-3740-BE45-2AEE0F484ABA}"/>
                  </a:ext>
                </a:extLst>
              </p:cNvPr>
              <p:cNvSpPr>
                <a:spLocks noRot="1" noChangeAspect="1" noMove="1" noResize="1" noEditPoints="1" noAdjustHandles="1" noChangeArrowheads="1" noChangeShapeType="1" noTextEdit="1"/>
              </p:cNvSpPr>
              <p:nvPr/>
            </p:nvSpPr>
            <p:spPr>
              <a:xfrm>
                <a:off x="1842016" y="3174009"/>
                <a:ext cx="2094742" cy="104737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FF48FA-19CC-354F-8D2D-89050D09B1FA}"/>
                  </a:ext>
                </a:extLst>
              </p:cNvPr>
              <p:cNvSpPr>
                <a:spLocks noChangeAspect="1"/>
              </p:cNvSpPr>
              <p:nvPr/>
            </p:nvSpPr>
            <p:spPr>
              <a:xfrm>
                <a:off x="3941851" y="3174009"/>
                <a:ext cx="2094742" cy="104737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000" i="1" dirty="0" smtClean="0">
                          <a:solidFill>
                            <a:schemeClr val="tx1"/>
                          </a:solidFill>
                          <a:latin typeface="Cambria Math" panose="02040503050406030204" pitchFamily="18" charset="0"/>
                        </a:rPr>
                        <m:t>13</m:t>
                      </m:r>
                    </m:oMath>
                  </m:oMathPara>
                </a14:m>
                <a:endParaRPr lang="fr-FR" sz="2000" dirty="0">
                  <a:solidFill>
                    <a:schemeClr val="tx1"/>
                  </a:solidFill>
                </a:endParaRPr>
              </a:p>
            </p:txBody>
          </p:sp>
        </mc:Choice>
        <mc:Fallback xmlns="">
          <p:sp>
            <p:nvSpPr>
              <p:cNvPr id="5" name="Rectangle 4">
                <a:extLst>
                  <a:ext uri="{FF2B5EF4-FFF2-40B4-BE49-F238E27FC236}">
                    <a16:creationId xmlns:a16="http://schemas.microsoft.com/office/drawing/2014/main" id="{38FF48FA-19CC-354F-8D2D-89050D09B1FA}"/>
                  </a:ext>
                </a:extLst>
              </p:cNvPr>
              <p:cNvSpPr>
                <a:spLocks noRot="1" noChangeAspect="1" noMove="1" noResize="1" noEditPoints="1" noAdjustHandles="1" noChangeArrowheads="1" noChangeShapeType="1" noTextEdit="1"/>
              </p:cNvSpPr>
              <p:nvPr/>
            </p:nvSpPr>
            <p:spPr>
              <a:xfrm>
                <a:off x="3941851" y="3174009"/>
                <a:ext cx="2094742" cy="1047371"/>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E22702A-0101-E741-A160-533A0E50475D}"/>
                  </a:ext>
                </a:extLst>
              </p:cNvPr>
              <p:cNvSpPr>
                <a:spLocks noChangeAspect="1"/>
              </p:cNvSpPr>
              <p:nvPr/>
            </p:nvSpPr>
            <p:spPr>
              <a:xfrm>
                <a:off x="1842016" y="4221380"/>
                <a:ext cx="2094742" cy="104737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000" i="1" dirty="0" smtClean="0">
                          <a:solidFill>
                            <a:schemeClr val="tx1"/>
                          </a:solidFill>
                          <a:latin typeface="Cambria Math" panose="02040503050406030204" pitchFamily="18" charset="0"/>
                        </a:rPr>
                        <m:t>24</m:t>
                      </m:r>
                    </m:oMath>
                  </m:oMathPara>
                </a14:m>
                <a:endParaRPr lang="fr-FR" sz="2000" dirty="0">
                  <a:solidFill>
                    <a:schemeClr val="tx1"/>
                  </a:solidFill>
                </a:endParaRPr>
              </a:p>
            </p:txBody>
          </p:sp>
        </mc:Choice>
        <mc:Fallback xmlns="">
          <p:sp>
            <p:nvSpPr>
              <p:cNvPr id="6" name="Rectangle 5">
                <a:extLst>
                  <a:ext uri="{FF2B5EF4-FFF2-40B4-BE49-F238E27FC236}">
                    <a16:creationId xmlns:a16="http://schemas.microsoft.com/office/drawing/2014/main" id="{BE22702A-0101-E741-A160-533A0E50475D}"/>
                  </a:ext>
                </a:extLst>
              </p:cNvPr>
              <p:cNvSpPr>
                <a:spLocks noRot="1" noChangeAspect="1" noMove="1" noResize="1" noEditPoints="1" noAdjustHandles="1" noChangeArrowheads="1" noChangeShapeType="1" noTextEdit="1"/>
              </p:cNvSpPr>
              <p:nvPr/>
            </p:nvSpPr>
            <p:spPr>
              <a:xfrm>
                <a:off x="1842016" y="4221380"/>
                <a:ext cx="2094742" cy="1047371"/>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0DCD953-6559-0242-BA70-FF991116EBDF}"/>
                  </a:ext>
                </a:extLst>
              </p:cNvPr>
              <p:cNvSpPr>
                <a:spLocks noChangeAspect="1"/>
              </p:cNvSpPr>
              <p:nvPr/>
            </p:nvSpPr>
            <p:spPr>
              <a:xfrm>
                <a:off x="3941851" y="4221380"/>
                <a:ext cx="2094742" cy="1047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2000" i="1" dirty="0" smtClean="0">
                          <a:solidFill>
                            <a:schemeClr val="tx1"/>
                          </a:solidFill>
                          <a:latin typeface="Cambria Math" panose="02040503050406030204" pitchFamily="18" charset="0"/>
                        </a:rPr>
                        <m:t>87</m:t>
                      </m:r>
                    </m:oMath>
                  </m:oMathPara>
                </a14:m>
                <a:endParaRPr lang="fr-FR" sz="2000" dirty="0">
                  <a:solidFill>
                    <a:schemeClr val="tx1"/>
                  </a:solidFill>
                </a:endParaRPr>
              </a:p>
            </p:txBody>
          </p:sp>
        </mc:Choice>
        <mc:Fallback xmlns="">
          <p:sp>
            <p:nvSpPr>
              <p:cNvPr id="7" name="Rectangle 6">
                <a:extLst>
                  <a:ext uri="{FF2B5EF4-FFF2-40B4-BE49-F238E27FC236}">
                    <a16:creationId xmlns:a16="http://schemas.microsoft.com/office/drawing/2014/main" id="{10DCD953-6559-0242-BA70-FF991116EBDF}"/>
                  </a:ext>
                </a:extLst>
              </p:cNvPr>
              <p:cNvSpPr>
                <a:spLocks noRot="1" noChangeAspect="1" noMove="1" noResize="1" noEditPoints="1" noAdjustHandles="1" noChangeArrowheads="1" noChangeShapeType="1" noTextEdit="1"/>
              </p:cNvSpPr>
              <p:nvPr/>
            </p:nvSpPr>
            <p:spPr>
              <a:xfrm>
                <a:off x="3941851" y="4221380"/>
                <a:ext cx="2094742" cy="1047371"/>
              </a:xfrm>
              <a:prstGeom prst="rect">
                <a:avLst/>
              </a:prstGeom>
              <a:blipFill>
                <a:blip r:embed="rId5"/>
                <a:stretch>
                  <a:fillRect/>
                </a:stretch>
              </a:blipFill>
            </p:spPr>
            <p:txBody>
              <a:bodyPr/>
              <a:lstStyle/>
              <a:p>
                <a:r>
                  <a:rPr lang="fr-FR">
                    <a:noFill/>
                  </a:rPr>
                  <a:t> </a:t>
                </a:r>
              </a:p>
            </p:txBody>
          </p:sp>
        </mc:Fallback>
      </mc:AlternateContent>
      <p:sp>
        <p:nvSpPr>
          <p:cNvPr id="8" name="Rectangle 7">
            <a:extLst>
              <a:ext uri="{FF2B5EF4-FFF2-40B4-BE49-F238E27FC236}">
                <a16:creationId xmlns:a16="http://schemas.microsoft.com/office/drawing/2014/main" id="{2B313D73-67E4-9247-82DE-0F1CE295E08A}"/>
              </a:ext>
            </a:extLst>
          </p:cNvPr>
          <p:cNvSpPr>
            <a:spLocks noChangeAspect="1"/>
          </p:cNvSpPr>
          <p:nvPr/>
        </p:nvSpPr>
        <p:spPr>
          <a:xfrm>
            <a:off x="1847109" y="2781245"/>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Négatif</a:t>
            </a:r>
          </a:p>
        </p:txBody>
      </p:sp>
      <p:sp>
        <p:nvSpPr>
          <p:cNvPr id="9" name="Rectangle 8">
            <a:extLst>
              <a:ext uri="{FF2B5EF4-FFF2-40B4-BE49-F238E27FC236}">
                <a16:creationId xmlns:a16="http://schemas.microsoft.com/office/drawing/2014/main" id="{10B43CD4-293F-A447-B365-15B008410658}"/>
              </a:ext>
            </a:extLst>
          </p:cNvPr>
          <p:cNvSpPr>
            <a:spLocks noChangeAspect="1"/>
          </p:cNvSpPr>
          <p:nvPr/>
        </p:nvSpPr>
        <p:spPr>
          <a:xfrm>
            <a:off x="3941851" y="2781245"/>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Positif</a:t>
            </a:r>
          </a:p>
        </p:txBody>
      </p:sp>
      <p:sp>
        <p:nvSpPr>
          <p:cNvPr id="10" name="Rectangle 9">
            <a:extLst>
              <a:ext uri="{FF2B5EF4-FFF2-40B4-BE49-F238E27FC236}">
                <a16:creationId xmlns:a16="http://schemas.microsoft.com/office/drawing/2014/main" id="{0C951382-6061-AA43-8E94-98D6FBAD8D57}"/>
              </a:ext>
            </a:extLst>
          </p:cNvPr>
          <p:cNvSpPr>
            <a:spLocks noChangeAspect="1"/>
          </p:cNvSpPr>
          <p:nvPr/>
        </p:nvSpPr>
        <p:spPr>
          <a:xfrm rot="16200000">
            <a:off x="1116856" y="4548682"/>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Positif</a:t>
            </a:r>
          </a:p>
        </p:txBody>
      </p:sp>
      <p:sp>
        <p:nvSpPr>
          <p:cNvPr id="11" name="Rectangle 10">
            <a:extLst>
              <a:ext uri="{FF2B5EF4-FFF2-40B4-BE49-F238E27FC236}">
                <a16:creationId xmlns:a16="http://schemas.microsoft.com/office/drawing/2014/main" id="{2427064E-14F1-4E43-8B2C-568AD7D6717B}"/>
              </a:ext>
            </a:extLst>
          </p:cNvPr>
          <p:cNvSpPr>
            <a:spLocks noChangeAspect="1"/>
          </p:cNvSpPr>
          <p:nvPr/>
        </p:nvSpPr>
        <p:spPr>
          <a:xfrm rot="16200000">
            <a:off x="1116856" y="3501311"/>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Négatif</a:t>
            </a:r>
          </a:p>
        </p:txBody>
      </p:sp>
      <p:sp>
        <p:nvSpPr>
          <p:cNvPr id="12" name="Rectangle 11">
            <a:extLst>
              <a:ext uri="{FF2B5EF4-FFF2-40B4-BE49-F238E27FC236}">
                <a16:creationId xmlns:a16="http://schemas.microsoft.com/office/drawing/2014/main" id="{182C5181-B7E1-1641-AF1D-69F2710F7FCF}"/>
              </a:ext>
            </a:extLst>
          </p:cNvPr>
          <p:cNvSpPr>
            <a:spLocks noChangeAspect="1"/>
          </p:cNvSpPr>
          <p:nvPr/>
        </p:nvSpPr>
        <p:spPr>
          <a:xfrm>
            <a:off x="1847109" y="2379907"/>
            <a:ext cx="4189485"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Prédictions</a:t>
            </a:r>
          </a:p>
        </p:txBody>
      </p:sp>
      <p:sp>
        <p:nvSpPr>
          <p:cNvPr id="13" name="Rectangle 12">
            <a:extLst>
              <a:ext uri="{FF2B5EF4-FFF2-40B4-BE49-F238E27FC236}">
                <a16:creationId xmlns:a16="http://schemas.microsoft.com/office/drawing/2014/main" id="{D83D9F19-9E69-4F46-A266-20B2E4E082B3}"/>
              </a:ext>
            </a:extLst>
          </p:cNvPr>
          <p:cNvSpPr>
            <a:spLocks noChangeAspect="1"/>
          </p:cNvSpPr>
          <p:nvPr/>
        </p:nvSpPr>
        <p:spPr>
          <a:xfrm rot="16200000">
            <a:off x="190221" y="4024996"/>
            <a:ext cx="2094742"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Réalité</a:t>
            </a:r>
          </a:p>
        </p:txBody>
      </p: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49C0F2BA-E421-4E43-BED9-9FABF075F310}"/>
                  </a:ext>
                </a:extLst>
              </p:cNvPr>
              <p:cNvSpPr txBox="1"/>
              <p:nvPr/>
            </p:nvSpPr>
            <p:spPr>
              <a:xfrm>
                <a:off x="6036593" y="3337441"/>
                <a:ext cx="2666172" cy="64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𝑇𝐹𝑃</m:t>
                      </m:r>
                      <m:r>
                        <a:rPr lang="fr-FR" sz="1800" i="1" smtClean="0">
                          <a:latin typeface="Cambria Math" panose="02040503050406030204" pitchFamily="18" charset="0"/>
                        </a:rPr>
                        <m:t>=</m:t>
                      </m:r>
                      <m:f>
                        <m:fPr>
                          <m:ctrlPr>
                            <a:rPr lang="fr-FR" sz="1800" i="1">
                              <a:latin typeface="Cambria Math" panose="02040503050406030204" pitchFamily="18" charset="0"/>
                            </a:rPr>
                          </m:ctrlPr>
                        </m:fPr>
                        <m:num>
                          <m:r>
                            <a:rPr lang="fr-FR" sz="1800" b="0" i="1" smtClean="0">
                              <a:latin typeface="Cambria Math" panose="02040503050406030204" pitchFamily="18" charset="0"/>
                            </a:rPr>
                            <m:t>13</m:t>
                          </m:r>
                        </m:num>
                        <m:den>
                          <m:r>
                            <a:rPr lang="fr-FR" sz="1800" b="0" i="1" smtClean="0">
                              <a:latin typeface="Cambria Math" panose="02040503050406030204" pitchFamily="18" charset="0"/>
                            </a:rPr>
                            <m:t>118</m:t>
                          </m:r>
                          <m:r>
                            <a:rPr lang="fr-FR" sz="1800" i="1">
                              <a:latin typeface="Cambria Math" panose="02040503050406030204" pitchFamily="18" charset="0"/>
                            </a:rPr>
                            <m:t>+</m:t>
                          </m:r>
                          <m:r>
                            <a:rPr lang="fr-FR" sz="1800" b="0" i="1" smtClean="0">
                              <a:latin typeface="Cambria Math" panose="02040503050406030204" pitchFamily="18" charset="0"/>
                            </a:rPr>
                            <m:t>13</m:t>
                          </m:r>
                        </m:den>
                      </m:f>
                      <m:r>
                        <a:rPr lang="fr-FR" sz="1800" b="0" i="1" smtClean="0">
                          <a:latin typeface="Cambria Math" panose="02040503050406030204" pitchFamily="18" charset="0"/>
                        </a:rPr>
                        <m:t>≃0,1</m:t>
                      </m:r>
                    </m:oMath>
                  </m:oMathPara>
                </a14:m>
                <a:endParaRPr lang="fr-FR" dirty="0"/>
              </a:p>
            </p:txBody>
          </p:sp>
        </mc:Choice>
        <mc:Fallback xmlns="">
          <p:sp>
            <p:nvSpPr>
              <p:cNvPr id="14" name="ZoneTexte 13">
                <a:extLst>
                  <a:ext uri="{FF2B5EF4-FFF2-40B4-BE49-F238E27FC236}">
                    <a16:creationId xmlns:a16="http://schemas.microsoft.com/office/drawing/2014/main" id="{49C0F2BA-E421-4E43-BED9-9FABF075F310}"/>
                  </a:ext>
                </a:extLst>
              </p:cNvPr>
              <p:cNvSpPr txBox="1">
                <a:spLocks noRot="1" noChangeAspect="1" noMove="1" noResize="1" noEditPoints="1" noAdjustHandles="1" noChangeArrowheads="1" noChangeShapeType="1" noTextEdit="1"/>
              </p:cNvSpPr>
              <p:nvPr/>
            </p:nvSpPr>
            <p:spPr>
              <a:xfrm>
                <a:off x="6036593" y="3337441"/>
                <a:ext cx="2666172" cy="641201"/>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A95EDC32-94D5-3141-A12A-2D9DFD32EF9A}"/>
                  </a:ext>
                </a:extLst>
              </p:cNvPr>
              <p:cNvSpPr txBox="1"/>
              <p:nvPr/>
            </p:nvSpPr>
            <p:spPr>
              <a:xfrm>
                <a:off x="6035165" y="4384812"/>
                <a:ext cx="2667600" cy="64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𝑇𝐹𝑁</m:t>
                      </m:r>
                      <m:r>
                        <a:rPr lang="fr-FR" sz="1800" i="1" smtClean="0">
                          <a:latin typeface="Cambria Math" panose="02040503050406030204" pitchFamily="18" charset="0"/>
                        </a:rPr>
                        <m:t>=</m:t>
                      </m:r>
                      <m:f>
                        <m:fPr>
                          <m:ctrlPr>
                            <a:rPr lang="fr-FR" sz="1800" i="1">
                              <a:latin typeface="Cambria Math" panose="02040503050406030204" pitchFamily="18" charset="0"/>
                            </a:rPr>
                          </m:ctrlPr>
                        </m:fPr>
                        <m:num>
                          <m:r>
                            <a:rPr lang="fr-FR" sz="1800" b="0" i="1" smtClean="0">
                              <a:latin typeface="Cambria Math" panose="02040503050406030204" pitchFamily="18" charset="0"/>
                            </a:rPr>
                            <m:t>24</m:t>
                          </m:r>
                        </m:num>
                        <m:den>
                          <m:r>
                            <a:rPr lang="fr-FR" sz="1800" b="0" i="1" smtClean="0">
                              <a:latin typeface="Cambria Math" panose="02040503050406030204" pitchFamily="18" charset="0"/>
                            </a:rPr>
                            <m:t>87</m:t>
                          </m:r>
                          <m:r>
                            <a:rPr lang="fr-FR" sz="1800" i="1">
                              <a:latin typeface="Cambria Math" panose="02040503050406030204" pitchFamily="18" charset="0"/>
                            </a:rPr>
                            <m:t>+</m:t>
                          </m:r>
                          <m:r>
                            <a:rPr lang="fr-FR" sz="1800" b="0" i="1" smtClean="0">
                              <a:latin typeface="Cambria Math" panose="02040503050406030204" pitchFamily="18" charset="0"/>
                            </a:rPr>
                            <m:t>24</m:t>
                          </m:r>
                        </m:den>
                      </m:f>
                      <m:r>
                        <a:rPr lang="fr-FR" sz="1800" b="0" i="1" smtClean="0">
                          <a:latin typeface="Cambria Math" panose="02040503050406030204" pitchFamily="18" charset="0"/>
                        </a:rPr>
                        <m:t>≃0,22</m:t>
                      </m:r>
                    </m:oMath>
                  </m:oMathPara>
                </a14:m>
                <a:endParaRPr lang="fr-FR" dirty="0"/>
              </a:p>
            </p:txBody>
          </p:sp>
        </mc:Choice>
        <mc:Fallback xmlns="">
          <p:sp>
            <p:nvSpPr>
              <p:cNvPr id="15" name="ZoneTexte 14">
                <a:extLst>
                  <a:ext uri="{FF2B5EF4-FFF2-40B4-BE49-F238E27FC236}">
                    <a16:creationId xmlns:a16="http://schemas.microsoft.com/office/drawing/2014/main" id="{A95EDC32-94D5-3141-A12A-2D9DFD32EF9A}"/>
                  </a:ext>
                </a:extLst>
              </p:cNvPr>
              <p:cNvSpPr txBox="1">
                <a:spLocks noRot="1" noChangeAspect="1" noMove="1" noResize="1" noEditPoints="1" noAdjustHandles="1" noChangeArrowheads="1" noChangeShapeType="1" noTextEdit="1"/>
              </p:cNvSpPr>
              <p:nvPr/>
            </p:nvSpPr>
            <p:spPr>
              <a:xfrm>
                <a:off x="6035165" y="4384812"/>
                <a:ext cx="2667600" cy="641201"/>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13008B5F-B4C6-4B4B-AC54-7F47CEB65154}"/>
                  </a:ext>
                </a:extLst>
              </p:cNvPr>
              <p:cNvSpPr txBox="1"/>
              <p:nvPr/>
            </p:nvSpPr>
            <p:spPr>
              <a:xfrm>
                <a:off x="8702765" y="4384812"/>
                <a:ext cx="2667600" cy="64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m:t>
                      </m:r>
                      <m:r>
                        <a:rPr lang="fr-FR" sz="1800" b="0" i="1" smtClean="0">
                          <a:latin typeface="Cambria Math" panose="02040503050406030204" pitchFamily="18" charset="0"/>
                        </a:rPr>
                        <m:t>𝑉</m:t>
                      </m:r>
                      <m:r>
                        <a:rPr lang="fr-FR" sz="1800" i="1">
                          <a:latin typeface="Cambria Math" panose="02040503050406030204" pitchFamily="18" charset="0"/>
                        </a:rPr>
                        <m:t>𝑃</m:t>
                      </m:r>
                      <m:r>
                        <a:rPr lang="fr-FR" sz="1800" i="1">
                          <a:latin typeface="Cambria Math" panose="02040503050406030204" pitchFamily="18" charset="0"/>
                        </a:rPr>
                        <m:t>=</m:t>
                      </m:r>
                      <m:f>
                        <m:fPr>
                          <m:ctrlPr>
                            <a:rPr lang="fr-FR" sz="1800" i="1">
                              <a:latin typeface="Cambria Math" panose="02040503050406030204" pitchFamily="18" charset="0"/>
                            </a:rPr>
                          </m:ctrlPr>
                        </m:fPr>
                        <m:num>
                          <m:r>
                            <a:rPr lang="fr-FR" sz="1800" b="0" i="1" smtClean="0">
                              <a:latin typeface="Cambria Math" panose="02040503050406030204" pitchFamily="18" charset="0"/>
                            </a:rPr>
                            <m:t>87</m:t>
                          </m:r>
                        </m:num>
                        <m:den>
                          <m:r>
                            <a:rPr lang="fr-FR" sz="1800" b="0" i="1" smtClean="0">
                              <a:latin typeface="Cambria Math" panose="02040503050406030204" pitchFamily="18" charset="0"/>
                            </a:rPr>
                            <m:t>87</m:t>
                          </m:r>
                          <m:r>
                            <a:rPr lang="fr-FR" sz="1800" i="1">
                              <a:latin typeface="Cambria Math" panose="02040503050406030204" pitchFamily="18" charset="0"/>
                            </a:rPr>
                            <m:t>+</m:t>
                          </m:r>
                          <m:r>
                            <a:rPr lang="fr-FR" sz="1800" b="0" i="1" smtClean="0">
                              <a:latin typeface="Cambria Math" panose="02040503050406030204" pitchFamily="18" charset="0"/>
                            </a:rPr>
                            <m:t>24</m:t>
                          </m:r>
                        </m:den>
                      </m:f>
                      <m:r>
                        <a:rPr lang="fr-FR" sz="1800" b="0" i="1" smtClean="0">
                          <a:latin typeface="Cambria Math" panose="02040503050406030204" pitchFamily="18" charset="0"/>
                        </a:rPr>
                        <m:t>≃0,78</m:t>
                      </m:r>
                    </m:oMath>
                  </m:oMathPara>
                </a14:m>
                <a:endParaRPr lang="fr-FR" dirty="0"/>
              </a:p>
            </p:txBody>
          </p:sp>
        </mc:Choice>
        <mc:Fallback xmlns="">
          <p:sp>
            <p:nvSpPr>
              <p:cNvPr id="16" name="ZoneTexte 15">
                <a:extLst>
                  <a:ext uri="{FF2B5EF4-FFF2-40B4-BE49-F238E27FC236}">
                    <a16:creationId xmlns:a16="http://schemas.microsoft.com/office/drawing/2014/main" id="{13008B5F-B4C6-4B4B-AC54-7F47CEB65154}"/>
                  </a:ext>
                </a:extLst>
              </p:cNvPr>
              <p:cNvSpPr txBox="1">
                <a:spLocks noRot="1" noChangeAspect="1" noMove="1" noResize="1" noEditPoints="1" noAdjustHandles="1" noChangeArrowheads="1" noChangeShapeType="1" noTextEdit="1"/>
              </p:cNvSpPr>
              <p:nvPr/>
            </p:nvSpPr>
            <p:spPr>
              <a:xfrm>
                <a:off x="8702765" y="4384812"/>
                <a:ext cx="2667600" cy="641201"/>
              </a:xfrm>
              <a:prstGeom prst="rect">
                <a:avLst/>
              </a:prstGeom>
              <a:blipFill>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13B577CB-C9E0-994B-9F68-CDF7D10C8124}"/>
                  </a:ext>
                </a:extLst>
              </p:cNvPr>
              <p:cNvSpPr txBox="1"/>
              <p:nvPr/>
            </p:nvSpPr>
            <p:spPr>
              <a:xfrm>
                <a:off x="8702765" y="3389884"/>
                <a:ext cx="2667600" cy="64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𝑇𝑉𝑁</m:t>
                      </m:r>
                      <m:r>
                        <a:rPr lang="fr-FR" sz="1800" i="1" smtClean="0">
                          <a:latin typeface="Cambria Math" panose="02040503050406030204" pitchFamily="18" charset="0"/>
                        </a:rPr>
                        <m:t>=</m:t>
                      </m:r>
                      <m:f>
                        <m:fPr>
                          <m:ctrlPr>
                            <a:rPr lang="fr-FR" sz="1800" i="1">
                              <a:latin typeface="Cambria Math" panose="02040503050406030204" pitchFamily="18" charset="0"/>
                            </a:rPr>
                          </m:ctrlPr>
                        </m:fPr>
                        <m:num>
                          <m:r>
                            <a:rPr lang="fr-FR" sz="1800" b="0" i="1" smtClean="0">
                              <a:latin typeface="Cambria Math" panose="02040503050406030204" pitchFamily="18" charset="0"/>
                            </a:rPr>
                            <m:t>118</m:t>
                          </m:r>
                        </m:num>
                        <m:den>
                          <m:r>
                            <a:rPr lang="fr-FR" sz="1800" b="0" i="1" smtClean="0">
                              <a:latin typeface="Cambria Math" panose="02040503050406030204" pitchFamily="18" charset="0"/>
                            </a:rPr>
                            <m:t>118</m:t>
                          </m:r>
                          <m:r>
                            <a:rPr lang="fr-FR" sz="1800" i="1">
                              <a:latin typeface="Cambria Math" panose="02040503050406030204" pitchFamily="18" charset="0"/>
                            </a:rPr>
                            <m:t>+</m:t>
                          </m:r>
                          <m:r>
                            <a:rPr lang="fr-FR" sz="1800" b="0" i="1" smtClean="0">
                              <a:latin typeface="Cambria Math" panose="02040503050406030204" pitchFamily="18" charset="0"/>
                            </a:rPr>
                            <m:t>13</m:t>
                          </m:r>
                        </m:den>
                      </m:f>
                      <m:r>
                        <a:rPr lang="fr-FR" sz="1800" b="0" i="1" smtClean="0">
                          <a:latin typeface="Cambria Math" panose="02040503050406030204" pitchFamily="18" charset="0"/>
                        </a:rPr>
                        <m:t>≃0,9</m:t>
                      </m:r>
                    </m:oMath>
                  </m:oMathPara>
                </a14:m>
                <a:endParaRPr lang="fr-FR" dirty="0"/>
              </a:p>
            </p:txBody>
          </p:sp>
        </mc:Choice>
        <mc:Fallback xmlns="">
          <p:sp>
            <p:nvSpPr>
              <p:cNvPr id="17" name="ZoneTexte 16">
                <a:extLst>
                  <a:ext uri="{FF2B5EF4-FFF2-40B4-BE49-F238E27FC236}">
                    <a16:creationId xmlns:a16="http://schemas.microsoft.com/office/drawing/2014/main" id="{13B577CB-C9E0-994B-9F68-CDF7D10C8124}"/>
                  </a:ext>
                </a:extLst>
              </p:cNvPr>
              <p:cNvSpPr txBox="1">
                <a:spLocks noRot="1" noChangeAspect="1" noMove="1" noResize="1" noEditPoints="1" noAdjustHandles="1" noChangeArrowheads="1" noChangeShapeType="1" noTextEdit="1"/>
              </p:cNvSpPr>
              <p:nvPr/>
            </p:nvSpPr>
            <p:spPr>
              <a:xfrm>
                <a:off x="8702765" y="3389884"/>
                <a:ext cx="2667600" cy="641201"/>
              </a:xfrm>
              <a:prstGeom prst="rect">
                <a:avLst/>
              </a:prstGeom>
              <a:blipFill>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9AE006D3-5A37-4F46-8CAA-8FF9A74EE44C}"/>
                  </a:ext>
                </a:extLst>
              </p:cNvPr>
              <p:cNvSpPr txBox="1"/>
              <p:nvPr/>
            </p:nvSpPr>
            <p:spPr>
              <a:xfrm>
                <a:off x="3655422" y="5557709"/>
                <a:ext cx="2667600" cy="9182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i="1" smtClean="0">
                          <a:latin typeface="Cambria Math" panose="02040503050406030204" pitchFamily="18" charset="0"/>
                        </a:rPr>
                        <m:t>𝑃𝑟</m:t>
                      </m:r>
                      <m:r>
                        <a:rPr lang="fr-FR" sz="1800" i="1" smtClean="0">
                          <a:latin typeface="Cambria Math" panose="02040503050406030204" pitchFamily="18" charset="0"/>
                        </a:rPr>
                        <m:t>é</m:t>
                      </m:r>
                      <m:r>
                        <a:rPr lang="fr-FR" sz="1800" i="1" smtClean="0">
                          <a:latin typeface="Cambria Math" panose="02040503050406030204" pitchFamily="18" charset="0"/>
                        </a:rPr>
                        <m:t>𝑐𝑖𝑠𝑖𝑜𝑛</m:t>
                      </m:r>
                    </m:oMath>
                  </m:oMathPara>
                </a14:m>
                <a:endParaRPr lang="fr-FR" sz="1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fr-FR" sz="1800" i="1">
                              <a:latin typeface="Cambria Math" panose="02040503050406030204" pitchFamily="18" charset="0"/>
                            </a:rPr>
                          </m:ctrlPr>
                        </m:fPr>
                        <m:num>
                          <m:r>
                            <a:rPr lang="fr-FR" sz="1800" b="0" i="1" smtClean="0">
                              <a:latin typeface="Cambria Math" panose="02040503050406030204" pitchFamily="18" charset="0"/>
                            </a:rPr>
                            <m:t>87</m:t>
                          </m:r>
                        </m:num>
                        <m:den>
                          <m:r>
                            <a:rPr lang="fr-FR" sz="1800" b="0" i="1" smtClean="0">
                              <a:latin typeface="Cambria Math" panose="02040503050406030204" pitchFamily="18" charset="0"/>
                            </a:rPr>
                            <m:t>87</m:t>
                          </m:r>
                          <m:r>
                            <a:rPr lang="fr-FR" sz="1800" i="1">
                              <a:latin typeface="Cambria Math" panose="02040503050406030204" pitchFamily="18" charset="0"/>
                            </a:rPr>
                            <m:t>+</m:t>
                          </m:r>
                          <m:r>
                            <a:rPr lang="fr-FR" sz="1800" b="0" i="1" smtClean="0">
                              <a:latin typeface="Cambria Math" panose="02040503050406030204" pitchFamily="18" charset="0"/>
                            </a:rPr>
                            <m:t>13</m:t>
                          </m:r>
                        </m:den>
                      </m:f>
                      <m:r>
                        <a:rPr lang="fr-FR" sz="1800" b="0" i="1" smtClean="0">
                          <a:latin typeface="Cambria Math" panose="02040503050406030204" pitchFamily="18" charset="0"/>
                        </a:rPr>
                        <m:t>≃0,87</m:t>
                      </m:r>
                    </m:oMath>
                  </m:oMathPara>
                </a14:m>
                <a:endParaRPr lang="fr-FR" dirty="0"/>
              </a:p>
            </p:txBody>
          </p:sp>
        </mc:Choice>
        <mc:Fallback xmlns="">
          <p:sp>
            <p:nvSpPr>
              <p:cNvPr id="18" name="ZoneTexte 17">
                <a:extLst>
                  <a:ext uri="{FF2B5EF4-FFF2-40B4-BE49-F238E27FC236}">
                    <a16:creationId xmlns:a16="http://schemas.microsoft.com/office/drawing/2014/main" id="{9AE006D3-5A37-4F46-8CAA-8FF9A74EE44C}"/>
                  </a:ext>
                </a:extLst>
              </p:cNvPr>
              <p:cNvSpPr txBox="1">
                <a:spLocks noRot="1" noChangeAspect="1" noMove="1" noResize="1" noEditPoints="1" noAdjustHandles="1" noChangeArrowheads="1" noChangeShapeType="1" noTextEdit="1"/>
              </p:cNvSpPr>
              <p:nvPr/>
            </p:nvSpPr>
            <p:spPr>
              <a:xfrm>
                <a:off x="3655422" y="5557709"/>
                <a:ext cx="2667600" cy="918200"/>
              </a:xfrm>
              <a:prstGeom prst="rect">
                <a:avLst/>
              </a:prstGeom>
              <a:blipFill>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3B65D738-A922-5048-A57C-84282BC1CBA8}"/>
                  </a:ext>
                </a:extLst>
              </p:cNvPr>
              <p:cNvSpPr txBox="1"/>
              <p:nvPr/>
            </p:nvSpPr>
            <p:spPr>
              <a:xfrm>
                <a:off x="1555587" y="5557708"/>
                <a:ext cx="2667600" cy="9182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sz="1800" b="0" i="1" smtClean="0">
                          <a:latin typeface="Cambria Math" panose="02040503050406030204" pitchFamily="18" charset="0"/>
                        </a:rPr>
                        <m:t>𝐹𝑎𝑢𝑠𝑠𝑒𝑠</m:t>
                      </m:r>
                      <m:r>
                        <a:rPr lang="fr-FR" sz="1800" b="0" i="1" smtClean="0">
                          <a:latin typeface="Cambria Math" panose="02040503050406030204" pitchFamily="18" charset="0"/>
                        </a:rPr>
                        <m:t> </m:t>
                      </m:r>
                      <m:r>
                        <a:rPr lang="fr-FR" sz="1800" b="0" i="1" smtClean="0">
                          <a:latin typeface="Cambria Math" panose="02040503050406030204" pitchFamily="18" charset="0"/>
                        </a:rPr>
                        <m:t>𝑂𝑚𝑖𝑠𝑠𝑖𝑜𝑛𝑠</m:t>
                      </m:r>
                    </m:oMath>
                  </m:oMathPara>
                </a14:m>
                <a:endParaRPr lang="fr-FR" sz="18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fr-FR" sz="1800" i="1">
                              <a:latin typeface="Cambria Math" panose="02040503050406030204" pitchFamily="18" charset="0"/>
                            </a:rPr>
                          </m:ctrlPr>
                        </m:fPr>
                        <m:num>
                          <m:r>
                            <a:rPr lang="fr-FR" sz="1800" b="0" i="1" smtClean="0">
                              <a:latin typeface="Cambria Math" panose="02040503050406030204" pitchFamily="18" charset="0"/>
                            </a:rPr>
                            <m:t>24</m:t>
                          </m:r>
                        </m:num>
                        <m:den>
                          <m:r>
                            <a:rPr lang="fr-FR" sz="1800" b="0" i="1" smtClean="0">
                              <a:latin typeface="Cambria Math" panose="02040503050406030204" pitchFamily="18" charset="0"/>
                            </a:rPr>
                            <m:t>118</m:t>
                          </m:r>
                          <m:r>
                            <a:rPr lang="fr-FR" sz="1800" i="1">
                              <a:latin typeface="Cambria Math" panose="02040503050406030204" pitchFamily="18" charset="0"/>
                            </a:rPr>
                            <m:t>+</m:t>
                          </m:r>
                          <m:r>
                            <a:rPr lang="fr-FR" sz="1800" b="0" i="1" smtClean="0">
                              <a:latin typeface="Cambria Math" panose="02040503050406030204" pitchFamily="18" charset="0"/>
                            </a:rPr>
                            <m:t>24</m:t>
                          </m:r>
                        </m:den>
                      </m:f>
                      <m:r>
                        <a:rPr lang="fr-FR" sz="1800" b="0" i="1" smtClean="0">
                          <a:latin typeface="Cambria Math" panose="02040503050406030204" pitchFamily="18" charset="0"/>
                        </a:rPr>
                        <m:t>≃0,17</m:t>
                      </m:r>
                    </m:oMath>
                  </m:oMathPara>
                </a14:m>
                <a:endParaRPr lang="fr-FR" sz="1800" dirty="0"/>
              </a:p>
            </p:txBody>
          </p:sp>
        </mc:Choice>
        <mc:Fallback xmlns="">
          <p:sp>
            <p:nvSpPr>
              <p:cNvPr id="19" name="ZoneTexte 18">
                <a:extLst>
                  <a:ext uri="{FF2B5EF4-FFF2-40B4-BE49-F238E27FC236}">
                    <a16:creationId xmlns:a16="http://schemas.microsoft.com/office/drawing/2014/main" id="{3B65D738-A922-5048-A57C-84282BC1CBA8}"/>
                  </a:ext>
                </a:extLst>
              </p:cNvPr>
              <p:cNvSpPr txBox="1">
                <a:spLocks noRot="1" noChangeAspect="1" noMove="1" noResize="1" noEditPoints="1" noAdjustHandles="1" noChangeArrowheads="1" noChangeShapeType="1" noTextEdit="1"/>
              </p:cNvSpPr>
              <p:nvPr/>
            </p:nvSpPr>
            <p:spPr>
              <a:xfrm>
                <a:off x="1555587" y="5557708"/>
                <a:ext cx="2667600" cy="918200"/>
              </a:xfrm>
              <a:prstGeom prst="rect">
                <a:avLst/>
              </a:prstGeom>
              <a:blipFill>
                <a:blip r:embed="rId11"/>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522971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046988"/>
          </a:xfrm>
          <a:prstGeom prst="rect">
            <a:avLst/>
          </a:prstGeom>
          <a:noFill/>
        </p:spPr>
        <p:txBody>
          <a:bodyPr wrap="square" rtlCol="0">
            <a:spAutoFit/>
          </a:bodyPr>
          <a:lstStyle/>
          <a:p>
            <a:r>
              <a:rPr lang="fr-FR" sz="2400" b="1" dirty="0"/>
              <a:t>Précision et Rappel : exemples</a:t>
            </a:r>
          </a:p>
          <a:p>
            <a:endParaRPr lang="fr-FR" sz="2400" dirty="0"/>
          </a:p>
          <a:p>
            <a:pPr marL="342900" indent="-342900">
              <a:buFont typeface="Arial" panose="020B0604020202020204" pitchFamily="34" charset="0"/>
              <a:buChar char="•"/>
            </a:pPr>
            <a:r>
              <a:rPr lang="fr-FR" sz="2400" dirty="0"/>
              <a:t>Dans le dépistage de maladies, on cherchera par exemple à avoir un bon rappel pour ne pas mal diagnostiquer des patients réellement malades.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un contrôle parental de vidéos, on privilégiera à l’inverse une bonne précision pour ne pas heurter les sensibilités.</a:t>
            </a:r>
          </a:p>
        </p:txBody>
      </p:sp>
      <p:pic>
        <p:nvPicPr>
          <p:cNvPr id="5" name="Graphique 4" descr="Écran avec un remplissage uni">
            <a:extLst>
              <a:ext uri="{FF2B5EF4-FFF2-40B4-BE49-F238E27FC236}">
                <a16:creationId xmlns:a16="http://schemas.microsoft.com/office/drawing/2014/main" id="{D7C8B76A-2C42-AE4D-A4BC-9B260FBE2F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338095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499245"/>
              </a:xfrm>
              <a:prstGeom prst="rect">
                <a:avLst/>
              </a:prstGeom>
              <a:noFill/>
            </p:spPr>
            <p:txBody>
              <a:bodyPr wrap="square" rtlCol="0">
                <a:spAutoFit/>
              </a:bodyPr>
              <a:lstStyle/>
              <a:p>
                <a:r>
                  <a:rPr lang="fr-FR" sz="2400" b="1" dirty="0"/>
                  <a:t>F1-score : définition</a:t>
                </a:r>
              </a:p>
              <a:p>
                <a:endParaRPr lang="fr-FR" sz="2400" dirty="0"/>
              </a:p>
              <a:p>
                <a:pPr marL="342900" indent="-342900">
                  <a:buFont typeface="Arial" panose="020B0604020202020204" pitchFamily="34" charset="0"/>
                  <a:buChar char="•"/>
                </a:pPr>
                <a:r>
                  <a:rPr lang="fr-FR" sz="2400" dirty="0"/>
                  <a:t>Pour prendre en compte simultanément la précision et le rappel, on peut calculer le </a:t>
                </a:r>
                <a14:m>
                  <m:oMath xmlns:m="http://schemas.openxmlformats.org/officeDocument/2006/math">
                    <m:sSub>
                      <m:sSubPr>
                        <m:ctrlPr>
                          <a:rPr lang="fr-FR" sz="2400" i="1" smtClean="0">
                            <a:latin typeface="Cambria Math" panose="02040503050406030204" pitchFamily="18" charset="0"/>
                          </a:rPr>
                        </m:ctrlPr>
                      </m:sSubPr>
                      <m:e>
                        <m:r>
                          <a:rPr lang="fr-FR" sz="2400" b="0" i="1" smtClean="0">
                            <a:latin typeface="Cambria Math" panose="02040503050406030204" pitchFamily="18" charset="0"/>
                          </a:rPr>
                          <m:t>𝐹</m:t>
                        </m:r>
                      </m:e>
                      <m:sub>
                        <m:r>
                          <a:rPr lang="fr-FR" sz="2400" b="0" i="1" smtClean="0">
                            <a:latin typeface="Cambria Math" panose="02040503050406030204" pitchFamily="18" charset="0"/>
                          </a:rPr>
                          <m:t>1</m:t>
                        </m:r>
                      </m:sub>
                    </m:sSub>
                  </m:oMath>
                </a14:m>
                <a:r>
                  <a:rPr lang="fr-FR" sz="2400" dirty="0"/>
                  <a:t>-score (aussi appelé la </a:t>
                </a:r>
                <a14:m>
                  <m:oMath xmlns:m="http://schemas.openxmlformats.org/officeDocument/2006/math">
                    <m:r>
                      <a:rPr lang="fr-FR" sz="2400" i="1" dirty="0" smtClean="0">
                        <a:latin typeface="Cambria Math" panose="02040503050406030204" pitchFamily="18" charset="0"/>
                      </a:rPr>
                      <m:t>𝐹</m:t>
                    </m:r>
                  </m:oMath>
                </a14:m>
                <a:r>
                  <a:rPr lang="fr-FR" sz="2400" dirty="0"/>
                  <a:t>-mesure)</a:t>
                </a:r>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sSub>
                        <m:sSubPr>
                          <m:ctrlPr>
                            <a:rPr lang="fr-FR" sz="2400" i="1">
                              <a:latin typeface="Cambria Math" panose="02040503050406030204" pitchFamily="18" charset="0"/>
                            </a:rPr>
                          </m:ctrlPr>
                        </m:sSubPr>
                        <m:e>
                          <m:r>
                            <a:rPr lang="fr-FR" sz="2400" i="1">
                              <a:latin typeface="Cambria Math" panose="02040503050406030204" pitchFamily="18" charset="0"/>
                            </a:rPr>
                            <m:t>𝐹</m:t>
                          </m:r>
                        </m:e>
                        <m:sub>
                          <m:r>
                            <a:rPr lang="fr-FR" sz="2400" i="1">
                              <a:latin typeface="Cambria Math" panose="02040503050406030204" pitchFamily="18" charset="0"/>
                            </a:rPr>
                            <m:t>1</m:t>
                          </m:r>
                        </m:sub>
                      </m:sSub>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2</m:t>
                          </m:r>
                        </m:num>
                        <m:den>
                          <m:f>
                            <m:fPr>
                              <m:ctrlPr>
                                <a:rPr lang="fr-FR" sz="2400" i="1">
                                  <a:latin typeface="Cambria Math" panose="02040503050406030204" pitchFamily="18" charset="0"/>
                                </a:rPr>
                              </m:ctrlPr>
                            </m:fPr>
                            <m:num>
                              <m:r>
                                <a:rPr lang="fr-FR" sz="2400" i="1">
                                  <a:latin typeface="Cambria Math" panose="02040503050406030204" pitchFamily="18" charset="0"/>
                                </a:rPr>
                                <m:t>1</m:t>
                              </m:r>
                            </m:num>
                            <m:den>
                              <m:r>
                                <a:rPr lang="fr-FR" sz="2400" i="1">
                                  <a:latin typeface="Cambria Math" panose="02040503050406030204" pitchFamily="18" charset="0"/>
                                </a:rPr>
                                <m:t>𝑃𝑟</m:t>
                              </m:r>
                              <m:r>
                                <a:rPr lang="fr-FR" sz="2400" i="1">
                                  <a:latin typeface="Cambria Math" panose="02040503050406030204" pitchFamily="18" charset="0"/>
                                </a:rPr>
                                <m:t>é</m:t>
                              </m:r>
                              <m:r>
                                <a:rPr lang="fr-FR" sz="2400" i="1">
                                  <a:latin typeface="Cambria Math" panose="02040503050406030204" pitchFamily="18" charset="0"/>
                                </a:rPr>
                                <m:t>𝑐𝑖𝑠𝑖𝑜𝑛</m:t>
                              </m:r>
                            </m:den>
                          </m:f>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1</m:t>
                              </m:r>
                            </m:num>
                            <m:den>
                              <m:r>
                                <a:rPr lang="fr-FR" sz="2400" i="1">
                                  <a:latin typeface="Cambria Math" panose="02040503050406030204" pitchFamily="18" charset="0"/>
                                </a:rPr>
                                <m:t>𝑅𝑎𝑝𝑝𝑒𝑙</m:t>
                              </m:r>
                            </m:den>
                          </m:f>
                        </m:den>
                      </m:f>
                    </m:oMath>
                  </m:oMathPara>
                </a14:m>
                <a:endParaRPr lang="fr-FR" sz="2400" dirty="0"/>
              </a:p>
              <a:p>
                <a:endParaRPr lang="fr-FR" sz="2400" dirty="0"/>
              </a:p>
              <a:p>
                <a:endParaRPr lang="fr-FR" sz="2400" dirty="0"/>
              </a:p>
              <a:p>
                <a:pPr/>
                <a14:m>
                  <m:oMathPara xmlns:m="http://schemas.openxmlformats.org/officeDocument/2006/math">
                    <m:oMathParaPr>
                      <m:jc m:val="centerGroup"/>
                    </m:oMathParaPr>
                    <m:oMath xmlns:m="http://schemas.openxmlformats.org/officeDocument/2006/math">
                      <m:sSub>
                        <m:sSubPr>
                          <m:ctrlPr>
                            <a:rPr lang="fr-FR" sz="2400" i="1">
                              <a:latin typeface="Cambria Math" panose="02040503050406030204" pitchFamily="18" charset="0"/>
                            </a:rPr>
                          </m:ctrlPr>
                        </m:sSubPr>
                        <m:e>
                          <m:r>
                            <a:rPr lang="fr-FR" sz="2400" i="1">
                              <a:latin typeface="Cambria Math" panose="02040503050406030204" pitchFamily="18" charset="0"/>
                            </a:rPr>
                            <m:t>𝐹</m:t>
                          </m:r>
                        </m:e>
                        <m:sub>
                          <m:r>
                            <a:rPr lang="fr-FR" sz="2400" i="1">
                              <a:latin typeface="Cambria Math" panose="02040503050406030204" pitchFamily="18" charset="0"/>
                            </a:rPr>
                            <m:t>1</m:t>
                          </m:r>
                        </m:sub>
                      </m:sSub>
                      <m:r>
                        <a:rPr lang="fr-FR" sz="2400" i="1">
                          <a:latin typeface="Cambria Math" panose="02040503050406030204" pitchFamily="18" charset="0"/>
                        </a:rPr>
                        <m:t>=2</m:t>
                      </m:r>
                      <m:f>
                        <m:fPr>
                          <m:ctrlPr>
                            <a:rPr lang="fr-FR" sz="2400" i="1">
                              <a:latin typeface="Cambria Math" panose="02040503050406030204" pitchFamily="18" charset="0"/>
                            </a:rPr>
                          </m:ctrlPr>
                        </m:fPr>
                        <m:num>
                          <m:r>
                            <a:rPr lang="fr-FR" sz="2400" i="1">
                              <a:latin typeface="Cambria Math" panose="02040503050406030204" pitchFamily="18" charset="0"/>
                            </a:rPr>
                            <m:t>𝑃𝑟</m:t>
                          </m:r>
                          <m:r>
                            <a:rPr lang="fr-FR" sz="2400" i="1">
                              <a:latin typeface="Cambria Math" panose="02040503050406030204" pitchFamily="18" charset="0"/>
                            </a:rPr>
                            <m:t>é</m:t>
                          </m:r>
                          <m:r>
                            <a:rPr lang="fr-FR" sz="2400" i="1">
                              <a:latin typeface="Cambria Math" panose="02040503050406030204" pitchFamily="18" charset="0"/>
                            </a:rPr>
                            <m:t>𝑐𝑖𝑠𝑖𝑜𝑛</m:t>
                          </m:r>
                          <m:r>
                            <a:rPr lang="fr-FR" sz="2400" i="1">
                              <a:latin typeface="Cambria Math" panose="02040503050406030204" pitchFamily="18" charset="0"/>
                            </a:rPr>
                            <m:t> . </m:t>
                          </m:r>
                          <m:r>
                            <a:rPr lang="fr-FR" sz="2400" i="1">
                              <a:latin typeface="Cambria Math" panose="02040503050406030204" pitchFamily="18" charset="0"/>
                            </a:rPr>
                            <m:t>𝑅𝑎𝑝𝑝𝑒𝑙</m:t>
                          </m:r>
                        </m:num>
                        <m:den>
                          <m:r>
                            <a:rPr lang="fr-FR" sz="2400" i="1">
                              <a:latin typeface="Cambria Math" panose="02040503050406030204" pitchFamily="18" charset="0"/>
                            </a:rPr>
                            <m:t>𝑃𝑟</m:t>
                          </m:r>
                          <m:r>
                            <a:rPr lang="fr-FR" sz="2400" i="1">
                              <a:latin typeface="Cambria Math" panose="02040503050406030204" pitchFamily="18" charset="0"/>
                            </a:rPr>
                            <m:t>é</m:t>
                          </m:r>
                          <m:r>
                            <a:rPr lang="fr-FR" sz="2400" i="1">
                              <a:latin typeface="Cambria Math" panose="02040503050406030204" pitchFamily="18" charset="0"/>
                            </a:rPr>
                            <m:t>𝑐𝑖𝑠𝑖𝑜𝑛</m:t>
                          </m:r>
                          <m:r>
                            <a:rPr lang="fr-FR" sz="2400" i="1">
                              <a:latin typeface="Cambria Math" panose="02040503050406030204" pitchFamily="18" charset="0"/>
                            </a:rPr>
                            <m:t>+</m:t>
                          </m:r>
                          <m:r>
                            <a:rPr lang="fr-FR" sz="2400" i="1">
                              <a:latin typeface="Cambria Math" panose="02040503050406030204" pitchFamily="18" charset="0"/>
                            </a:rPr>
                            <m:t>𝑅𝑎𝑝𝑝𝑒𝑙</m:t>
                          </m:r>
                        </m:den>
                      </m:f>
                    </m:oMath>
                  </m:oMathPara>
                </a14:m>
                <a:endParaRPr lang="fr-FR" sz="2400" dirty="0"/>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4499245"/>
              </a:xfrm>
              <a:prstGeom prst="rect">
                <a:avLst/>
              </a:prstGeom>
              <a:blipFill>
                <a:blip r:embed="rId3"/>
                <a:stretch>
                  <a:fillRect l="-843" t="-1124" b="-1124"/>
                </a:stretch>
              </a:blipFill>
            </p:spPr>
            <p:txBody>
              <a:bodyPr/>
              <a:lstStyle/>
              <a:p>
                <a:r>
                  <a:rPr lang="fr-FR">
                    <a:noFill/>
                  </a:rPr>
                  <a:t> </a:t>
                </a:r>
              </a:p>
            </p:txBody>
          </p:sp>
        </mc:Fallback>
      </mc:AlternateContent>
    </p:spTree>
    <p:extLst>
      <p:ext uri="{BB962C8B-B14F-4D97-AF65-F5344CB8AC3E}">
        <p14:creationId xmlns:p14="http://schemas.microsoft.com/office/powerpoint/2010/main" val="599240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Seuil d’un classificateur : principe</a:t>
            </a:r>
          </a:p>
          <a:p>
            <a:endParaRPr lang="fr-FR" sz="2400" dirty="0"/>
          </a:p>
          <a:p>
            <a:pPr marL="342900" indent="-342900">
              <a:buFont typeface="Arial" panose="020B0604020202020204" pitchFamily="34" charset="0"/>
              <a:buChar char="•"/>
            </a:pPr>
            <a:r>
              <a:rPr lang="fr-FR" sz="2400" dirty="0"/>
              <a:t>La plupart des classificateurs fonctionnent en calculant un score pour chacune des observations.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Si ce score est inférieur à un certain seuil on affecte l’observation à la première classe sinon on l’affecte à la seconde.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Modifier le seuil va alors avoir des conséquences sur le résultat de la classification.</a:t>
            </a:r>
          </a:p>
        </p:txBody>
      </p:sp>
      <p:pic>
        <p:nvPicPr>
          <p:cNvPr id="5" name="Graphique 4" descr="Panier de basketball avec un remplissage uni">
            <a:extLst>
              <a:ext uri="{FF2B5EF4-FFF2-40B4-BE49-F238E27FC236}">
                <a16:creationId xmlns:a16="http://schemas.microsoft.com/office/drawing/2014/main" id="{54E71BD8-7D4E-9F42-ACB3-3C102EB51B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203056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16320"/>
              </a:xfrm>
              <a:prstGeom prst="rect">
                <a:avLst/>
              </a:prstGeom>
              <a:noFill/>
            </p:spPr>
            <p:txBody>
              <a:bodyPr wrap="square" rtlCol="0">
                <a:spAutoFit/>
              </a:bodyPr>
              <a:lstStyle/>
              <a:p>
                <a:r>
                  <a:rPr lang="fr-FR" sz="2400" b="1" dirty="0"/>
                  <a:t>Seuil d’un classificateur : principe (suite)</a:t>
                </a:r>
              </a:p>
              <a:p>
                <a:endParaRPr lang="fr-FR" sz="2400" dirty="0"/>
              </a:p>
              <a:p>
                <a:pPr marL="342900" indent="-342900">
                  <a:buFont typeface="Arial" panose="020B0604020202020204" pitchFamily="34" charset="0"/>
                  <a:buChar char="•"/>
                </a:pPr>
                <a:r>
                  <a:rPr lang="fr-FR" sz="2400" dirty="0"/>
                  <a:t>Si le classificateur est de nature algébrique ce score mesure l’appartenance à l’une ou l’autre classe et le seuil par défaut est généralement égal à </a:t>
                </a:r>
                <a14:m>
                  <m:oMath xmlns:m="http://schemas.openxmlformats.org/officeDocument/2006/math">
                    <m:r>
                      <a:rPr lang="fr-FR" sz="2400" b="0" i="1" smtClean="0">
                        <a:latin typeface="Cambria Math" panose="02040503050406030204" pitchFamily="18" charset="0"/>
                      </a:rPr>
                      <m:t>0</m:t>
                    </m:r>
                  </m:oMath>
                </a14:m>
                <a:r>
                  <a:rPr lang="fr-FR" sz="2400" dirty="0"/>
                  <a:t>.</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Dans le cas d’un classificateur probabiliste, le score indique la probabilité d’appartenir à la classe positive et le seuil par défaut est généralement égal à </a:t>
                </a:r>
                <a14:m>
                  <m:oMath xmlns:m="http://schemas.openxmlformats.org/officeDocument/2006/math">
                    <m:r>
                      <a:rPr lang="fr-FR" sz="2400" b="0" i="1" smtClean="0">
                        <a:latin typeface="Cambria Math" panose="02040503050406030204" pitchFamily="18" charset="0"/>
                      </a:rPr>
                      <m:t>0,5</m:t>
                    </m:r>
                  </m:oMath>
                </a14:m>
                <a:r>
                  <a:rPr lang="fr-FR" sz="2400" dirty="0"/>
                  <a:t>.</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3"/>
                <a:stretch>
                  <a:fillRect l="-843" t="-1481" b="-3333"/>
                </a:stretch>
              </a:blipFill>
            </p:spPr>
            <p:txBody>
              <a:bodyPr/>
              <a:lstStyle/>
              <a:p>
                <a:r>
                  <a:rPr lang="fr-FR">
                    <a:noFill/>
                  </a:rPr>
                  <a:t> </a:t>
                </a:r>
              </a:p>
            </p:txBody>
          </p:sp>
        </mc:Fallback>
      </mc:AlternateContent>
      <p:pic>
        <p:nvPicPr>
          <p:cNvPr id="5" name="Graphique 4" descr="Dé avec un remplissage uni">
            <a:extLst>
              <a:ext uri="{FF2B5EF4-FFF2-40B4-BE49-F238E27FC236}">
                <a16:creationId xmlns:a16="http://schemas.microsoft.com/office/drawing/2014/main" id="{AB42D7A0-48F8-B74F-B79A-D604BFC715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564329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16320"/>
          </a:xfrm>
          <a:prstGeom prst="rect">
            <a:avLst/>
          </a:prstGeom>
          <a:noFill/>
        </p:spPr>
        <p:txBody>
          <a:bodyPr wrap="square" rtlCol="0">
            <a:spAutoFit/>
          </a:bodyPr>
          <a:lstStyle/>
          <a:p>
            <a:r>
              <a:rPr lang="fr-FR" sz="2400" b="1" dirty="0"/>
              <a:t>Précision et Rappel : remarques</a:t>
            </a:r>
          </a:p>
          <a:p>
            <a:endParaRPr lang="fr-FR" sz="2400" dirty="0"/>
          </a:p>
          <a:p>
            <a:pPr marL="342900" indent="-342900">
              <a:buFont typeface="Arial" panose="020B0604020202020204" pitchFamily="34" charset="0"/>
              <a:buChar char="•"/>
            </a:pPr>
            <a:r>
              <a:rPr lang="fr-FR" sz="2400" dirty="0"/>
              <a:t>On peut construire des algorithmes de classification ayant artificiellement une bonne précision ou un bon rappel en “jouant“ sur la valeur du seuil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Pour augmenter la précision il suffit d’effectuer peu de prédictions positives.</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Pour augmenter le rappel il suffit à l’inverse de n’effectuer quasiment que des prédictions positives. </a:t>
            </a:r>
          </a:p>
        </p:txBody>
      </p:sp>
      <p:pic>
        <p:nvPicPr>
          <p:cNvPr id="5" name="Graphique 4" descr="Porte ouverte avec un remplissage uni">
            <a:extLst>
              <a:ext uri="{FF2B5EF4-FFF2-40B4-BE49-F238E27FC236}">
                <a16:creationId xmlns:a16="http://schemas.microsoft.com/office/drawing/2014/main" id="{C060FC76-BFA9-7A4E-A55A-585C49FE91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5277399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046988"/>
          </a:xfrm>
          <a:prstGeom prst="rect">
            <a:avLst/>
          </a:prstGeom>
          <a:noFill/>
        </p:spPr>
        <p:txBody>
          <a:bodyPr wrap="square" rtlCol="0">
            <a:spAutoFit/>
          </a:bodyPr>
          <a:lstStyle/>
          <a:p>
            <a:r>
              <a:rPr lang="fr-FR" sz="2400" b="1" dirty="0"/>
              <a:t>Courbe précision contre rappel : définition</a:t>
            </a:r>
          </a:p>
          <a:p>
            <a:endParaRPr lang="fr-FR" sz="2400" dirty="0"/>
          </a:p>
          <a:p>
            <a:pPr marL="342900" indent="-342900">
              <a:buFont typeface="Arial" panose="020B0604020202020204" pitchFamily="34" charset="0"/>
              <a:buChar char="•"/>
            </a:pPr>
            <a:r>
              <a:rPr lang="fr-FR" sz="2400" dirty="0"/>
              <a:t>La précision et le rappel dépendant tous deux du seuil du classificateur, on peut les calculer pour différentes valeurs de ce seuil.</a:t>
            </a:r>
          </a:p>
          <a:p>
            <a:endParaRPr lang="fr-FR" sz="2400" dirty="0"/>
          </a:p>
          <a:p>
            <a:endParaRPr lang="fr-FR" sz="2400" dirty="0"/>
          </a:p>
          <a:p>
            <a:pPr marL="342900" indent="-342900">
              <a:buFont typeface="Arial" panose="020B0604020202020204" pitchFamily="34" charset="0"/>
              <a:buChar char="•"/>
            </a:pPr>
            <a:r>
              <a:rPr lang="fr-FR" sz="2400" dirty="0"/>
              <a:t>La courbe </a:t>
            </a:r>
            <a:r>
              <a:rPr lang="fr-FR" sz="2400" b="1" dirty="0"/>
              <a:t>précision contre rappel </a:t>
            </a:r>
            <a:r>
              <a:rPr lang="fr-FR" sz="2400" dirty="0"/>
              <a:t>représente alors les variations de la précision en fonction des valeurs du rappel.</a:t>
            </a:r>
          </a:p>
        </p:txBody>
      </p:sp>
      <p:pic>
        <p:nvPicPr>
          <p:cNvPr id="7" name="Graphique 6" descr="Graphique en radar avec un remplissage uni">
            <a:extLst>
              <a:ext uri="{FF2B5EF4-FFF2-40B4-BE49-F238E27FC236}">
                <a16:creationId xmlns:a16="http://schemas.microsoft.com/office/drawing/2014/main" id="{2B3500E7-B531-D64B-BC6B-DC4B20A5D6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056377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Courbe précision contre rappel : visualisation</a:t>
            </a:r>
          </a:p>
        </p:txBody>
      </p:sp>
      <p:cxnSp>
        <p:nvCxnSpPr>
          <p:cNvPr id="5" name="Connecteur droit 4">
            <a:extLst>
              <a:ext uri="{FF2B5EF4-FFF2-40B4-BE49-F238E27FC236}">
                <a16:creationId xmlns:a16="http://schemas.microsoft.com/office/drawing/2014/main" id="{302CC14D-8A4E-0840-8296-3C667318B0F3}"/>
              </a:ext>
            </a:extLst>
          </p:cNvPr>
          <p:cNvCxnSpPr>
            <a:cxnSpLocks noChangeAspect="1"/>
          </p:cNvCxnSpPr>
          <p:nvPr/>
        </p:nvCxnSpPr>
        <p:spPr>
          <a:xfrm>
            <a:off x="1883688" y="2730162"/>
            <a:ext cx="0" cy="2880000"/>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41A91010-406A-4442-90A0-5C1A46D6AB58}"/>
              </a:ext>
            </a:extLst>
          </p:cNvPr>
          <p:cNvCxnSpPr>
            <a:cxnSpLocks noChangeAspect="1"/>
          </p:cNvCxnSpPr>
          <p:nvPr/>
        </p:nvCxnSpPr>
        <p:spPr>
          <a:xfrm flipH="1">
            <a:off x="1883688" y="5621067"/>
            <a:ext cx="2880000"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B335123-1360-DA4A-8659-142AB9CE2B53}"/>
              </a:ext>
            </a:extLst>
          </p:cNvPr>
          <p:cNvSpPr txBox="1">
            <a:spLocks noChangeAspect="1"/>
          </p:cNvSpPr>
          <p:nvPr/>
        </p:nvSpPr>
        <p:spPr>
          <a:xfrm>
            <a:off x="2609035" y="5791522"/>
            <a:ext cx="1274240" cy="369332"/>
          </a:xfrm>
          <a:prstGeom prst="rect">
            <a:avLst/>
          </a:prstGeom>
          <a:noFill/>
        </p:spPr>
        <p:txBody>
          <a:bodyPr wrap="square" rtlCol="0">
            <a:spAutoFit/>
          </a:bodyPr>
          <a:lstStyle/>
          <a:p>
            <a:r>
              <a:rPr lang="fr-FR" dirty="0"/>
              <a:t>Rappel</a:t>
            </a:r>
          </a:p>
        </p:txBody>
      </p:sp>
      <p:sp>
        <p:nvSpPr>
          <p:cNvPr id="8" name="ZoneTexte 7">
            <a:extLst>
              <a:ext uri="{FF2B5EF4-FFF2-40B4-BE49-F238E27FC236}">
                <a16:creationId xmlns:a16="http://schemas.microsoft.com/office/drawing/2014/main" id="{56BB0DDE-0872-3142-BA0B-871A7AF932A1}"/>
              </a:ext>
            </a:extLst>
          </p:cNvPr>
          <p:cNvSpPr txBox="1">
            <a:spLocks noChangeAspect="1"/>
          </p:cNvSpPr>
          <p:nvPr/>
        </p:nvSpPr>
        <p:spPr>
          <a:xfrm rot="16200000">
            <a:off x="738549" y="4089193"/>
            <a:ext cx="1333422" cy="369332"/>
          </a:xfrm>
          <a:prstGeom prst="rect">
            <a:avLst/>
          </a:prstGeom>
          <a:noFill/>
        </p:spPr>
        <p:txBody>
          <a:bodyPr wrap="square" rtlCol="0">
            <a:spAutoFit/>
          </a:bodyPr>
          <a:lstStyle/>
          <a:p>
            <a:r>
              <a:rPr lang="fr-FR" dirty="0"/>
              <a:t>Précision</a:t>
            </a:r>
          </a:p>
        </p:txBody>
      </p:sp>
      <p:cxnSp>
        <p:nvCxnSpPr>
          <p:cNvPr id="9" name="Connecteur droit 8">
            <a:extLst>
              <a:ext uri="{FF2B5EF4-FFF2-40B4-BE49-F238E27FC236}">
                <a16:creationId xmlns:a16="http://schemas.microsoft.com/office/drawing/2014/main" id="{A2E8FDAB-3276-7C46-BFAA-3B9F89F3CEA3}"/>
              </a:ext>
            </a:extLst>
          </p:cNvPr>
          <p:cNvCxnSpPr>
            <a:cxnSpLocks noChangeAspect="1"/>
          </p:cNvCxnSpPr>
          <p:nvPr/>
        </p:nvCxnSpPr>
        <p:spPr>
          <a:xfrm>
            <a:off x="4506690" y="2995113"/>
            <a:ext cx="0" cy="120156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60C07E66-5CF0-EA46-9749-25349F47FE0E}"/>
              </a:ext>
            </a:extLst>
          </p:cNvPr>
          <p:cNvCxnSpPr>
            <a:cxnSpLocks noChangeAspect="1"/>
          </p:cNvCxnSpPr>
          <p:nvPr/>
        </p:nvCxnSpPr>
        <p:spPr>
          <a:xfrm flipH="1">
            <a:off x="1883688" y="3003068"/>
            <a:ext cx="262300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E417EAD-E1B6-7F47-A12E-ACEFF2FB1874}"/>
                  </a:ext>
                </a:extLst>
              </p:cNvPr>
              <p:cNvSpPr txBox="1">
                <a:spLocks noChangeAspect="1"/>
              </p:cNvSpPr>
              <p:nvPr/>
            </p:nvSpPr>
            <p:spPr>
              <a:xfrm>
                <a:off x="4329525" y="5600361"/>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1</m:t>
                      </m:r>
                    </m:oMath>
                  </m:oMathPara>
                </a14:m>
                <a:endParaRPr lang="fr-FR" dirty="0"/>
              </a:p>
            </p:txBody>
          </p:sp>
        </mc:Choice>
        <mc:Fallback xmlns="">
          <p:sp>
            <p:nvSpPr>
              <p:cNvPr id="11" name="ZoneTexte 10">
                <a:extLst>
                  <a:ext uri="{FF2B5EF4-FFF2-40B4-BE49-F238E27FC236}">
                    <a16:creationId xmlns:a16="http://schemas.microsoft.com/office/drawing/2014/main" id="{1E417EAD-E1B6-7F47-A12E-ACEFF2FB1874}"/>
                  </a:ext>
                </a:extLst>
              </p:cNvPr>
              <p:cNvSpPr txBox="1">
                <a:spLocks noRot="1" noChangeAspect="1" noMove="1" noResize="1" noEditPoints="1" noAdjustHandles="1" noChangeArrowheads="1" noChangeShapeType="1" noTextEdit="1"/>
              </p:cNvSpPr>
              <p:nvPr/>
            </p:nvSpPr>
            <p:spPr>
              <a:xfrm>
                <a:off x="4329525" y="5600361"/>
                <a:ext cx="354330" cy="369332"/>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BB37B003-B4CC-AD46-B026-099B90CED5C6}"/>
                  </a:ext>
                </a:extLst>
              </p:cNvPr>
              <p:cNvSpPr txBox="1">
                <a:spLocks noChangeAspect="1"/>
              </p:cNvSpPr>
              <p:nvPr/>
            </p:nvSpPr>
            <p:spPr>
              <a:xfrm>
                <a:off x="1516688" y="2829835"/>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1</m:t>
                      </m:r>
                    </m:oMath>
                  </m:oMathPara>
                </a14:m>
                <a:endParaRPr lang="fr-FR" dirty="0"/>
              </a:p>
            </p:txBody>
          </p:sp>
        </mc:Choice>
        <mc:Fallback xmlns="">
          <p:sp>
            <p:nvSpPr>
              <p:cNvPr id="12" name="ZoneTexte 11">
                <a:extLst>
                  <a:ext uri="{FF2B5EF4-FFF2-40B4-BE49-F238E27FC236}">
                    <a16:creationId xmlns:a16="http://schemas.microsoft.com/office/drawing/2014/main" id="{BB37B003-B4CC-AD46-B026-099B90CED5C6}"/>
                  </a:ext>
                </a:extLst>
              </p:cNvPr>
              <p:cNvSpPr txBox="1">
                <a:spLocks noRot="1" noChangeAspect="1" noMove="1" noResize="1" noEditPoints="1" noAdjustHandles="1" noChangeArrowheads="1" noChangeShapeType="1" noTextEdit="1"/>
              </p:cNvSpPr>
              <p:nvPr/>
            </p:nvSpPr>
            <p:spPr>
              <a:xfrm>
                <a:off x="1516688" y="2829835"/>
                <a:ext cx="354330" cy="369332"/>
              </a:xfrm>
              <a:prstGeom prst="rect">
                <a:avLst/>
              </a:prstGeom>
              <a:blipFill>
                <a:blip r:embed="rId4"/>
                <a:stretch>
                  <a:fillRect/>
                </a:stretch>
              </a:blipFill>
            </p:spPr>
            <p:txBody>
              <a:bodyPr/>
              <a:lstStyle/>
              <a:p>
                <a:r>
                  <a:rPr lang="fr-FR">
                    <a:noFill/>
                  </a:rPr>
                  <a:t> </a:t>
                </a:r>
              </a:p>
            </p:txBody>
          </p:sp>
        </mc:Fallback>
      </mc:AlternateContent>
      <p:sp>
        <p:nvSpPr>
          <p:cNvPr id="14" name="Forme libre 13">
            <a:extLst>
              <a:ext uri="{FF2B5EF4-FFF2-40B4-BE49-F238E27FC236}">
                <a16:creationId xmlns:a16="http://schemas.microsoft.com/office/drawing/2014/main" id="{7F05715D-5AD7-6542-A342-F75569F6E0B6}"/>
              </a:ext>
            </a:extLst>
          </p:cNvPr>
          <p:cNvSpPr/>
          <p:nvPr/>
        </p:nvSpPr>
        <p:spPr>
          <a:xfrm rot="5400000">
            <a:off x="2636087" y="2303455"/>
            <a:ext cx="1158699" cy="2594610"/>
          </a:xfrm>
          <a:custGeom>
            <a:avLst/>
            <a:gdLst>
              <a:gd name="connsiteX0" fmla="*/ 1992 w 2630892"/>
              <a:gd name="connsiteY0" fmla="*/ 2594610 h 2594610"/>
              <a:gd name="connsiteX1" fmla="*/ 424902 w 2630892"/>
              <a:gd name="connsiteY1" fmla="*/ 754380 h 2594610"/>
              <a:gd name="connsiteX2" fmla="*/ 2630892 w 2630892"/>
              <a:gd name="connsiteY2" fmla="*/ 0 h 2594610"/>
            </a:gdLst>
            <a:ahLst/>
            <a:cxnLst>
              <a:cxn ang="0">
                <a:pos x="connsiteX0" y="connsiteY0"/>
              </a:cxn>
              <a:cxn ang="0">
                <a:pos x="connsiteX1" y="connsiteY1"/>
              </a:cxn>
              <a:cxn ang="0">
                <a:pos x="connsiteX2" y="connsiteY2"/>
              </a:cxn>
            </a:cxnLst>
            <a:rect l="l" t="t" r="r" b="b"/>
            <a:pathLst>
              <a:path w="2630892" h="2594610">
                <a:moveTo>
                  <a:pt x="1992" y="2594610"/>
                </a:moveTo>
                <a:cubicBezTo>
                  <a:pt x="-5628" y="1890712"/>
                  <a:pt x="-13248" y="1186815"/>
                  <a:pt x="424902" y="754380"/>
                </a:cubicBezTo>
                <a:cubicBezTo>
                  <a:pt x="863052" y="321945"/>
                  <a:pt x="1746972" y="160972"/>
                  <a:pt x="2630892" y="0"/>
                </a:cubicBez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EB3B9F96-E2E8-9348-9481-0186A923D33D}"/>
              </a:ext>
            </a:extLst>
          </p:cNvPr>
          <p:cNvSpPr txBox="1"/>
          <p:nvPr/>
        </p:nvSpPr>
        <p:spPr>
          <a:xfrm>
            <a:off x="7358743" y="3212833"/>
            <a:ext cx="3854086" cy="1938992"/>
          </a:xfrm>
          <a:prstGeom prst="rect">
            <a:avLst/>
          </a:prstGeom>
          <a:noFill/>
        </p:spPr>
        <p:txBody>
          <a:bodyPr wrap="square" rtlCol="0">
            <a:spAutoFit/>
          </a:bodyPr>
          <a:lstStyle/>
          <a:p>
            <a:r>
              <a:rPr lang="fr-FR" sz="2400" dirty="0"/>
              <a:t>Classificateur idéal</a:t>
            </a:r>
          </a:p>
          <a:p>
            <a:endParaRPr lang="fr-FR" sz="2400" dirty="0"/>
          </a:p>
          <a:p>
            <a:r>
              <a:rPr lang="fr-FR" sz="2400" dirty="0"/>
              <a:t>Classificateur “lambda“</a:t>
            </a:r>
          </a:p>
          <a:p>
            <a:endParaRPr lang="fr-FR" sz="2400" dirty="0"/>
          </a:p>
          <a:p>
            <a:r>
              <a:rPr lang="fr-FR" sz="2400" dirty="0"/>
              <a:t>Classificateur “inutile“</a:t>
            </a:r>
          </a:p>
        </p:txBody>
      </p:sp>
      <p:cxnSp>
        <p:nvCxnSpPr>
          <p:cNvPr id="16" name="Connecteur droit 15">
            <a:extLst>
              <a:ext uri="{FF2B5EF4-FFF2-40B4-BE49-F238E27FC236}">
                <a16:creationId xmlns:a16="http://schemas.microsoft.com/office/drawing/2014/main" id="{30D5BDFC-51D6-9842-A85B-50D1DF477829}"/>
              </a:ext>
            </a:extLst>
          </p:cNvPr>
          <p:cNvCxnSpPr>
            <a:cxnSpLocks/>
          </p:cNvCxnSpPr>
          <p:nvPr/>
        </p:nvCxnSpPr>
        <p:spPr>
          <a:xfrm>
            <a:off x="6480000" y="4915141"/>
            <a:ext cx="720000" cy="0"/>
          </a:xfrm>
          <a:prstGeom prst="line">
            <a:avLst/>
          </a:prstGeom>
          <a:ln w="25400">
            <a:solidFill>
              <a:srgbClr val="00B050"/>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C9D6681-C005-7146-BDD6-8336D5F7AE36}"/>
              </a:ext>
            </a:extLst>
          </p:cNvPr>
          <p:cNvCxnSpPr>
            <a:cxnSpLocks/>
          </p:cNvCxnSpPr>
          <p:nvPr/>
        </p:nvCxnSpPr>
        <p:spPr>
          <a:xfrm>
            <a:off x="6480000" y="4186348"/>
            <a:ext cx="720000" cy="0"/>
          </a:xfrm>
          <a:prstGeom prst="line">
            <a:avLst/>
          </a:prstGeom>
          <a:ln w="254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5EFFA3E-B8D6-A941-9B20-45EE140ADBAC}"/>
              </a:ext>
            </a:extLst>
          </p:cNvPr>
          <p:cNvCxnSpPr>
            <a:cxnSpLocks/>
          </p:cNvCxnSpPr>
          <p:nvPr/>
        </p:nvCxnSpPr>
        <p:spPr>
          <a:xfrm>
            <a:off x="6480000" y="3446120"/>
            <a:ext cx="720000" cy="0"/>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660C813-C1EA-E14B-A78D-328C2377FF2F}"/>
              </a:ext>
            </a:extLst>
          </p:cNvPr>
          <p:cNvCxnSpPr>
            <a:cxnSpLocks/>
          </p:cNvCxnSpPr>
          <p:nvPr/>
        </p:nvCxnSpPr>
        <p:spPr>
          <a:xfrm>
            <a:off x="1896359" y="4196682"/>
            <a:ext cx="2610331" cy="0"/>
          </a:xfrm>
          <a:prstGeom prst="line">
            <a:avLst/>
          </a:prstGeom>
          <a:ln w="25400">
            <a:solidFill>
              <a:srgbClr val="00B050"/>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FFC7B379-B939-AA4F-A93C-E9BBC849929D}"/>
                  </a:ext>
                </a:extLst>
              </p:cNvPr>
              <p:cNvSpPr txBox="1">
                <a:spLocks noChangeAspect="1"/>
              </p:cNvSpPr>
              <p:nvPr/>
            </p:nvSpPr>
            <p:spPr>
              <a:xfrm>
                <a:off x="1740966" y="5600361"/>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latin typeface="Cambria Math" panose="02040503050406030204" pitchFamily="18" charset="0"/>
                        </a:rPr>
                        <m:t>0</m:t>
                      </m:r>
                    </m:oMath>
                  </m:oMathPara>
                </a14:m>
                <a:endParaRPr lang="fr-FR" dirty="0"/>
              </a:p>
            </p:txBody>
          </p:sp>
        </mc:Choice>
        <mc:Fallback xmlns="">
          <p:sp>
            <p:nvSpPr>
              <p:cNvPr id="23" name="ZoneTexte 22">
                <a:extLst>
                  <a:ext uri="{FF2B5EF4-FFF2-40B4-BE49-F238E27FC236}">
                    <a16:creationId xmlns:a16="http://schemas.microsoft.com/office/drawing/2014/main" id="{FFC7B379-B939-AA4F-A93C-E9BBC849929D}"/>
                  </a:ext>
                </a:extLst>
              </p:cNvPr>
              <p:cNvSpPr txBox="1">
                <a:spLocks noRot="1" noChangeAspect="1" noMove="1" noResize="1" noEditPoints="1" noAdjustHandles="1" noChangeArrowheads="1" noChangeShapeType="1" noTextEdit="1"/>
              </p:cNvSpPr>
              <p:nvPr/>
            </p:nvSpPr>
            <p:spPr>
              <a:xfrm>
                <a:off x="1740966" y="5600361"/>
                <a:ext cx="354330" cy="369332"/>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4A8B51C6-1E73-324E-A20A-4B2DE6D25153}"/>
                  </a:ext>
                </a:extLst>
              </p:cNvPr>
              <p:cNvSpPr txBox="1">
                <a:spLocks noChangeAspect="1"/>
              </p:cNvSpPr>
              <p:nvPr/>
            </p:nvSpPr>
            <p:spPr>
              <a:xfrm>
                <a:off x="1529358" y="5407739"/>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latin typeface="Cambria Math" panose="02040503050406030204" pitchFamily="18" charset="0"/>
                        </a:rPr>
                        <m:t>0</m:t>
                      </m:r>
                    </m:oMath>
                  </m:oMathPara>
                </a14:m>
                <a:endParaRPr lang="fr-FR" dirty="0"/>
              </a:p>
            </p:txBody>
          </p:sp>
        </mc:Choice>
        <mc:Fallback xmlns="">
          <p:sp>
            <p:nvSpPr>
              <p:cNvPr id="25" name="ZoneTexte 24">
                <a:extLst>
                  <a:ext uri="{FF2B5EF4-FFF2-40B4-BE49-F238E27FC236}">
                    <a16:creationId xmlns:a16="http://schemas.microsoft.com/office/drawing/2014/main" id="{4A8B51C6-1E73-324E-A20A-4B2DE6D25153}"/>
                  </a:ext>
                </a:extLst>
              </p:cNvPr>
              <p:cNvSpPr txBox="1">
                <a:spLocks noRot="1" noChangeAspect="1" noMove="1" noResize="1" noEditPoints="1" noAdjustHandles="1" noChangeArrowheads="1" noChangeShapeType="1" noTextEdit="1"/>
              </p:cNvSpPr>
              <p:nvPr/>
            </p:nvSpPr>
            <p:spPr>
              <a:xfrm>
                <a:off x="1529358" y="5407739"/>
                <a:ext cx="354330" cy="369332"/>
              </a:xfrm>
              <a:prstGeom prst="rect">
                <a:avLst/>
              </a:prstGeom>
              <a:blipFill>
                <a:blip r:embed="rId6"/>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671079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046988"/>
              </a:xfrm>
              <a:prstGeom prst="rect">
                <a:avLst/>
              </a:prstGeom>
              <a:noFill/>
            </p:spPr>
            <p:txBody>
              <a:bodyPr wrap="square" rtlCol="0">
                <a:spAutoFit/>
              </a:bodyPr>
              <a:lstStyle/>
              <a:p>
                <a:r>
                  <a:rPr lang="fr-FR" sz="2400" b="1" dirty="0"/>
                  <a:t>Courbe précision contre rappel : remarques</a:t>
                </a:r>
              </a:p>
              <a:p>
                <a:endParaRPr lang="fr-FR" sz="2400" dirty="0"/>
              </a:p>
              <a:p>
                <a:pPr marL="342900" indent="-342900">
                  <a:buFont typeface="Arial" panose="020B0604020202020204" pitchFamily="34" charset="0"/>
                  <a:buChar char="•"/>
                </a:pPr>
                <a:r>
                  <a:rPr lang="fr-FR" sz="2400" dirty="0"/>
                  <a:t>Le point </a:t>
                </a:r>
                <a14:m>
                  <m:oMath xmlns:m="http://schemas.openxmlformats.org/officeDocument/2006/math">
                    <m:d>
                      <m:dPr>
                        <m:ctrlPr>
                          <a:rPr lang="fr-FR" sz="2400" i="1">
                            <a:latin typeface="Cambria Math" panose="02040503050406030204" pitchFamily="18" charset="0"/>
                          </a:rPr>
                        </m:ctrlPr>
                      </m:dPr>
                      <m:e>
                        <m:r>
                          <a:rPr lang="fr-FR" sz="2400" b="0" i="1" smtClean="0">
                            <a:latin typeface="Cambria Math" panose="02040503050406030204" pitchFamily="18" charset="0"/>
                          </a:rPr>
                          <m:t>1</m:t>
                        </m:r>
                        <m:r>
                          <a:rPr lang="fr-FR" sz="2400" i="1">
                            <a:latin typeface="Cambria Math" panose="02040503050406030204" pitchFamily="18" charset="0"/>
                          </a:rPr>
                          <m:t>,</m:t>
                        </m:r>
                        <m:r>
                          <a:rPr lang="fr-FR" sz="2400" b="0" i="1" smtClean="0">
                            <a:latin typeface="Cambria Math" panose="02040503050406030204" pitchFamily="18" charset="0"/>
                          </a:rPr>
                          <m:t>1</m:t>
                        </m:r>
                      </m:e>
                    </m:d>
                  </m:oMath>
                </a14:m>
                <a:r>
                  <a:rPr lang="fr-FR" sz="2400" dirty="0"/>
                  <a:t> correspond à </a:t>
                </a:r>
                <a14:m>
                  <m:oMath xmlns:m="http://schemas.openxmlformats.org/officeDocument/2006/math">
                    <m:r>
                      <a:rPr lang="fr-FR" sz="2400" i="1">
                        <a:latin typeface="Cambria Math" panose="02040503050406030204" pitchFamily="18" charset="0"/>
                      </a:rPr>
                      <m:t>𝑅𝑎𝑝𝑝𝑒𝑙</m:t>
                    </m:r>
                    <m:r>
                      <a:rPr lang="fr-FR" sz="2400" i="1">
                        <a:latin typeface="Cambria Math" panose="02040503050406030204" pitchFamily="18" charset="0"/>
                      </a:rPr>
                      <m:t>=1</m:t>
                    </m:r>
                  </m:oMath>
                </a14:m>
                <a:r>
                  <a:rPr lang="fr-FR" sz="2400" dirty="0"/>
                  <a:t> et </a:t>
                </a:r>
                <a14:m>
                  <m:oMath xmlns:m="http://schemas.openxmlformats.org/officeDocument/2006/math">
                    <m:r>
                      <a:rPr lang="fr-FR" sz="2400" i="1">
                        <a:latin typeface="Cambria Math" panose="02040503050406030204" pitchFamily="18" charset="0"/>
                      </a:rPr>
                      <m:t>𝑃𝑟</m:t>
                    </m:r>
                    <m:r>
                      <a:rPr lang="fr-FR" sz="2400" i="1">
                        <a:latin typeface="Cambria Math" panose="02040503050406030204" pitchFamily="18" charset="0"/>
                      </a:rPr>
                      <m:t>é</m:t>
                    </m:r>
                    <m:r>
                      <a:rPr lang="fr-FR" sz="2400" i="1">
                        <a:latin typeface="Cambria Math" panose="02040503050406030204" pitchFamily="18" charset="0"/>
                      </a:rPr>
                      <m:t>𝑐𝑖𝑠𝑖𝑜𝑛</m:t>
                    </m:r>
                    <m:r>
                      <a:rPr lang="fr-FR" sz="2400" i="1">
                        <a:latin typeface="Cambria Math" panose="02040503050406030204" pitchFamily="18" charset="0"/>
                      </a:rPr>
                      <m:t>=1</m:t>
                    </m:r>
                  </m:oMath>
                </a14:m>
                <a:r>
                  <a:rPr lang="fr-FR" sz="2400" dirty="0"/>
                  <a:t>, </a:t>
                </a:r>
                <a:r>
                  <a:rPr lang="fr-FR" sz="2400" i="1" dirty="0"/>
                  <a:t>i.e</a:t>
                </a:r>
                <a:r>
                  <a:rPr lang="fr-FR" sz="2400" dirty="0"/>
                  <a:t>. toutes les observations sont correctement classées.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un modèle “inutile“ la précision est constante égale à la proportion de la classe positive.</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2"/>
                <a:stretch>
                  <a:fillRect l="-843" t="-1660" b="-3320"/>
                </a:stretch>
              </a:blipFill>
            </p:spPr>
            <p:txBody>
              <a:bodyPr/>
              <a:lstStyle/>
              <a:p>
                <a:r>
                  <a:rPr lang="fr-FR">
                    <a:noFill/>
                  </a:rPr>
                  <a:t> </a:t>
                </a:r>
              </a:p>
            </p:txBody>
          </p:sp>
        </mc:Fallback>
      </mc:AlternateContent>
      <p:pic>
        <p:nvPicPr>
          <p:cNvPr id="5" name="Graphique 4" descr="Microscope avec un remplissage uni">
            <a:extLst>
              <a:ext uri="{FF2B5EF4-FFF2-40B4-BE49-F238E27FC236}">
                <a16:creationId xmlns:a16="http://schemas.microsoft.com/office/drawing/2014/main" id="{60798CDC-D414-B644-A579-173C666D08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3217886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Courbe précision contre rappel : exemple</a:t>
            </a:r>
          </a:p>
        </p:txBody>
      </p:sp>
      <p:pic>
        <p:nvPicPr>
          <p:cNvPr id="5" name="Image 4">
            <a:extLst>
              <a:ext uri="{FF2B5EF4-FFF2-40B4-BE49-F238E27FC236}">
                <a16:creationId xmlns:a16="http://schemas.microsoft.com/office/drawing/2014/main" id="{4E12D33A-D592-9248-BFD1-85AA96579EE4}"/>
              </a:ext>
            </a:extLst>
          </p:cNvPr>
          <p:cNvPicPr>
            <a:picLocks noChangeAspect="1"/>
          </p:cNvPicPr>
          <p:nvPr/>
        </p:nvPicPr>
        <p:blipFill>
          <a:blip r:embed="rId3"/>
          <a:stretch>
            <a:fillRect/>
          </a:stretch>
        </p:blipFill>
        <p:spPr>
          <a:xfrm>
            <a:off x="1596000" y="2160000"/>
            <a:ext cx="9000000" cy="4500000"/>
          </a:xfrm>
          <a:prstGeom prst="rect">
            <a:avLst/>
          </a:prstGeom>
        </p:spPr>
      </p:pic>
    </p:spTree>
    <p:extLst>
      <p:ext uri="{BB962C8B-B14F-4D97-AF65-F5344CB8AC3E}">
        <p14:creationId xmlns:p14="http://schemas.microsoft.com/office/powerpoint/2010/main" val="259319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046988"/>
          </a:xfrm>
          <a:prstGeom prst="rect">
            <a:avLst/>
          </a:prstGeom>
          <a:noFill/>
        </p:spPr>
        <p:txBody>
          <a:bodyPr wrap="square" rtlCol="0">
            <a:spAutoFit/>
          </a:bodyPr>
          <a:lstStyle/>
          <a:p>
            <a:r>
              <a:rPr lang="fr-FR" sz="2400" b="1" dirty="0"/>
              <a:t>Courbe ROC (Receiver Operating Characteristic) : définition</a:t>
            </a:r>
          </a:p>
          <a:p>
            <a:endParaRPr lang="fr-FR" sz="2400" dirty="0"/>
          </a:p>
          <a:p>
            <a:pPr marL="342900" indent="-342900">
              <a:buFont typeface="Arial" panose="020B0604020202020204" pitchFamily="34" charset="0"/>
              <a:buChar char="•"/>
            </a:pPr>
            <a:r>
              <a:rPr lang="fr-FR" sz="2400" dirty="0"/>
              <a:t>La taux de vrais positifs et de faux positifs dépendent également du seuil du classificateur, on peut donc les calculer pour différentes valeurs de ce seuil.</a:t>
            </a:r>
          </a:p>
          <a:p>
            <a:endParaRPr lang="fr-FR" sz="2400" dirty="0"/>
          </a:p>
          <a:p>
            <a:endParaRPr lang="fr-FR" sz="2400" dirty="0"/>
          </a:p>
          <a:p>
            <a:pPr marL="342900" indent="-342900">
              <a:buFont typeface="Arial" panose="020B0604020202020204" pitchFamily="34" charset="0"/>
              <a:buChar char="•"/>
            </a:pPr>
            <a:r>
              <a:rPr lang="fr-FR" sz="2400" dirty="0"/>
              <a:t>La courbe </a:t>
            </a:r>
            <a:r>
              <a:rPr lang="fr-FR" sz="2400" b="1" dirty="0"/>
              <a:t>ROC </a:t>
            </a:r>
            <a:r>
              <a:rPr lang="fr-FR" sz="2400" dirty="0"/>
              <a:t>représente alors les variations du taux de vrais positifs (</a:t>
            </a:r>
            <a:r>
              <a:rPr lang="fr-FR" sz="2400" i="1" dirty="0"/>
              <a:t>i.e.</a:t>
            </a:r>
            <a:r>
              <a:rPr lang="fr-FR" sz="2400" dirty="0"/>
              <a:t> le rappel) en fonction du taux de faux positifs.</a:t>
            </a:r>
          </a:p>
        </p:txBody>
      </p:sp>
      <p:pic>
        <p:nvPicPr>
          <p:cNvPr id="5" name="Graphique 4" descr="Cailloux empilés avec un remplissage uni">
            <a:extLst>
              <a:ext uri="{FF2B5EF4-FFF2-40B4-BE49-F238E27FC236}">
                <a16:creationId xmlns:a16="http://schemas.microsoft.com/office/drawing/2014/main" id="{09C169E1-1F41-8540-9074-BF36692468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8759627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Courbe ROC (Receiver Operating Characteristic) : visualisation</a:t>
            </a:r>
          </a:p>
        </p:txBody>
      </p:sp>
      <p:sp>
        <p:nvSpPr>
          <p:cNvPr id="4" name="ZoneTexte 3">
            <a:extLst>
              <a:ext uri="{FF2B5EF4-FFF2-40B4-BE49-F238E27FC236}">
                <a16:creationId xmlns:a16="http://schemas.microsoft.com/office/drawing/2014/main" id="{15AD5516-6397-FF48-B190-7918E295857D}"/>
              </a:ext>
            </a:extLst>
          </p:cNvPr>
          <p:cNvSpPr txBox="1"/>
          <p:nvPr/>
        </p:nvSpPr>
        <p:spPr>
          <a:xfrm>
            <a:off x="7358743" y="3212833"/>
            <a:ext cx="3854086" cy="1938992"/>
          </a:xfrm>
          <a:prstGeom prst="rect">
            <a:avLst/>
          </a:prstGeom>
          <a:noFill/>
        </p:spPr>
        <p:txBody>
          <a:bodyPr wrap="square" rtlCol="0">
            <a:spAutoFit/>
          </a:bodyPr>
          <a:lstStyle/>
          <a:p>
            <a:r>
              <a:rPr lang="fr-FR" sz="2400" dirty="0"/>
              <a:t>Classificateur idéal</a:t>
            </a:r>
          </a:p>
          <a:p>
            <a:endParaRPr lang="fr-FR" sz="2400" dirty="0"/>
          </a:p>
          <a:p>
            <a:r>
              <a:rPr lang="fr-FR" sz="2400" dirty="0"/>
              <a:t>Classificateur “lambda“</a:t>
            </a:r>
          </a:p>
          <a:p>
            <a:endParaRPr lang="fr-FR" sz="2400" dirty="0"/>
          </a:p>
          <a:p>
            <a:r>
              <a:rPr lang="fr-FR" sz="2400" dirty="0"/>
              <a:t>Classificateur “inutile“</a:t>
            </a:r>
          </a:p>
        </p:txBody>
      </p:sp>
      <p:cxnSp>
        <p:nvCxnSpPr>
          <p:cNvPr id="5" name="Connecteur droit 4">
            <a:extLst>
              <a:ext uri="{FF2B5EF4-FFF2-40B4-BE49-F238E27FC236}">
                <a16:creationId xmlns:a16="http://schemas.microsoft.com/office/drawing/2014/main" id="{0FC7D4AB-DE7E-CA4D-BF0A-76B70206196D}"/>
              </a:ext>
            </a:extLst>
          </p:cNvPr>
          <p:cNvCxnSpPr>
            <a:cxnSpLocks noChangeAspect="1"/>
          </p:cNvCxnSpPr>
          <p:nvPr/>
        </p:nvCxnSpPr>
        <p:spPr>
          <a:xfrm>
            <a:off x="1872802" y="2719276"/>
            <a:ext cx="0" cy="2880000"/>
          </a:xfrm>
          <a:prstGeom prst="line">
            <a:avLst/>
          </a:prstGeom>
          <a:ln w="317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A94B3B97-7B42-A140-B296-5F5C5A34E1C6}"/>
              </a:ext>
            </a:extLst>
          </p:cNvPr>
          <p:cNvCxnSpPr>
            <a:cxnSpLocks noChangeAspect="1"/>
          </p:cNvCxnSpPr>
          <p:nvPr/>
        </p:nvCxnSpPr>
        <p:spPr>
          <a:xfrm flipH="1">
            <a:off x="1872802" y="5610181"/>
            <a:ext cx="2880000" cy="0"/>
          </a:xfrm>
          <a:prstGeom prst="line">
            <a:avLst/>
          </a:prstGeom>
          <a:ln w="317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84F388A-1957-C24A-B535-751400EF327B}"/>
              </a:ext>
            </a:extLst>
          </p:cNvPr>
          <p:cNvSpPr txBox="1">
            <a:spLocks noChangeAspect="1"/>
          </p:cNvSpPr>
          <p:nvPr/>
        </p:nvSpPr>
        <p:spPr>
          <a:xfrm>
            <a:off x="2129799" y="5780636"/>
            <a:ext cx="2366005" cy="369332"/>
          </a:xfrm>
          <a:prstGeom prst="rect">
            <a:avLst/>
          </a:prstGeom>
          <a:noFill/>
        </p:spPr>
        <p:txBody>
          <a:bodyPr wrap="square" rtlCol="0">
            <a:spAutoFit/>
          </a:bodyPr>
          <a:lstStyle/>
          <a:p>
            <a:r>
              <a:rPr lang="fr-FR" dirty="0"/>
              <a:t>Taux de faux positifs</a:t>
            </a:r>
          </a:p>
        </p:txBody>
      </p:sp>
      <p:sp>
        <p:nvSpPr>
          <p:cNvPr id="8" name="ZoneTexte 7">
            <a:extLst>
              <a:ext uri="{FF2B5EF4-FFF2-40B4-BE49-F238E27FC236}">
                <a16:creationId xmlns:a16="http://schemas.microsoft.com/office/drawing/2014/main" id="{092D1034-0A92-BA4C-93D5-6A7DCCB69A46}"/>
              </a:ext>
            </a:extLst>
          </p:cNvPr>
          <p:cNvSpPr txBox="1">
            <a:spLocks noChangeAspect="1"/>
          </p:cNvSpPr>
          <p:nvPr/>
        </p:nvSpPr>
        <p:spPr>
          <a:xfrm rot="16200000">
            <a:off x="211371" y="3974610"/>
            <a:ext cx="2366005" cy="369332"/>
          </a:xfrm>
          <a:prstGeom prst="rect">
            <a:avLst/>
          </a:prstGeom>
          <a:noFill/>
        </p:spPr>
        <p:txBody>
          <a:bodyPr wrap="square" rtlCol="0">
            <a:spAutoFit/>
          </a:bodyPr>
          <a:lstStyle/>
          <a:p>
            <a:r>
              <a:rPr lang="fr-FR" dirty="0"/>
              <a:t>Taux de vrais positifs</a:t>
            </a:r>
          </a:p>
        </p:txBody>
      </p:sp>
      <p:cxnSp>
        <p:nvCxnSpPr>
          <p:cNvPr id="9" name="Connecteur droit 8">
            <a:extLst>
              <a:ext uri="{FF2B5EF4-FFF2-40B4-BE49-F238E27FC236}">
                <a16:creationId xmlns:a16="http://schemas.microsoft.com/office/drawing/2014/main" id="{1E6D1B8C-33A8-6144-AD78-5468E989FAEE}"/>
              </a:ext>
            </a:extLst>
          </p:cNvPr>
          <p:cNvCxnSpPr>
            <a:cxnSpLocks noChangeAspect="1"/>
          </p:cNvCxnSpPr>
          <p:nvPr/>
        </p:nvCxnSpPr>
        <p:spPr>
          <a:xfrm>
            <a:off x="4495804" y="2984227"/>
            <a:ext cx="0" cy="262595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65A6C324-BB3D-504D-AAC0-7E4C0A095B12}"/>
              </a:ext>
            </a:extLst>
          </p:cNvPr>
          <p:cNvCxnSpPr>
            <a:cxnSpLocks noChangeAspect="1"/>
          </p:cNvCxnSpPr>
          <p:nvPr/>
        </p:nvCxnSpPr>
        <p:spPr>
          <a:xfrm flipH="1">
            <a:off x="1872802" y="2992182"/>
            <a:ext cx="2623002"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C0C6DB52-64FD-2A4E-87E1-39A7D2A8551B}"/>
                  </a:ext>
                </a:extLst>
              </p:cNvPr>
              <p:cNvSpPr txBox="1">
                <a:spLocks noChangeAspect="1"/>
              </p:cNvSpPr>
              <p:nvPr/>
            </p:nvSpPr>
            <p:spPr>
              <a:xfrm>
                <a:off x="4322572" y="5592102"/>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1</m:t>
                      </m:r>
                    </m:oMath>
                  </m:oMathPara>
                </a14:m>
                <a:endParaRPr lang="fr-FR" dirty="0"/>
              </a:p>
            </p:txBody>
          </p:sp>
        </mc:Choice>
        <mc:Fallback xmlns="">
          <p:sp>
            <p:nvSpPr>
              <p:cNvPr id="11" name="ZoneTexte 10">
                <a:extLst>
                  <a:ext uri="{FF2B5EF4-FFF2-40B4-BE49-F238E27FC236}">
                    <a16:creationId xmlns:a16="http://schemas.microsoft.com/office/drawing/2014/main" id="{C0C6DB52-64FD-2A4E-87E1-39A7D2A8551B}"/>
                  </a:ext>
                </a:extLst>
              </p:cNvPr>
              <p:cNvSpPr txBox="1">
                <a:spLocks noRot="1" noChangeAspect="1" noMove="1" noResize="1" noEditPoints="1" noAdjustHandles="1" noChangeArrowheads="1" noChangeShapeType="1" noTextEdit="1"/>
              </p:cNvSpPr>
              <p:nvPr/>
            </p:nvSpPr>
            <p:spPr>
              <a:xfrm>
                <a:off x="4322572" y="5592102"/>
                <a:ext cx="354330" cy="369332"/>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7A351D27-75F0-5F45-8CA0-DEAAF08D9724}"/>
                  </a:ext>
                </a:extLst>
              </p:cNvPr>
              <p:cNvSpPr txBox="1">
                <a:spLocks noChangeAspect="1"/>
              </p:cNvSpPr>
              <p:nvPr/>
            </p:nvSpPr>
            <p:spPr>
              <a:xfrm>
                <a:off x="1521139" y="2799561"/>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1</m:t>
                      </m:r>
                    </m:oMath>
                  </m:oMathPara>
                </a14:m>
                <a:endParaRPr lang="fr-FR" dirty="0"/>
              </a:p>
            </p:txBody>
          </p:sp>
        </mc:Choice>
        <mc:Fallback xmlns="">
          <p:sp>
            <p:nvSpPr>
              <p:cNvPr id="12" name="ZoneTexte 11">
                <a:extLst>
                  <a:ext uri="{FF2B5EF4-FFF2-40B4-BE49-F238E27FC236}">
                    <a16:creationId xmlns:a16="http://schemas.microsoft.com/office/drawing/2014/main" id="{7A351D27-75F0-5F45-8CA0-DEAAF08D9724}"/>
                  </a:ext>
                </a:extLst>
              </p:cNvPr>
              <p:cNvSpPr txBox="1">
                <a:spLocks noRot="1" noChangeAspect="1" noMove="1" noResize="1" noEditPoints="1" noAdjustHandles="1" noChangeArrowheads="1" noChangeShapeType="1" noTextEdit="1"/>
              </p:cNvSpPr>
              <p:nvPr/>
            </p:nvSpPr>
            <p:spPr>
              <a:xfrm>
                <a:off x="1521139" y="2799561"/>
                <a:ext cx="354330" cy="369332"/>
              </a:xfrm>
              <a:prstGeom prst="rect">
                <a:avLst/>
              </a:prstGeom>
              <a:blipFill>
                <a:blip r:embed="rId4"/>
                <a:stretch>
                  <a:fillRect/>
                </a:stretch>
              </a:blipFill>
            </p:spPr>
            <p:txBody>
              <a:bodyPr/>
              <a:lstStyle/>
              <a:p>
                <a:r>
                  <a:rPr lang="fr-FR">
                    <a:noFill/>
                  </a:rPr>
                  <a:t> </a:t>
                </a:r>
              </a:p>
            </p:txBody>
          </p:sp>
        </mc:Fallback>
      </mc:AlternateContent>
      <p:cxnSp>
        <p:nvCxnSpPr>
          <p:cNvPr id="13" name="Connecteur droit 12">
            <a:extLst>
              <a:ext uri="{FF2B5EF4-FFF2-40B4-BE49-F238E27FC236}">
                <a16:creationId xmlns:a16="http://schemas.microsoft.com/office/drawing/2014/main" id="{18BAE311-94EA-E04F-A5BC-B2FB3F788718}"/>
              </a:ext>
            </a:extLst>
          </p:cNvPr>
          <p:cNvCxnSpPr>
            <a:cxnSpLocks noChangeAspect="1"/>
            <a:stCxn id="14" idx="0"/>
          </p:cNvCxnSpPr>
          <p:nvPr/>
        </p:nvCxnSpPr>
        <p:spPr>
          <a:xfrm flipV="1">
            <a:off x="1891097" y="2992184"/>
            <a:ext cx="2604707" cy="2619940"/>
          </a:xfrm>
          <a:prstGeom prst="line">
            <a:avLst/>
          </a:prstGeom>
          <a:ln w="25400">
            <a:solidFill>
              <a:srgbClr val="00B050"/>
            </a:solidFill>
            <a:prstDash val="sysDot"/>
          </a:ln>
        </p:spPr>
        <p:style>
          <a:lnRef idx="1">
            <a:schemeClr val="accent1"/>
          </a:lnRef>
          <a:fillRef idx="0">
            <a:schemeClr val="accent1"/>
          </a:fillRef>
          <a:effectRef idx="0">
            <a:schemeClr val="accent1"/>
          </a:effectRef>
          <a:fontRef idx="minor">
            <a:schemeClr val="tx1"/>
          </a:fontRef>
        </p:style>
      </p:cxnSp>
      <p:sp>
        <p:nvSpPr>
          <p:cNvPr id="14" name="Forme libre 13">
            <a:extLst>
              <a:ext uri="{FF2B5EF4-FFF2-40B4-BE49-F238E27FC236}">
                <a16:creationId xmlns:a16="http://schemas.microsoft.com/office/drawing/2014/main" id="{8EF0DD6F-1E2A-5F4E-B5BC-FF438528552D}"/>
              </a:ext>
            </a:extLst>
          </p:cNvPr>
          <p:cNvSpPr/>
          <p:nvPr/>
        </p:nvSpPr>
        <p:spPr>
          <a:xfrm>
            <a:off x="1889105" y="3017514"/>
            <a:ext cx="2630892" cy="2594610"/>
          </a:xfrm>
          <a:custGeom>
            <a:avLst/>
            <a:gdLst>
              <a:gd name="connsiteX0" fmla="*/ 1992 w 2630892"/>
              <a:gd name="connsiteY0" fmla="*/ 2594610 h 2594610"/>
              <a:gd name="connsiteX1" fmla="*/ 424902 w 2630892"/>
              <a:gd name="connsiteY1" fmla="*/ 754380 h 2594610"/>
              <a:gd name="connsiteX2" fmla="*/ 2630892 w 2630892"/>
              <a:gd name="connsiteY2" fmla="*/ 0 h 2594610"/>
            </a:gdLst>
            <a:ahLst/>
            <a:cxnLst>
              <a:cxn ang="0">
                <a:pos x="connsiteX0" y="connsiteY0"/>
              </a:cxn>
              <a:cxn ang="0">
                <a:pos x="connsiteX1" y="connsiteY1"/>
              </a:cxn>
              <a:cxn ang="0">
                <a:pos x="connsiteX2" y="connsiteY2"/>
              </a:cxn>
            </a:cxnLst>
            <a:rect l="l" t="t" r="r" b="b"/>
            <a:pathLst>
              <a:path w="2630892" h="2594610">
                <a:moveTo>
                  <a:pt x="1992" y="2594610"/>
                </a:moveTo>
                <a:cubicBezTo>
                  <a:pt x="-5628" y="1890712"/>
                  <a:pt x="-13248" y="1186815"/>
                  <a:pt x="424902" y="754380"/>
                </a:cubicBezTo>
                <a:cubicBezTo>
                  <a:pt x="863052" y="321945"/>
                  <a:pt x="1746972" y="160972"/>
                  <a:pt x="2630892" y="0"/>
                </a:cubicBezTo>
              </a:path>
            </a:pathLst>
          </a:cu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5" name="Connecteur droit 14">
            <a:extLst>
              <a:ext uri="{FF2B5EF4-FFF2-40B4-BE49-F238E27FC236}">
                <a16:creationId xmlns:a16="http://schemas.microsoft.com/office/drawing/2014/main" id="{96BE6B65-722B-9441-BDEA-A378C326BBF9}"/>
              </a:ext>
            </a:extLst>
          </p:cNvPr>
          <p:cNvCxnSpPr>
            <a:cxnSpLocks/>
          </p:cNvCxnSpPr>
          <p:nvPr/>
        </p:nvCxnSpPr>
        <p:spPr>
          <a:xfrm>
            <a:off x="6480000" y="4915141"/>
            <a:ext cx="720000" cy="0"/>
          </a:xfrm>
          <a:prstGeom prst="line">
            <a:avLst/>
          </a:prstGeom>
          <a:ln w="25400">
            <a:solidFill>
              <a:srgbClr val="00B050"/>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4145988-966E-2942-BAC5-741C96961601}"/>
              </a:ext>
            </a:extLst>
          </p:cNvPr>
          <p:cNvCxnSpPr>
            <a:cxnSpLocks/>
          </p:cNvCxnSpPr>
          <p:nvPr/>
        </p:nvCxnSpPr>
        <p:spPr>
          <a:xfrm>
            <a:off x="6480000" y="4186348"/>
            <a:ext cx="720000" cy="0"/>
          </a:xfrm>
          <a:prstGeom prst="line">
            <a:avLst/>
          </a:prstGeom>
          <a:ln w="25400">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4ECFB040-E372-1644-99E1-820FC73556ED}"/>
              </a:ext>
            </a:extLst>
          </p:cNvPr>
          <p:cNvCxnSpPr>
            <a:cxnSpLocks/>
          </p:cNvCxnSpPr>
          <p:nvPr/>
        </p:nvCxnSpPr>
        <p:spPr>
          <a:xfrm>
            <a:off x="6480000" y="3446120"/>
            <a:ext cx="720000" cy="0"/>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18D42D4C-5814-9A4E-A07D-63BBBB810631}"/>
                  </a:ext>
                </a:extLst>
              </p:cNvPr>
              <p:cNvSpPr txBox="1">
                <a:spLocks noChangeAspect="1"/>
              </p:cNvSpPr>
              <p:nvPr/>
            </p:nvSpPr>
            <p:spPr>
              <a:xfrm>
                <a:off x="1526624" y="5394435"/>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latin typeface="Cambria Math" panose="02040503050406030204" pitchFamily="18" charset="0"/>
                        </a:rPr>
                        <m:t>0</m:t>
                      </m:r>
                    </m:oMath>
                  </m:oMathPara>
                </a14:m>
                <a:endParaRPr lang="fr-FR" dirty="0"/>
              </a:p>
            </p:txBody>
          </p:sp>
        </mc:Choice>
        <mc:Fallback xmlns="">
          <p:sp>
            <p:nvSpPr>
              <p:cNvPr id="22" name="ZoneTexte 21">
                <a:extLst>
                  <a:ext uri="{FF2B5EF4-FFF2-40B4-BE49-F238E27FC236}">
                    <a16:creationId xmlns:a16="http://schemas.microsoft.com/office/drawing/2014/main" id="{18D42D4C-5814-9A4E-A07D-63BBBB810631}"/>
                  </a:ext>
                </a:extLst>
              </p:cNvPr>
              <p:cNvSpPr txBox="1">
                <a:spLocks noRot="1" noChangeAspect="1" noMove="1" noResize="1" noEditPoints="1" noAdjustHandles="1" noChangeArrowheads="1" noChangeShapeType="1" noTextEdit="1"/>
              </p:cNvSpPr>
              <p:nvPr/>
            </p:nvSpPr>
            <p:spPr>
              <a:xfrm>
                <a:off x="1526624" y="5394435"/>
                <a:ext cx="354330" cy="369332"/>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5B08FAFC-BAE1-2045-81E0-E8CC78560771}"/>
                  </a:ext>
                </a:extLst>
              </p:cNvPr>
              <p:cNvSpPr txBox="1">
                <a:spLocks noChangeAspect="1"/>
              </p:cNvSpPr>
              <p:nvPr/>
            </p:nvSpPr>
            <p:spPr>
              <a:xfrm>
                <a:off x="1740966" y="5567770"/>
                <a:ext cx="3543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latin typeface="Cambria Math" panose="02040503050406030204" pitchFamily="18" charset="0"/>
                        </a:rPr>
                        <m:t>0</m:t>
                      </m:r>
                    </m:oMath>
                  </m:oMathPara>
                </a14:m>
                <a:endParaRPr lang="fr-FR" dirty="0"/>
              </a:p>
            </p:txBody>
          </p:sp>
        </mc:Choice>
        <mc:Fallback xmlns="">
          <p:sp>
            <p:nvSpPr>
              <p:cNvPr id="23" name="ZoneTexte 22">
                <a:extLst>
                  <a:ext uri="{FF2B5EF4-FFF2-40B4-BE49-F238E27FC236}">
                    <a16:creationId xmlns:a16="http://schemas.microsoft.com/office/drawing/2014/main" id="{5B08FAFC-BAE1-2045-81E0-E8CC78560771}"/>
                  </a:ext>
                </a:extLst>
              </p:cNvPr>
              <p:cNvSpPr txBox="1">
                <a:spLocks noRot="1" noChangeAspect="1" noMove="1" noResize="1" noEditPoints="1" noAdjustHandles="1" noChangeArrowheads="1" noChangeShapeType="1" noTextEdit="1"/>
              </p:cNvSpPr>
              <p:nvPr/>
            </p:nvSpPr>
            <p:spPr>
              <a:xfrm>
                <a:off x="1740966" y="5567770"/>
                <a:ext cx="354330" cy="369332"/>
              </a:xfrm>
              <a:prstGeom prst="rect">
                <a:avLst/>
              </a:prstGeom>
              <a:blipFill>
                <a:blip r:embed="rId6"/>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021706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524315"/>
              </a:xfrm>
              <a:prstGeom prst="rect">
                <a:avLst/>
              </a:prstGeom>
              <a:noFill/>
            </p:spPr>
            <p:txBody>
              <a:bodyPr wrap="square" rtlCol="0">
                <a:spAutoFit/>
              </a:bodyPr>
              <a:lstStyle/>
              <a:p>
                <a:r>
                  <a:rPr lang="fr-FR" sz="2400" b="1" dirty="0"/>
                  <a:t>Courbe ROC (Receiver Operating Characteristic) : remarques </a:t>
                </a:r>
              </a:p>
              <a:p>
                <a:endParaRPr lang="fr-FR" sz="2400" dirty="0"/>
              </a:p>
              <a:p>
                <a:pPr marL="342900" indent="-342900">
                  <a:buFont typeface="Arial" panose="020B0604020202020204" pitchFamily="34" charset="0"/>
                  <a:buChar char="•"/>
                </a:pPr>
                <a:r>
                  <a:rPr lang="fr-FR" sz="2400" dirty="0"/>
                  <a:t>Le point </a:t>
                </a:r>
                <a14:m>
                  <m:oMath xmlns:m="http://schemas.openxmlformats.org/officeDocument/2006/math">
                    <m:d>
                      <m:dPr>
                        <m:ctrlPr>
                          <a:rPr lang="fr-FR" sz="2400" i="1" smtClean="0">
                            <a:latin typeface="Cambria Math" panose="02040503050406030204" pitchFamily="18" charset="0"/>
                          </a:rPr>
                        </m:ctrlPr>
                      </m:dPr>
                      <m:e>
                        <m:r>
                          <a:rPr lang="fr-FR" sz="2400" b="0" i="1" smtClean="0">
                            <a:latin typeface="Cambria Math" panose="02040503050406030204" pitchFamily="18" charset="0"/>
                          </a:rPr>
                          <m:t>0,0</m:t>
                        </m:r>
                      </m:e>
                    </m:d>
                  </m:oMath>
                </a14:m>
                <a:r>
                  <a:rPr lang="fr-FR" sz="2400" dirty="0"/>
                  <a:t> correspond à </a:t>
                </a:r>
                <a14:m>
                  <m:oMath xmlns:m="http://schemas.openxmlformats.org/officeDocument/2006/math">
                    <m:r>
                      <a:rPr lang="fr-FR" sz="2400" b="0" i="1" smtClean="0">
                        <a:latin typeface="Cambria Math" panose="02040503050406030204" pitchFamily="18" charset="0"/>
                      </a:rPr>
                      <m:t>𝑇𝐹𝑃</m:t>
                    </m:r>
                    <m:r>
                      <a:rPr lang="fr-FR" sz="2400" b="0" i="1" smtClean="0">
                        <a:latin typeface="Cambria Math" panose="02040503050406030204" pitchFamily="18" charset="0"/>
                      </a:rPr>
                      <m:t>=0</m:t>
                    </m:r>
                  </m:oMath>
                </a14:m>
                <a:r>
                  <a:rPr lang="fr-FR" sz="2400" dirty="0"/>
                  <a:t> et </a:t>
                </a:r>
                <a14:m>
                  <m:oMath xmlns:m="http://schemas.openxmlformats.org/officeDocument/2006/math">
                    <m:r>
                      <a:rPr lang="fr-FR" sz="2400" b="0" i="1" smtClean="0">
                        <a:latin typeface="Cambria Math" panose="02040503050406030204" pitchFamily="18" charset="0"/>
                      </a:rPr>
                      <m:t>𝑇𝑉𝑃</m:t>
                    </m:r>
                    <m:r>
                      <a:rPr lang="fr-FR" sz="2400" b="0" i="1" smtClean="0">
                        <a:latin typeface="Cambria Math" panose="02040503050406030204" pitchFamily="18" charset="0"/>
                      </a:rPr>
                      <m:t>=0</m:t>
                    </m:r>
                  </m:oMath>
                </a14:m>
                <a:r>
                  <a:rPr lang="fr-FR" sz="2400" dirty="0"/>
                  <a:t>, </a:t>
                </a:r>
                <a:r>
                  <a:rPr lang="fr-FR" sz="2400" i="1" dirty="0"/>
                  <a:t>i.e.</a:t>
                </a:r>
                <a:r>
                  <a:rPr lang="fr-FR" sz="2400" dirty="0"/>
                  <a:t> toutes les observations sont affectées à la classe négative.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point </a:t>
                </a:r>
                <a14:m>
                  <m:oMath xmlns:m="http://schemas.openxmlformats.org/officeDocument/2006/math">
                    <m:d>
                      <m:dPr>
                        <m:ctrlPr>
                          <a:rPr lang="fr-FR" sz="2400" i="1">
                            <a:latin typeface="Cambria Math" panose="02040503050406030204" pitchFamily="18" charset="0"/>
                          </a:rPr>
                        </m:ctrlPr>
                      </m:dPr>
                      <m:e>
                        <m:r>
                          <a:rPr lang="fr-FR" sz="2400" b="0" i="1" smtClean="0">
                            <a:latin typeface="Cambria Math" panose="02040503050406030204" pitchFamily="18" charset="0"/>
                          </a:rPr>
                          <m:t>1</m:t>
                        </m:r>
                        <m:r>
                          <a:rPr lang="fr-FR" sz="2400" i="1">
                            <a:latin typeface="Cambria Math" panose="02040503050406030204" pitchFamily="18" charset="0"/>
                          </a:rPr>
                          <m:t>,</m:t>
                        </m:r>
                        <m:r>
                          <a:rPr lang="fr-FR" sz="2400" b="0" i="1" smtClean="0">
                            <a:latin typeface="Cambria Math" panose="02040503050406030204" pitchFamily="18" charset="0"/>
                          </a:rPr>
                          <m:t>1</m:t>
                        </m:r>
                      </m:e>
                    </m:d>
                  </m:oMath>
                </a14:m>
                <a:r>
                  <a:rPr lang="fr-FR" sz="2400" dirty="0"/>
                  <a:t> correspond à </a:t>
                </a:r>
                <a14:m>
                  <m:oMath xmlns:m="http://schemas.openxmlformats.org/officeDocument/2006/math">
                    <m:r>
                      <a:rPr lang="fr-FR" sz="2400" i="1">
                        <a:latin typeface="Cambria Math" panose="02040503050406030204" pitchFamily="18" charset="0"/>
                      </a:rPr>
                      <m:t>𝑇𝐹𝑃</m:t>
                    </m:r>
                    <m:r>
                      <a:rPr lang="fr-FR" sz="2400" i="1">
                        <a:latin typeface="Cambria Math" panose="02040503050406030204" pitchFamily="18" charset="0"/>
                      </a:rPr>
                      <m:t>=1</m:t>
                    </m:r>
                  </m:oMath>
                </a14:m>
                <a:r>
                  <a:rPr lang="fr-FR" sz="2400" dirty="0"/>
                  <a:t> et </a:t>
                </a:r>
                <a14:m>
                  <m:oMath xmlns:m="http://schemas.openxmlformats.org/officeDocument/2006/math">
                    <m:r>
                      <a:rPr lang="fr-FR" sz="2400" i="1">
                        <a:latin typeface="Cambria Math" panose="02040503050406030204" pitchFamily="18" charset="0"/>
                      </a:rPr>
                      <m:t>𝑇𝑉𝑃</m:t>
                    </m:r>
                    <m:r>
                      <a:rPr lang="fr-FR" sz="2400" i="1">
                        <a:latin typeface="Cambria Math" panose="02040503050406030204" pitchFamily="18" charset="0"/>
                      </a:rPr>
                      <m:t>=1</m:t>
                    </m:r>
                  </m:oMath>
                </a14:m>
                <a:r>
                  <a:rPr lang="fr-FR" sz="2400" dirty="0"/>
                  <a:t>, </a:t>
                </a:r>
                <a:r>
                  <a:rPr lang="fr-FR" sz="2400" i="1" dirty="0"/>
                  <a:t>i.e.</a:t>
                </a:r>
                <a:r>
                  <a:rPr lang="fr-FR" sz="2400" dirty="0"/>
                  <a:t> toutes les observations sont affectées à la classe positive.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point </a:t>
                </a:r>
                <a14:m>
                  <m:oMath xmlns:m="http://schemas.openxmlformats.org/officeDocument/2006/math">
                    <m:d>
                      <m:dPr>
                        <m:ctrlPr>
                          <a:rPr lang="fr-FR" sz="2400" i="1">
                            <a:latin typeface="Cambria Math" panose="02040503050406030204" pitchFamily="18" charset="0"/>
                          </a:rPr>
                        </m:ctrlPr>
                      </m:dPr>
                      <m:e>
                        <m:r>
                          <a:rPr lang="fr-FR" sz="2400" i="1">
                            <a:latin typeface="Cambria Math" panose="02040503050406030204" pitchFamily="18" charset="0"/>
                          </a:rPr>
                          <m:t>0,</m:t>
                        </m:r>
                        <m:r>
                          <a:rPr lang="fr-FR" sz="2400" b="0" i="1" smtClean="0">
                            <a:latin typeface="Cambria Math" panose="02040503050406030204" pitchFamily="18" charset="0"/>
                          </a:rPr>
                          <m:t>1</m:t>
                        </m:r>
                      </m:e>
                    </m:d>
                  </m:oMath>
                </a14:m>
                <a:r>
                  <a:rPr lang="fr-FR" sz="2400" dirty="0"/>
                  <a:t> correspond à </a:t>
                </a:r>
                <a14:m>
                  <m:oMath xmlns:m="http://schemas.openxmlformats.org/officeDocument/2006/math">
                    <m:r>
                      <a:rPr lang="fr-FR" sz="2400" i="1">
                        <a:latin typeface="Cambria Math" panose="02040503050406030204" pitchFamily="18" charset="0"/>
                      </a:rPr>
                      <m:t>𝑇𝐹𝑃</m:t>
                    </m:r>
                    <m:r>
                      <a:rPr lang="fr-FR" sz="2400" i="1">
                        <a:latin typeface="Cambria Math" panose="02040503050406030204" pitchFamily="18" charset="0"/>
                      </a:rPr>
                      <m:t>=0</m:t>
                    </m:r>
                  </m:oMath>
                </a14:m>
                <a:r>
                  <a:rPr lang="fr-FR" sz="2400" dirty="0"/>
                  <a:t> et </a:t>
                </a:r>
                <a14:m>
                  <m:oMath xmlns:m="http://schemas.openxmlformats.org/officeDocument/2006/math">
                    <m:r>
                      <a:rPr lang="fr-FR" sz="2400" i="1">
                        <a:latin typeface="Cambria Math" panose="02040503050406030204" pitchFamily="18" charset="0"/>
                      </a:rPr>
                      <m:t>𝑇𝑉𝑃</m:t>
                    </m:r>
                    <m:r>
                      <a:rPr lang="fr-FR" sz="2400" i="1">
                        <a:latin typeface="Cambria Math" panose="02040503050406030204" pitchFamily="18" charset="0"/>
                      </a:rPr>
                      <m:t>=1</m:t>
                    </m:r>
                  </m:oMath>
                </a14:m>
                <a:r>
                  <a:rPr lang="fr-FR" sz="2400" dirty="0"/>
                  <a:t>, </a:t>
                </a:r>
                <a:r>
                  <a:rPr lang="fr-FR" sz="2400" i="1" dirty="0"/>
                  <a:t>i.e</a:t>
                </a:r>
                <a:r>
                  <a:rPr lang="fr-FR" sz="2400" dirty="0"/>
                  <a:t>. toutes les observations sont correctement classées.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classificateur “inutile“ vérifie toujours </a:t>
                </a:r>
                <a14:m>
                  <m:oMath xmlns:m="http://schemas.openxmlformats.org/officeDocument/2006/math">
                    <m:r>
                      <a:rPr lang="fr-FR" sz="2400" b="0" i="1" smtClean="0">
                        <a:latin typeface="Cambria Math" panose="02040503050406030204" pitchFamily="18" charset="0"/>
                      </a:rPr>
                      <m:t>𝑇𝐹𝑃</m:t>
                    </m:r>
                    <m:r>
                      <a:rPr lang="fr-FR" sz="2400" b="0" i="1" smtClean="0">
                        <a:latin typeface="Cambria Math" panose="02040503050406030204" pitchFamily="18" charset="0"/>
                      </a:rPr>
                      <m:t>=</m:t>
                    </m:r>
                    <m:r>
                      <a:rPr lang="fr-FR" sz="2400" b="0" i="1" smtClean="0">
                        <a:latin typeface="Cambria Math" panose="02040503050406030204" pitchFamily="18" charset="0"/>
                      </a:rPr>
                      <m:t>𝑇𝑉𝑃</m:t>
                    </m:r>
                  </m:oMath>
                </a14:m>
                <a:r>
                  <a:rPr lang="fr-FR" sz="2400" dirty="0"/>
                  <a:t>.</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4524315"/>
              </a:xfrm>
              <a:prstGeom prst="rect">
                <a:avLst/>
              </a:prstGeom>
              <a:blipFill>
                <a:blip r:embed="rId2"/>
                <a:stretch>
                  <a:fillRect l="-843" t="-1120" b="-2241"/>
                </a:stretch>
              </a:blipFill>
            </p:spPr>
            <p:txBody>
              <a:bodyPr/>
              <a:lstStyle/>
              <a:p>
                <a:r>
                  <a:rPr lang="fr-FR">
                    <a:noFill/>
                  </a:rPr>
                  <a:t> </a:t>
                </a:r>
              </a:p>
            </p:txBody>
          </p:sp>
        </mc:Fallback>
      </mc:AlternateContent>
    </p:spTree>
    <p:extLst>
      <p:ext uri="{BB962C8B-B14F-4D97-AF65-F5344CB8AC3E}">
        <p14:creationId xmlns:p14="http://schemas.microsoft.com/office/powerpoint/2010/main" val="34399090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Courbe ROC (Receiver Operating Characteristic) : exemple</a:t>
            </a:r>
          </a:p>
        </p:txBody>
      </p:sp>
      <p:pic>
        <p:nvPicPr>
          <p:cNvPr id="6" name="Image 5">
            <a:extLst>
              <a:ext uri="{FF2B5EF4-FFF2-40B4-BE49-F238E27FC236}">
                <a16:creationId xmlns:a16="http://schemas.microsoft.com/office/drawing/2014/main" id="{1EE31C4B-76E1-1142-BCC3-A10AEC73B6AB}"/>
              </a:ext>
            </a:extLst>
          </p:cNvPr>
          <p:cNvPicPr>
            <a:picLocks noChangeAspect="1"/>
          </p:cNvPicPr>
          <p:nvPr/>
        </p:nvPicPr>
        <p:blipFill>
          <a:blip r:embed="rId2"/>
          <a:stretch>
            <a:fillRect/>
          </a:stretch>
        </p:blipFill>
        <p:spPr>
          <a:xfrm>
            <a:off x="1609200" y="2160000"/>
            <a:ext cx="9000000" cy="4500000"/>
          </a:xfrm>
          <a:prstGeom prst="rect">
            <a:avLst/>
          </a:prstGeom>
        </p:spPr>
      </p:pic>
    </p:spTree>
    <p:extLst>
      <p:ext uri="{BB962C8B-B14F-4D97-AF65-F5344CB8AC3E}">
        <p14:creationId xmlns:p14="http://schemas.microsoft.com/office/powerpoint/2010/main" val="2018672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Classification binaire.</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16320"/>
              </a:xfrm>
              <a:prstGeom prst="rect">
                <a:avLst/>
              </a:prstGeom>
              <a:noFill/>
            </p:spPr>
            <p:txBody>
              <a:bodyPr wrap="square" rtlCol="0">
                <a:spAutoFit/>
              </a:bodyPr>
              <a:lstStyle/>
              <a:p>
                <a:r>
                  <a:rPr lang="fr-FR" sz="2400" b="1" dirty="0"/>
                  <a:t>Aires en dessous des courbes (AUC) : principe</a:t>
                </a:r>
              </a:p>
              <a:p>
                <a:endParaRPr lang="fr-FR" sz="2400" dirty="0"/>
              </a:p>
              <a:p>
                <a:pPr marL="342900" indent="-342900">
                  <a:buFont typeface="Arial" panose="020B0604020202020204" pitchFamily="34" charset="0"/>
                  <a:buChar char="•"/>
                </a:pPr>
                <a:r>
                  <a:rPr lang="fr-FR" sz="2400" dirty="0"/>
                  <a:t>Que cela soit pour la courbe précision contre rappel ou pour la courbe ROC, le classificateur idéal définit une surface égale à </a:t>
                </a:r>
                <a14:m>
                  <m:oMath xmlns:m="http://schemas.openxmlformats.org/officeDocument/2006/math">
                    <m:r>
                      <a:rPr lang="fr-FR" sz="2400" b="0" i="1" smtClean="0">
                        <a:latin typeface="Cambria Math" panose="02040503050406030204" pitchFamily="18" charset="0"/>
                      </a:rPr>
                      <m:t>1</m:t>
                    </m:r>
                  </m:oMath>
                </a14:m>
                <a:r>
                  <a:rPr lang="fr-FR" sz="2400" dirty="0"/>
                  <a:t> (aire d’un carré).</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Deux bonnes mesures de la qualité d’un classificateur sont alors les valeurs de l’aire en-dessous sa courbe précision contre rappel et de l’aire en dessous sa courbe ROC.</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b="-3333"/>
                </a:stretch>
              </a:blipFill>
            </p:spPr>
            <p:txBody>
              <a:bodyPr/>
              <a:lstStyle/>
              <a:p>
                <a:r>
                  <a:rPr lang="fr-FR">
                    <a:noFill/>
                  </a:rPr>
                  <a:t> </a:t>
                </a:r>
              </a:p>
            </p:txBody>
          </p:sp>
        </mc:Fallback>
      </mc:AlternateContent>
      <p:pic>
        <p:nvPicPr>
          <p:cNvPr id="5" name="Graphique 4" descr="Distribution normale avec un remplissage uni">
            <a:extLst>
              <a:ext uri="{FF2B5EF4-FFF2-40B4-BE49-F238E27FC236}">
                <a16:creationId xmlns:a16="http://schemas.microsoft.com/office/drawing/2014/main" id="{140EDE23-E142-6A42-8BC3-083093D855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753846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2. Classification binaire.</a:t>
            </a:r>
          </a:p>
        </p:txBody>
      </p:sp>
    </p:spTree>
    <p:extLst>
      <p:ext uri="{BB962C8B-B14F-4D97-AF65-F5344CB8AC3E}">
        <p14:creationId xmlns:p14="http://schemas.microsoft.com/office/powerpoint/2010/main" val="1184467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800" dirty="0">
                <a:solidFill>
                  <a:schemeClr val="bg1"/>
                </a:solidFill>
              </a:rPr>
              <a:t>3. Classification multi-classes.</a:t>
            </a:r>
          </a:p>
        </p:txBody>
      </p:sp>
    </p:spTree>
    <p:extLst>
      <p:ext uri="{BB962C8B-B14F-4D97-AF65-F5344CB8AC3E}">
        <p14:creationId xmlns:p14="http://schemas.microsoft.com/office/powerpoint/2010/main" val="2964092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046988"/>
              </a:xfrm>
              <a:prstGeom prst="rect">
                <a:avLst/>
              </a:prstGeom>
              <a:noFill/>
            </p:spPr>
            <p:txBody>
              <a:bodyPr wrap="square" rtlCol="0">
                <a:spAutoFit/>
              </a:bodyPr>
              <a:lstStyle/>
              <a:p>
                <a:r>
                  <a:rPr lang="fr-FR" sz="2400" b="1" dirty="0"/>
                  <a:t>Hypothèse pour cette partie</a:t>
                </a:r>
              </a:p>
              <a:p>
                <a:endParaRPr lang="fr-FR" sz="2400" dirty="0"/>
              </a:p>
              <a:p>
                <a:pPr marL="342900" indent="-342900">
                  <a:buFont typeface="Arial" panose="020B0604020202020204" pitchFamily="34" charset="0"/>
                  <a:buChar char="•"/>
                </a:pPr>
                <a:r>
                  <a:rPr lang="fr-FR" sz="2400" dirty="0"/>
                  <a:t>Dans la suite de cette partie nous ne considèrerons que des algorithmes de classification multi-classes, </a:t>
                </a:r>
                <a:r>
                  <a:rPr lang="fr-FR" sz="2400" i="1" dirty="0"/>
                  <a:t>i.e.</a:t>
                </a:r>
                <a:r>
                  <a:rPr lang="fr-FR" sz="2400" dirty="0"/>
                  <a:t> traitant des jeux de données dont la variable cible prend au moins trois valeurs.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Soit </a:t>
                </a:r>
                <a14:m>
                  <m:oMath xmlns:m="http://schemas.openxmlformats.org/officeDocument/2006/math">
                    <m:r>
                      <a:rPr lang="fr-FR" sz="2400" b="0" i="1" smtClean="0">
                        <a:latin typeface="Cambria Math" panose="02040503050406030204" pitchFamily="18" charset="0"/>
                      </a:rPr>
                      <m:t>𝑁</m:t>
                    </m:r>
                    <m:r>
                      <a:rPr lang="fr-FR" sz="2400" b="0" i="1" smtClean="0">
                        <a:latin typeface="Cambria Math" panose="02040503050406030204" pitchFamily="18" charset="0"/>
                      </a:rPr>
                      <m:t>≥3</m:t>
                    </m:r>
                  </m:oMath>
                </a14:m>
                <a:r>
                  <a:rPr lang="fr-FR" sz="2400" dirty="0"/>
                  <a:t> ce nombre de classes.</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046988"/>
              </a:xfrm>
              <a:prstGeom prst="rect">
                <a:avLst/>
              </a:prstGeom>
              <a:blipFill>
                <a:blip r:embed="rId2"/>
                <a:stretch>
                  <a:fillRect l="-843" t="-1660" r="-1325" b="-3320"/>
                </a:stretch>
              </a:blipFill>
            </p:spPr>
            <p:txBody>
              <a:bodyPr/>
              <a:lstStyle/>
              <a:p>
                <a:r>
                  <a:rPr lang="fr-FR">
                    <a:noFill/>
                  </a:rPr>
                  <a:t> </a:t>
                </a:r>
              </a:p>
            </p:txBody>
          </p:sp>
        </mc:Fallback>
      </mc:AlternateContent>
      <p:pic>
        <p:nvPicPr>
          <p:cNvPr id="4" name="Graphique 3" descr="Avertissement">
            <a:extLst>
              <a:ext uri="{FF2B5EF4-FFF2-40B4-BE49-F238E27FC236}">
                <a16:creationId xmlns:a16="http://schemas.microsoft.com/office/drawing/2014/main" id="{51E04B47-87A8-D448-8141-670E04A93A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709751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16320"/>
          </a:xfrm>
          <a:prstGeom prst="rect">
            <a:avLst/>
          </a:prstGeom>
          <a:noFill/>
        </p:spPr>
        <p:txBody>
          <a:bodyPr wrap="square" rtlCol="0">
            <a:spAutoFit/>
          </a:bodyPr>
          <a:lstStyle/>
          <a:p>
            <a:r>
              <a:rPr lang="fr-FR" sz="2400" b="1" dirty="0"/>
              <a:t>Classification multi-classe : principe</a:t>
            </a:r>
          </a:p>
          <a:p>
            <a:endParaRPr lang="fr-FR" sz="2400" dirty="0"/>
          </a:p>
          <a:p>
            <a:pPr marL="342900" indent="-342900">
              <a:buFont typeface="Arial" panose="020B0604020202020204" pitchFamily="34" charset="0"/>
              <a:buChar char="•"/>
            </a:pPr>
            <a:r>
              <a:rPr lang="fr-FR" sz="2400" dirty="0"/>
              <a:t>On pourra au choix :</a:t>
            </a:r>
          </a:p>
          <a:p>
            <a:pPr marL="342900"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Utiliser un algorithme gérant nativement la classification multi-classes (voir lesquels dans la suite du cours).</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r>
              <a:rPr lang="fr-FR" sz="2400" dirty="0"/>
              <a:t>Utiliser plusieurs fois un algorithme ne traitant que la classification binaire, en adoptant une stratégie adaptée : “Un contre Tous“ ou “Un contre Un“.</a:t>
            </a:r>
          </a:p>
        </p:txBody>
      </p:sp>
    </p:spTree>
    <p:extLst>
      <p:ext uri="{BB962C8B-B14F-4D97-AF65-F5344CB8AC3E}">
        <p14:creationId xmlns:p14="http://schemas.microsoft.com/office/powerpoint/2010/main" val="1588516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785652"/>
              </a:xfrm>
              <a:prstGeom prst="rect">
                <a:avLst/>
              </a:prstGeom>
              <a:noFill/>
            </p:spPr>
            <p:txBody>
              <a:bodyPr wrap="square" rtlCol="0">
                <a:spAutoFit/>
              </a:bodyPr>
              <a:lstStyle/>
              <a:p>
                <a:r>
                  <a:rPr lang="fr-FR" sz="2400" b="1" dirty="0"/>
                  <a:t>Classification “Un contre Tous“ (One vs All / One vs The Rest) : principe </a:t>
                </a:r>
              </a:p>
              <a:p>
                <a:endParaRPr lang="fr-FR" sz="2400" dirty="0"/>
              </a:p>
              <a:p>
                <a:pPr marL="342900" indent="-342900">
                  <a:buFont typeface="Arial" panose="020B0604020202020204" pitchFamily="34" charset="0"/>
                  <a:buChar char="•"/>
                </a:pPr>
                <a:r>
                  <a:rPr lang="fr-FR" sz="2400" dirty="0"/>
                  <a:t>On entraîne </a:t>
                </a:r>
                <a14:m>
                  <m:oMath xmlns:m="http://schemas.openxmlformats.org/officeDocument/2006/math">
                    <m:r>
                      <a:rPr lang="fr-FR" sz="2400" b="0" i="1" smtClean="0">
                        <a:latin typeface="Cambria Math" panose="02040503050406030204" pitchFamily="18" charset="0"/>
                      </a:rPr>
                      <m:t>𝑁</m:t>
                    </m:r>
                  </m:oMath>
                </a14:m>
                <a:r>
                  <a:rPr lang="fr-FR" sz="2400" dirty="0"/>
                  <a:t> classificateurs binaires, un pour chacune des classes.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Le </a:t>
                </a:r>
                <a14:m>
                  <m:oMath xmlns:m="http://schemas.openxmlformats.org/officeDocument/2006/math">
                    <m:r>
                      <a:rPr lang="fr-FR" sz="2400" b="0" i="1" smtClean="0">
                        <a:latin typeface="Cambria Math" panose="02040503050406030204" pitchFamily="18" charset="0"/>
                      </a:rPr>
                      <m:t>𝑖</m:t>
                    </m:r>
                  </m:oMath>
                </a14:m>
                <a:r>
                  <a:rPr lang="fr-FR" sz="2400" dirty="0"/>
                  <a:t>-ème algorithme est entraîné pour la classification binaire entre la </a:t>
                </a:r>
                <a14:m>
                  <m:oMath xmlns:m="http://schemas.openxmlformats.org/officeDocument/2006/math">
                    <m:r>
                      <a:rPr lang="fr-FR" sz="2400" b="0" i="1" smtClean="0">
                        <a:latin typeface="Cambria Math" panose="02040503050406030204" pitchFamily="18" charset="0"/>
                      </a:rPr>
                      <m:t>𝑖</m:t>
                    </m:r>
                  </m:oMath>
                </a14:m>
                <a:r>
                  <a:rPr lang="fr-FR" sz="2400" dirty="0"/>
                  <a:t>-ème classe et la réunion de toutes les autres. Il calcule ainsi un score mesurant l’appartenance à la </a:t>
                </a:r>
                <a14:m>
                  <m:oMath xmlns:m="http://schemas.openxmlformats.org/officeDocument/2006/math">
                    <m:r>
                      <a:rPr lang="fr-FR" sz="2400" i="1">
                        <a:latin typeface="Cambria Math" panose="02040503050406030204" pitchFamily="18" charset="0"/>
                      </a:rPr>
                      <m:t>𝑖</m:t>
                    </m:r>
                  </m:oMath>
                </a14:m>
                <a:r>
                  <a:rPr lang="fr-FR" sz="2400" dirty="0"/>
                  <a:t>-ème classe.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Une observation sera alors classée dans la classe dont le classificateur retourne le score maximal.</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785652"/>
              </a:xfrm>
              <a:prstGeom prst="rect">
                <a:avLst/>
              </a:prstGeom>
              <a:blipFill>
                <a:blip r:embed="rId2"/>
                <a:stretch>
                  <a:fillRect l="-843" t="-1338" b="-3010"/>
                </a:stretch>
              </a:blipFill>
            </p:spPr>
            <p:txBody>
              <a:bodyPr/>
              <a:lstStyle/>
              <a:p>
                <a:r>
                  <a:rPr lang="fr-FR">
                    <a:noFill/>
                  </a:rPr>
                  <a:t> </a:t>
                </a:r>
              </a:p>
            </p:txBody>
          </p:sp>
        </mc:Fallback>
      </mc:AlternateContent>
    </p:spTree>
    <p:extLst>
      <p:ext uri="{BB962C8B-B14F-4D97-AF65-F5344CB8AC3E}">
        <p14:creationId xmlns:p14="http://schemas.microsoft.com/office/powerpoint/2010/main" val="31260287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16320"/>
              </a:xfrm>
              <a:prstGeom prst="rect">
                <a:avLst/>
              </a:prstGeom>
              <a:noFill/>
            </p:spPr>
            <p:txBody>
              <a:bodyPr wrap="square" rtlCol="0">
                <a:spAutoFit/>
              </a:bodyPr>
              <a:lstStyle/>
              <a:p>
                <a:r>
                  <a:rPr lang="fr-FR" sz="2400" b="1" dirty="0"/>
                  <a:t>Classification “Un contre Tous“ (One vs All / One vs The Rest) : remarques</a:t>
                </a:r>
              </a:p>
              <a:p>
                <a:endParaRPr lang="fr-FR" sz="2400" dirty="0"/>
              </a:p>
              <a:p>
                <a:pPr marL="342900" indent="-342900">
                  <a:buFont typeface="Arial" panose="020B0604020202020204" pitchFamily="34" charset="0"/>
                  <a:buChar char="•"/>
                </a:pPr>
                <a:r>
                  <a:rPr lang="fr-FR" sz="2400" dirty="0"/>
                  <a:t>Cette stratégie est peu coûteuse, elle ne nécessite que d’entraîner </a:t>
                </a:r>
                <a14:m>
                  <m:oMath xmlns:m="http://schemas.openxmlformats.org/officeDocument/2006/math">
                    <m:r>
                      <a:rPr lang="fr-FR" sz="2400" b="0" i="1" smtClean="0">
                        <a:latin typeface="Cambria Math" panose="02040503050406030204" pitchFamily="18" charset="0"/>
                      </a:rPr>
                      <m:t>𝑁</m:t>
                    </m:r>
                  </m:oMath>
                </a14:m>
                <a:r>
                  <a:rPr lang="fr-FR" sz="2400" dirty="0"/>
                  <a:t> algorithmes.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Son interprétation est de plus assez évidente, chaque classificateur correspondant à l’une des classes.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Cette méthode est la plus couramment utilisée.</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416320"/>
              </a:xfrm>
              <a:prstGeom prst="rect">
                <a:avLst/>
              </a:prstGeom>
              <a:blipFill>
                <a:blip r:embed="rId2"/>
                <a:stretch>
                  <a:fillRect l="-843" t="-1481" b="-3333"/>
                </a:stretch>
              </a:blipFill>
            </p:spPr>
            <p:txBody>
              <a:bodyPr/>
              <a:lstStyle/>
              <a:p>
                <a:r>
                  <a:rPr lang="fr-FR">
                    <a:noFill/>
                  </a:rPr>
                  <a:t> </a:t>
                </a:r>
              </a:p>
            </p:txBody>
          </p:sp>
        </mc:Fallback>
      </mc:AlternateContent>
      <p:pic>
        <p:nvPicPr>
          <p:cNvPr id="5" name="Graphique 4" descr="Pièces avec un remplissage uni">
            <a:extLst>
              <a:ext uri="{FF2B5EF4-FFF2-40B4-BE49-F238E27FC236}">
                <a16:creationId xmlns:a16="http://schemas.microsoft.com/office/drawing/2014/main" id="{9E3936B5-CC74-524F-A359-8FF0BCB153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20534309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964740"/>
              </a:xfrm>
              <a:prstGeom prst="rect">
                <a:avLst/>
              </a:prstGeom>
              <a:noFill/>
            </p:spPr>
            <p:txBody>
              <a:bodyPr wrap="square" rtlCol="0">
                <a:spAutoFit/>
              </a:bodyPr>
              <a:lstStyle/>
              <a:p>
                <a:r>
                  <a:rPr lang="fr-FR" sz="2400" b="1" dirty="0"/>
                  <a:t>Classification “Un contre Un“ (One vs One) : principe </a:t>
                </a:r>
              </a:p>
              <a:p>
                <a:endParaRPr lang="fr-FR" sz="2400" dirty="0"/>
              </a:p>
              <a:p>
                <a:pPr marL="342900" indent="-342900">
                  <a:buFont typeface="Arial" panose="020B0604020202020204" pitchFamily="34" charset="0"/>
                  <a:buChar char="•"/>
                </a:pPr>
                <a:r>
                  <a:rPr lang="fr-FR" sz="2400" dirty="0"/>
                  <a:t>On entraîne </a:t>
                </a:r>
                <a14:m>
                  <m:oMath xmlns:m="http://schemas.openxmlformats.org/officeDocument/2006/math">
                    <m:f>
                      <m:fPr>
                        <m:ctrlPr>
                          <a:rPr lang="fr-FR" sz="2400" i="1" smtClean="0">
                            <a:latin typeface="Cambria Math" panose="02040503050406030204" pitchFamily="18" charset="0"/>
                          </a:rPr>
                        </m:ctrlPr>
                      </m:fPr>
                      <m:num>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𝑁</m:t>
                            </m:r>
                            <m:r>
                              <a:rPr lang="fr-FR" sz="2400" b="0" i="1" smtClean="0">
                                <a:latin typeface="Cambria Math" panose="02040503050406030204" pitchFamily="18" charset="0"/>
                              </a:rPr>
                              <m:t>−1</m:t>
                            </m:r>
                          </m:e>
                        </m:d>
                      </m:num>
                      <m:den>
                        <m:r>
                          <a:rPr lang="fr-FR" sz="2400" b="0" i="1" smtClean="0">
                            <a:latin typeface="Cambria Math" panose="02040503050406030204" pitchFamily="18" charset="0"/>
                          </a:rPr>
                          <m:t>2</m:t>
                        </m:r>
                      </m:den>
                    </m:f>
                  </m:oMath>
                </a14:m>
                <a:r>
                  <a:rPr lang="fr-FR" sz="2400" dirty="0"/>
                  <a:t> classificateurs binaires, un pour chacune des paires de classes.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Chaque algorithme est ainsi entraîné pour la classification binaire entre les deux classes de la paire en question.</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Pour classer une observation, on regarde le résultat de chacun des algorithmes, et on l’affecte à la classe majoritaire.</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964740"/>
              </a:xfrm>
              <a:prstGeom prst="rect">
                <a:avLst/>
              </a:prstGeom>
              <a:blipFill>
                <a:blip r:embed="rId3"/>
                <a:stretch>
                  <a:fillRect l="-843" t="-1278" r="-361" b="-2556"/>
                </a:stretch>
              </a:blipFill>
            </p:spPr>
            <p:txBody>
              <a:bodyPr/>
              <a:lstStyle/>
              <a:p>
                <a:r>
                  <a:rPr lang="fr-FR">
                    <a:noFill/>
                  </a:rPr>
                  <a:t> </a:t>
                </a:r>
              </a:p>
            </p:txBody>
          </p:sp>
        </mc:Fallback>
      </mc:AlternateContent>
    </p:spTree>
    <p:extLst>
      <p:ext uri="{BB962C8B-B14F-4D97-AF65-F5344CB8AC3E}">
        <p14:creationId xmlns:p14="http://schemas.microsoft.com/office/powerpoint/2010/main" val="21542783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226076"/>
              </a:xfrm>
              <a:prstGeom prst="rect">
                <a:avLst/>
              </a:prstGeom>
              <a:noFill/>
            </p:spPr>
            <p:txBody>
              <a:bodyPr wrap="square" rtlCol="0">
                <a:spAutoFit/>
              </a:bodyPr>
              <a:lstStyle/>
              <a:p>
                <a:r>
                  <a:rPr lang="fr-FR" sz="2400" b="1" dirty="0"/>
                  <a:t>Classification “Un contre Un“ (One vs One) : remarques</a:t>
                </a:r>
              </a:p>
              <a:p>
                <a:endParaRPr lang="fr-FR" sz="2400" dirty="0"/>
              </a:p>
              <a:p>
                <a:pPr marL="342900" indent="-342900">
                  <a:buFont typeface="Arial" panose="020B0604020202020204" pitchFamily="34" charset="0"/>
                  <a:buChar char="•"/>
                </a:pPr>
                <a:r>
                  <a:rPr lang="fr-FR" sz="2400" dirty="0"/>
                  <a:t>Cette stratégie est plus coûteuse que la précédente, elle nécessite d’entraîner </a:t>
                </a:r>
                <a14:m>
                  <m:oMath xmlns:m="http://schemas.openxmlformats.org/officeDocument/2006/math">
                    <m:f>
                      <m:fPr>
                        <m:ctrlPr>
                          <a:rPr lang="fr-FR" sz="2400" i="1" smtClean="0">
                            <a:latin typeface="Cambria Math" panose="02040503050406030204" pitchFamily="18" charset="0"/>
                          </a:rPr>
                        </m:ctrlPr>
                      </m:fPr>
                      <m:num>
                        <m:r>
                          <a:rPr lang="fr-FR" sz="2400" b="0" i="1" smtClean="0">
                            <a:latin typeface="Cambria Math" panose="02040503050406030204" pitchFamily="18" charset="0"/>
                          </a:rPr>
                          <m:t>𝑁</m:t>
                        </m:r>
                        <m:d>
                          <m:dPr>
                            <m:ctrlPr>
                              <a:rPr lang="fr-FR" sz="2400" b="0" i="1" smtClean="0">
                                <a:latin typeface="Cambria Math" panose="02040503050406030204" pitchFamily="18" charset="0"/>
                              </a:rPr>
                            </m:ctrlPr>
                          </m:dPr>
                          <m:e>
                            <m:r>
                              <a:rPr lang="fr-FR" sz="2400" b="0" i="1" smtClean="0">
                                <a:latin typeface="Cambria Math" panose="02040503050406030204" pitchFamily="18" charset="0"/>
                              </a:rPr>
                              <m:t>𝑁</m:t>
                            </m:r>
                            <m:r>
                              <a:rPr lang="fr-FR" sz="2400" b="0" i="1" smtClean="0">
                                <a:latin typeface="Cambria Math" panose="02040503050406030204" pitchFamily="18" charset="0"/>
                              </a:rPr>
                              <m:t>−1</m:t>
                            </m:r>
                          </m:e>
                        </m:d>
                      </m:num>
                      <m:den>
                        <m:r>
                          <a:rPr lang="fr-FR" sz="2400" b="0" i="1" smtClean="0">
                            <a:latin typeface="Cambria Math" panose="02040503050406030204" pitchFamily="18" charset="0"/>
                          </a:rPr>
                          <m:t>2</m:t>
                        </m:r>
                      </m:den>
                    </m:f>
                  </m:oMath>
                </a14:m>
                <a:r>
                  <a:rPr lang="fr-FR" sz="2400" dirty="0"/>
                  <a:t> algorithmes.</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Cependant chacun d’eux n’est entraîné que sur une partie des observations, celle correspondant aux deux classes qu’il traite.</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3226076"/>
              </a:xfrm>
              <a:prstGeom prst="rect">
                <a:avLst/>
              </a:prstGeom>
              <a:blipFill>
                <a:blip r:embed="rId2"/>
                <a:stretch>
                  <a:fillRect l="-843" t="-1569" b="-3137"/>
                </a:stretch>
              </a:blipFill>
            </p:spPr>
            <p:txBody>
              <a:bodyPr/>
              <a:lstStyle/>
              <a:p>
                <a:r>
                  <a:rPr lang="fr-FR">
                    <a:noFill/>
                  </a:rPr>
                  <a:t> </a:t>
                </a:r>
              </a:p>
            </p:txBody>
          </p:sp>
        </mc:Fallback>
      </mc:AlternateContent>
      <p:pic>
        <p:nvPicPr>
          <p:cNvPr id="5" name="Graphique 4" descr="Puzzle avec un remplissage uni">
            <a:extLst>
              <a:ext uri="{FF2B5EF4-FFF2-40B4-BE49-F238E27FC236}">
                <a16:creationId xmlns:a16="http://schemas.microsoft.com/office/drawing/2014/main" id="{14A2A5F5-22BF-2F48-8CE1-94EF872DEF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4880629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119526"/>
              </a:xfrm>
              <a:prstGeom prst="rect">
                <a:avLst/>
              </a:prstGeom>
              <a:noFill/>
            </p:spPr>
            <p:txBody>
              <a:bodyPr wrap="square" rtlCol="0">
                <a:spAutoFit/>
              </a:bodyPr>
              <a:lstStyle/>
              <a:p>
                <a:r>
                  <a:rPr lang="fr-FR" sz="2400" b="1" dirty="0"/>
                  <a:t>Mesures de la qualité d’un classificateur multi-classes</a:t>
                </a:r>
              </a:p>
              <a:p>
                <a:endParaRPr lang="fr-FR" sz="2400" dirty="0"/>
              </a:p>
              <a:p>
                <a:pPr marL="342900" indent="-342900">
                  <a:buFont typeface="Arial" panose="020B0604020202020204" pitchFamily="34" charset="0"/>
                  <a:buChar char="•"/>
                </a:pPr>
                <a:r>
                  <a:rPr lang="fr-FR" sz="2400" dirty="0"/>
                  <a:t>On peut toujours définir l’exactitude par la formule</a:t>
                </a: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endParaRPr lang="fr-FR" sz="2400" dirty="0"/>
              </a:p>
              <a:p>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𝐸𝑥𝑎𝑐𝑡𝑖𝑡𝑢𝑑𝑒</m:t>
                      </m:r>
                      <m:r>
                        <a:rPr lang="fr-FR" sz="2400" i="1">
                          <a:latin typeface="Cambria Math" panose="02040503050406030204" pitchFamily="18" charset="0"/>
                        </a:rPr>
                        <m:t>=</m:t>
                      </m:r>
                      <m:f>
                        <m:fPr>
                          <m:ctrlPr>
                            <a:rPr lang="fr-FR" sz="2400" i="1">
                              <a:latin typeface="Cambria Math" panose="02040503050406030204" pitchFamily="18" charset="0"/>
                            </a:rPr>
                          </m:ctrlPr>
                        </m:fPr>
                        <m:num>
                          <m:r>
                            <a:rPr lang="fr-FR" sz="2400" i="1">
                              <a:latin typeface="Cambria Math" panose="02040503050406030204" pitchFamily="18" charset="0"/>
                            </a:rPr>
                            <m:t># </m:t>
                          </m:r>
                          <m:r>
                            <a:rPr lang="fr-FR" sz="2400" i="1">
                              <a:latin typeface="Cambria Math" panose="02040503050406030204" pitchFamily="18" charset="0"/>
                            </a:rPr>
                            <m:t>𝑝𝑟</m:t>
                          </m:r>
                          <m:r>
                            <a:rPr lang="fr-FR" sz="2400" i="1">
                              <a:latin typeface="Cambria Math" panose="02040503050406030204" pitchFamily="18" charset="0"/>
                            </a:rPr>
                            <m:t>é</m:t>
                          </m:r>
                          <m:r>
                            <a:rPr lang="fr-FR" sz="2400" i="1">
                              <a:latin typeface="Cambria Math" panose="02040503050406030204" pitchFamily="18" charset="0"/>
                            </a:rPr>
                            <m:t>𝑣𝑖𝑠𝑖𝑜𝑛𝑠</m:t>
                          </m:r>
                          <m:r>
                            <a:rPr lang="fr-FR" sz="2400" i="1">
                              <a:latin typeface="Cambria Math" panose="02040503050406030204" pitchFamily="18" charset="0"/>
                            </a:rPr>
                            <m:t> </m:t>
                          </m:r>
                          <m:r>
                            <a:rPr lang="fr-FR" sz="2400" i="1">
                              <a:latin typeface="Cambria Math" panose="02040503050406030204" pitchFamily="18" charset="0"/>
                            </a:rPr>
                            <m:t>𝑐𝑜𝑟𝑟𝑒𝑐𝑡𝑒𝑠</m:t>
                          </m:r>
                        </m:num>
                        <m:den>
                          <m:r>
                            <a:rPr lang="fr-FR" sz="2400" i="1">
                              <a:latin typeface="Cambria Math" panose="02040503050406030204" pitchFamily="18" charset="0"/>
                            </a:rPr>
                            <m:t># </m:t>
                          </m:r>
                          <m:r>
                            <a:rPr lang="fr-FR" sz="2400" i="1">
                              <a:latin typeface="Cambria Math" panose="02040503050406030204" pitchFamily="18" charset="0"/>
                            </a:rPr>
                            <m:t>𝑜𝑏𝑠𝑒𝑟𝑣𝑎𝑡𝑖𝑜𝑛𝑠</m:t>
                          </m:r>
                        </m:den>
                      </m:f>
                    </m:oMath>
                  </m:oMathPara>
                </a14:m>
                <a:endParaRPr lang="fr-FR" sz="2400" dirty="0"/>
              </a:p>
              <a:p>
                <a:endParaRPr lang="fr-FR" sz="2400" dirty="0"/>
              </a:p>
              <a:p>
                <a:endParaRPr lang="fr-FR" sz="2400" dirty="0"/>
              </a:p>
              <a:p>
                <a:pPr marL="342900" indent="-342900">
                  <a:buFont typeface="Arial" panose="020B0604020202020204" pitchFamily="34" charset="0"/>
                  <a:buChar char="•"/>
                </a:pPr>
                <a:r>
                  <a:rPr lang="fr-FR" sz="2400" dirty="0"/>
                  <a:t>Par contre toutes les autres mesures construites à partir des notions de Vrais/Faux Positifs/Négatifs n’ont plus de sens.</a:t>
                </a:r>
              </a:p>
            </p:txBody>
          </p:sp>
        </mc:Choice>
        <mc:Fallback xmlns="">
          <p:sp>
            <p:nvSpPr>
              <p:cNvPr id="3" name="ZoneTexte 2">
                <a:extLst>
                  <a:ext uri="{FF2B5EF4-FFF2-40B4-BE49-F238E27FC236}">
                    <a16:creationId xmlns:a16="http://schemas.microsoft.com/office/drawing/2014/main" id="{D5C8C869-0EAD-EA43-AF3E-D7D5D6E20C31}"/>
                  </a:ext>
                </a:extLst>
              </p:cNvPr>
              <p:cNvSpPr txBox="1">
                <a:spLocks noRot="1" noChangeAspect="1" noMove="1" noResize="1" noEditPoints="1" noAdjustHandles="1" noChangeArrowheads="1" noChangeShapeType="1" noTextEdit="1"/>
              </p:cNvSpPr>
              <p:nvPr/>
            </p:nvSpPr>
            <p:spPr>
              <a:xfrm>
                <a:off x="844826" y="1431230"/>
                <a:ext cx="10525539" cy="4119526"/>
              </a:xfrm>
              <a:prstGeom prst="rect">
                <a:avLst/>
              </a:prstGeom>
              <a:blipFill>
                <a:blip r:embed="rId2"/>
                <a:stretch>
                  <a:fillRect l="-843" t="-1227" b="-2147"/>
                </a:stretch>
              </a:blipFill>
            </p:spPr>
            <p:txBody>
              <a:bodyPr/>
              <a:lstStyle/>
              <a:p>
                <a:r>
                  <a:rPr lang="fr-FR">
                    <a:noFill/>
                  </a:rPr>
                  <a:t> </a:t>
                </a:r>
              </a:p>
            </p:txBody>
          </p:sp>
        </mc:Fallback>
      </mc:AlternateContent>
    </p:spTree>
    <p:extLst>
      <p:ext uri="{BB962C8B-B14F-4D97-AF65-F5344CB8AC3E}">
        <p14:creationId xmlns:p14="http://schemas.microsoft.com/office/powerpoint/2010/main" val="37126017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569660"/>
          </a:xfrm>
          <a:prstGeom prst="rect">
            <a:avLst/>
          </a:prstGeom>
          <a:noFill/>
        </p:spPr>
        <p:txBody>
          <a:bodyPr wrap="square" rtlCol="0">
            <a:spAutoFit/>
          </a:bodyPr>
          <a:lstStyle/>
          <a:p>
            <a:r>
              <a:rPr lang="fr-FR" sz="2400" b="1" dirty="0"/>
              <a:t>Matrice de confusion</a:t>
            </a:r>
          </a:p>
          <a:p>
            <a:endParaRPr lang="fr-FR" sz="2400" dirty="0"/>
          </a:p>
          <a:p>
            <a:pPr marL="342900" indent="-342900">
              <a:buFont typeface="Arial" panose="020B0604020202020204" pitchFamily="34" charset="0"/>
              <a:buChar char="•"/>
            </a:pPr>
            <a:r>
              <a:rPr lang="fr-FR" sz="2400" dirty="0"/>
              <a:t>Sur le modèle du cas binaire, on peut définir une matrice de confusion pour identifier les observations bien ou mal classifiées.</a:t>
            </a:r>
          </a:p>
        </p:txBody>
      </p:sp>
      <p:sp>
        <p:nvSpPr>
          <p:cNvPr id="4" name="Rectangle 3">
            <a:extLst>
              <a:ext uri="{FF2B5EF4-FFF2-40B4-BE49-F238E27FC236}">
                <a16:creationId xmlns:a16="http://schemas.microsoft.com/office/drawing/2014/main" id="{61DE9B9D-759C-3A4A-9F91-826F116B3F56}"/>
              </a:ext>
            </a:extLst>
          </p:cNvPr>
          <p:cNvSpPr>
            <a:spLocks/>
          </p:cNvSpPr>
          <p:nvPr/>
        </p:nvSpPr>
        <p:spPr>
          <a:xfrm>
            <a:off x="4094137" y="4222374"/>
            <a:ext cx="2094742" cy="10473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5" name="Rectangle 4">
            <a:extLst>
              <a:ext uri="{FF2B5EF4-FFF2-40B4-BE49-F238E27FC236}">
                <a16:creationId xmlns:a16="http://schemas.microsoft.com/office/drawing/2014/main" id="{3F9CCA93-13A0-E04B-9887-2C197F7A720C}"/>
              </a:ext>
            </a:extLst>
          </p:cNvPr>
          <p:cNvSpPr>
            <a:spLocks noChangeAspect="1"/>
          </p:cNvSpPr>
          <p:nvPr/>
        </p:nvSpPr>
        <p:spPr>
          <a:xfrm>
            <a:off x="6193972" y="4222374"/>
            <a:ext cx="2094742" cy="10473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6" name="Rectangle 5">
            <a:extLst>
              <a:ext uri="{FF2B5EF4-FFF2-40B4-BE49-F238E27FC236}">
                <a16:creationId xmlns:a16="http://schemas.microsoft.com/office/drawing/2014/main" id="{0936B0E1-7741-F44E-98BE-BD5473ABC7AB}"/>
              </a:ext>
            </a:extLst>
          </p:cNvPr>
          <p:cNvSpPr>
            <a:spLocks noChangeAspect="1"/>
          </p:cNvSpPr>
          <p:nvPr/>
        </p:nvSpPr>
        <p:spPr>
          <a:xfrm>
            <a:off x="4094137" y="5269745"/>
            <a:ext cx="2094742" cy="10473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7" name="Rectangle 6">
            <a:extLst>
              <a:ext uri="{FF2B5EF4-FFF2-40B4-BE49-F238E27FC236}">
                <a16:creationId xmlns:a16="http://schemas.microsoft.com/office/drawing/2014/main" id="{C9591010-D1D0-3F43-B201-A86EA3D8D8FF}"/>
              </a:ext>
            </a:extLst>
          </p:cNvPr>
          <p:cNvSpPr>
            <a:spLocks noChangeAspect="1"/>
          </p:cNvSpPr>
          <p:nvPr/>
        </p:nvSpPr>
        <p:spPr>
          <a:xfrm>
            <a:off x="6193972" y="5269745"/>
            <a:ext cx="2094742" cy="10473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8" name="Rectangle 7">
            <a:extLst>
              <a:ext uri="{FF2B5EF4-FFF2-40B4-BE49-F238E27FC236}">
                <a16:creationId xmlns:a16="http://schemas.microsoft.com/office/drawing/2014/main" id="{2C48EB17-BCF5-C341-B142-694234215093}"/>
              </a:ext>
            </a:extLst>
          </p:cNvPr>
          <p:cNvSpPr>
            <a:spLocks/>
          </p:cNvSpPr>
          <p:nvPr/>
        </p:nvSpPr>
        <p:spPr>
          <a:xfrm>
            <a:off x="4099230" y="3829610"/>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9" name="Rectangle 8">
            <a:extLst>
              <a:ext uri="{FF2B5EF4-FFF2-40B4-BE49-F238E27FC236}">
                <a16:creationId xmlns:a16="http://schemas.microsoft.com/office/drawing/2014/main" id="{95E2CD26-E771-AB48-881F-10AE18CF0CFE}"/>
              </a:ext>
            </a:extLst>
          </p:cNvPr>
          <p:cNvSpPr>
            <a:spLocks noChangeAspect="1"/>
          </p:cNvSpPr>
          <p:nvPr/>
        </p:nvSpPr>
        <p:spPr>
          <a:xfrm>
            <a:off x="6193972" y="3829610"/>
            <a:ext cx="2094742"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10" name="Rectangle 9">
            <a:extLst>
              <a:ext uri="{FF2B5EF4-FFF2-40B4-BE49-F238E27FC236}">
                <a16:creationId xmlns:a16="http://schemas.microsoft.com/office/drawing/2014/main" id="{99B604DE-4E67-7A42-912A-0B222FE359CC}"/>
              </a:ext>
            </a:extLst>
          </p:cNvPr>
          <p:cNvSpPr>
            <a:spLocks noChangeAspect="1"/>
          </p:cNvSpPr>
          <p:nvPr/>
        </p:nvSpPr>
        <p:spPr>
          <a:xfrm rot="16200000">
            <a:off x="3368977" y="5597047"/>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11" name="Rectangle 10">
            <a:extLst>
              <a:ext uri="{FF2B5EF4-FFF2-40B4-BE49-F238E27FC236}">
                <a16:creationId xmlns:a16="http://schemas.microsoft.com/office/drawing/2014/main" id="{D005B245-DDBC-254A-8406-99740CFBA6BE}"/>
              </a:ext>
            </a:extLst>
          </p:cNvPr>
          <p:cNvSpPr>
            <a:spLocks noChangeAspect="1"/>
          </p:cNvSpPr>
          <p:nvPr/>
        </p:nvSpPr>
        <p:spPr>
          <a:xfrm rot="16200000">
            <a:off x="3368977" y="4549676"/>
            <a:ext cx="104737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12" name="Rectangle 11">
            <a:extLst>
              <a:ext uri="{FF2B5EF4-FFF2-40B4-BE49-F238E27FC236}">
                <a16:creationId xmlns:a16="http://schemas.microsoft.com/office/drawing/2014/main" id="{5F2ED499-BC3E-2F4A-A426-B81039991122}"/>
              </a:ext>
            </a:extLst>
          </p:cNvPr>
          <p:cNvSpPr>
            <a:spLocks noChangeAspect="1"/>
          </p:cNvSpPr>
          <p:nvPr/>
        </p:nvSpPr>
        <p:spPr>
          <a:xfrm>
            <a:off x="4099230" y="3428272"/>
            <a:ext cx="4189485"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Prédictions</a:t>
            </a:r>
          </a:p>
        </p:txBody>
      </p:sp>
      <p:sp>
        <p:nvSpPr>
          <p:cNvPr id="13" name="Rectangle 12">
            <a:extLst>
              <a:ext uri="{FF2B5EF4-FFF2-40B4-BE49-F238E27FC236}">
                <a16:creationId xmlns:a16="http://schemas.microsoft.com/office/drawing/2014/main" id="{2AFD2560-64D6-8D40-AA5F-789E3CABF18E}"/>
              </a:ext>
            </a:extLst>
          </p:cNvPr>
          <p:cNvSpPr>
            <a:spLocks noChangeAspect="1"/>
          </p:cNvSpPr>
          <p:nvPr/>
        </p:nvSpPr>
        <p:spPr>
          <a:xfrm rot="16200000">
            <a:off x="2442342" y="5073361"/>
            <a:ext cx="2094742"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Réalité</a:t>
            </a:r>
          </a:p>
        </p:txBody>
      </p:sp>
      <p:cxnSp>
        <p:nvCxnSpPr>
          <p:cNvPr id="14" name="Connecteur droit 13">
            <a:extLst>
              <a:ext uri="{FF2B5EF4-FFF2-40B4-BE49-F238E27FC236}">
                <a16:creationId xmlns:a16="http://schemas.microsoft.com/office/drawing/2014/main" id="{97C34B9B-5821-D846-81F0-E437B36370D0}"/>
              </a:ext>
            </a:extLst>
          </p:cNvPr>
          <p:cNvCxnSpPr>
            <a:cxnSpLocks/>
          </p:cNvCxnSpPr>
          <p:nvPr/>
        </p:nvCxnSpPr>
        <p:spPr>
          <a:xfrm>
            <a:off x="4767943" y="3829610"/>
            <a:ext cx="0" cy="2487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450BD4F1-E902-6049-A594-0907E5ACB76E}"/>
              </a:ext>
            </a:extLst>
          </p:cNvPr>
          <p:cNvCxnSpPr>
            <a:cxnSpLocks/>
          </p:cNvCxnSpPr>
          <p:nvPr/>
        </p:nvCxnSpPr>
        <p:spPr>
          <a:xfrm>
            <a:off x="5453742" y="3829610"/>
            <a:ext cx="0" cy="2487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5138F213-F29A-EA4B-BC04-DBB2684FBA9E}"/>
              </a:ext>
            </a:extLst>
          </p:cNvPr>
          <p:cNvCxnSpPr>
            <a:cxnSpLocks/>
          </p:cNvCxnSpPr>
          <p:nvPr/>
        </p:nvCxnSpPr>
        <p:spPr>
          <a:xfrm>
            <a:off x="7565572" y="3829610"/>
            <a:ext cx="0" cy="2487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11A5F1C7-8788-B641-B586-57BF41ABFC47}"/>
              </a:ext>
            </a:extLst>
          </p:cNvPr>
          <p:cNvCxnSpPr>
            <a:cxnSpLocks/>
          </p:cNvCxnSpPr>
          <p:nvPr/>
        </p:nvCxnSpPr>
        <p:spPr>
          <a:xfrm flipH="1">
            <a:off x="3696281" y="4945512"/>
            <a:ext cx="45924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64CBFE1B-2808-C244-A254-1C8595D6636B}"/>
              </a:ext>
            </a:extLst>
          </p:cNvPr>
          <p:cNvCxnSpPr>
            <a:cxnSpLocks/>
          </p:cNvCxnSpPr>
          <p:nvPr/>
        </p:nvCxnSpPr>
        <p:spPr>
          <a:xfrm flipH="1">
            <a:off x="3696281" y="4586284"/>
            <a:ext cx="45924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18998F5E-F7A7-764B-AAF1-AD1E971E2D98}"/>
              </a:ext>
            </a:extLst>
          </p:cNvPr>
          <p:cNvCxnSpPr>
            <a:cxnSpLocks/>
          </p:cNvCxnSpPr>
          <p:nvPr/>
        </p:nvCxnSpPr>
        <p:spPr>
          <a:xfrm flipH="1">
            <a:off x="3696281" y="5946997"/>
            <a:ext cx="45924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925EA2C6-E9E2-C84D-9F07-38900032B777}"/>
                  </a:ext>
                </a:extLst>
              </p:cNvPr>
              <p:cNvSpPr txBox="1"/>
              <p:nvPr/>
            </p:nvSpPr>
            <p:spPr>
              <a:xfrm>
                <a:off x="4264858" y="3855434"/>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1</m:t>
                          </m:r>
                        </m:sub>
                      </m:sSub>
                    </m:oMath>
                  </m:oMathPara>
                </a14:m>
                <a:endParaRPr lang="fr-FR" sz="1600" dirty="0"/>
              </a:p>
            </p:txBody>
          </p:sp>
        </mc:Choice>
        <mc:Fallback xmlns="">
          <p:sp>
            <p:nvSpPr>
              <p:cNvPr id="20" name="ZoneTexte 19">
                <a:extLst>
                  <a:ext uri="{FF2B5EF4-FFF2-40B4-BE49-F238E27FC236}">
                    <a16:creationId xmlns:a16="http://schemas.microsoft.com/office/drawing/2014/main" id="{925EA2C6-E9E2-C84D-9F07-38900032B777}"/>
                  </a:ext>
                </a:extLst>
              </p:cNvPr>
              <p:cNvSpPr txBox="1">
                <a:spLocks noRot="1" noChangeAspect="1" noMove="1" noResize="1" noEditPoints="1" noAdjustHandles="1" noChangeArrowheads="1" noChangeShapeType="1" noTextEdit="1"/>
              </p:cNvSpPr>
              <p:nvPr/>
            </p:nvSpPr>
            <p:spPr>
              <a:xfrm>
                <a:off x="4264858" y="3855434"/>
                <a:ext cx="337457" cy="338554"/>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F3200299-EF93-4641-95B2-ACDB586CD7CA}"/>
                  </a:ext>
                </a:extLst>
              </p:cNvPr>
              <p:cNvSpPr txBox="1"/>
              <p:nvPr/>
            </p:nvSpPr>
            <p:spPr>
              <a:xfrm rot="16200000">
                <a:off x="3718204" y="4274705"/>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1</m:t>
                          </m:r>
                        </m:sub>
                      </m:sSub>
                    </m:oMath>
                  </m:oMathPara>
                </a14:m>
                <a:endParaRPr lang="fr-FR" sz="1600" dirty="0"/>
              </a:p>
            </p:txBody>
          </p:sp>
        </mc:Choice>
        <mc:Fallback xmlns="">
          <p:sp>
            <p:nvSpPr>
              <p:cNvPr id="21" name="ZoneTexte 20">
                <a:extLst>
                  <a:ext uri="{FF2B5EF4-FFF2-40B4-BE49-F238E27FC236}">
                    <a16:creationId xmlns:a16="http://schemas.microsoft.com/office/drawing/2014/main" id="{F3200299-EF93-4641-95B2-ACDB586CD7CA}"/>
                  </a:ext>
                </a:extLst>
              </p:cNvPr>
              <p:cNvSpPr txBox="1">
                <a:spLocks noRot="1" noChangeAspect="1" noMove="1" noResize="1" noEditPoints="1" noAdjustHandles="1" noChangeArrowheads="1" noChangeShapeType="1" noTextEdit="1"/>
              </p:cNvSpPr>
              <p:nvPr/>
            </p:nvSpPr>
            <p:spPr>
              <a:xfrm rot="16200000">
                <a:off x="3718204" y="4274705"/>
                <a:ext cx="337457" cy="338554"/>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C68E8628-8D3A-664F-B897-469B5A0146A8}"/>
                  </a:ext>
                </a:extLst>
              </p:cNvPr>
              <p:cNvSpPr txBox="1"/>
              <p:nvPr/>
            </p:nvSpPr>
            <p:spPr>
              <a:xfrm rot="16200000">
                <a:off x="3721607" y="4621164"/>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2</m:t>
                          </m:r>
                        </m:sub>
                      </m:sSub>
                    </m:oMath>
                  </m:oMathPara>
                </a14:m>
                <a:endParaRPr lang="fr-FR" sz="1600" dirty="0"/>
              </a:p>
            </p:txBody>
          </p:sp>
        </mc:Choice>
        <mc:Fallback xmlns="">
          <p:sp>
            <p:nvSpPr>
              <p:cNvPr id="22" name="ZoneTexte 21">
                <a:extLst>
                  <a:ext uri="{FF2B5EF4-FFF2-40B4-BE49-F238E27FC236}">
                    <a16:creationId xmlns:a16="http://schemas.microsoft.com/office/drawing/2014/main" id="{C68E8628-8D3A-664F-B897-469B5A0146A8}"/>
                  </a:ext>
                </a:extLst>
              </p:cNvPr>
              <p:cNvSpPr txBox="1">
                <a:spLocks noRot="1" noChangeAspect="1" noMove="1" noResize="1" noEditPoints="1" noAdjustHandles="1" noChangeArrowheads="1" noChangeShapeType="1" noTextEdit="1"/>
              </p:cNvSpPr>
              <p:nvPr/>
            </p:nvSpPr>
            <p:spPr>
              <a:xfrm rot="16200000">
                <a:off x="3721607" y="4621164"/>
                <a:ext cx="337457" cy="338554"/>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476C8118-55D5-BB4C-8DA3-92D1D3868CB8}"/>
                  </a:ext>
                </a:extLst>
              </p:cNvPr>
              <p:cNvSpPr txBox="1"/>
              <p:nvPr/>
            </p:nvSpPr>
            <p:spPr>
              <a:xfrm rot="16200000">
                <a:off x="3744138" y="6006561"/>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𝑀</m:t>
                          </m:r>
                        </m:sub>
                      </m:sSub>
                    </m:oMath>
                  </m:oMathPara>
                </a14:m>
                <a:endParaRPr lang="fr-FR" sz="1600" dirty="0"/>
              </a:p>
            </p:txBody>
          </p:sp>
        </mc:Choice>
        <mc:Fallback xmlns="">
          <p:sp>
            <p:nvSpPr>
              <p:cNvPr id="23" name="ZoneTexte 22">
                <a:extLst>
                  <a:ext uri="{FF2B5EF4-FFF2-40B4-BE49-F238E27FC236}">
                    <a16:creationId xmlns:a16="http://schemas.microsoft.com/office/drawing/2014/main" id="{476C8118-55D5-BB4C-8DA3-92D1D3868CB8}"/>
                  </a:ext>
                </a:extLst>
              </p:cNvPr>
              <p:cNvSpPr txBox="1">
                <a:spLocks noRot="1" noChangeAspect="1" noMove="1" noResize="1" noEditPoints="1" noAdjustHandles="1" noChangeArrowheads="1" noChangeShapeType="1" noTextEdit="1"/>
              </p:cNvSpPr>
              <p:nvPr/>
            </p:nvSpPr>
            <p:spPr>
              <a:xfrm rot="16200000">
                <a:off x="3744138" y="6006561"/>
                <a:ext cx="337457" cy="338554"/>
              </a:xfrm>
              <a:prstGeom prst="rect">
                <a:avLst/>
              </a:prstGeom>
              <a:blipFill>
                <a:blip r:embed="rId5"/>
                <a:stretch>
                  <a:fillRect t="-1071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464D62CF-A4A1-0D49-9092-1A15F68EE24D}"/>
                  </a:ext>
                </a:extLst>
              </p:cNvPr>
              <p:cNvSpPr txBox="1"/>
              <p:nvPr/>
            </p:nvSpPr>
            <p:spPr>
              <a:xfrm rot="16200000">
                <a:off x="3718204" y="4966734"/>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3</m:t>
                          </m:r>
                        </m:sub>
                      </m:sSub>
                    </m:oMath>
                  </m:oMathPara>
                </a14:m>
                <a:endParaRPr lang="fr-FR" sz="1600" dirty="0"/>
              </a:p>
            </p:txBody>
          </p:sp>
        </mc:Choice>
        <mc:Fallback xmlns="">
          <p:sp>
            <p:nvSpPr>
              <p:cNvPr id="24" name="ZoneTexte 23">
                <a:extLst>
                  <a:ext uri="{FF2B5EF4-FFF2-40B4-BE49-F238E27FC236}">
                    <a16:creationId xmlns:a16="http://schemas.microsoft.com/office/drawing/2014/main" id="{464D62CF-A4A1-0D49-9092-1A15F68EE24D}"/>
                  </a:ext>
                </a:extLst>
              </p:cNvPr>
              <p:cNvSpPr txBox="1">
                <a:spLocks noRot="1" noChangeAspect="1" noMove="1" noResize="1" noEditPoints="1" noAdjustHandles="1" noChangeArrowheads="1" noChangeShapeType="1" noTextEdit="1"/>
              </p:cNvSpPr>
              <p:nvPr/>
            </p:nvSpPr>
            <p:spPr>
              <a:xfrm rot="16200000">
                <a:off x="3718204" y="4966734"/>
                <a:ext cx="337457" cy="338554"/>
              </a:xfrm>
              <a:prstGeom prst="rect">
                <a:avLst/>
              </a:prstGeom>
              <a:blipFill>
                <a:blip r:embed="rId6"/>
                <a:stretch>
                  <a:fillRect t="-370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E8FB3BA-0849-8446-BC38-AEAB86229111}"/>
                  </a:ext>
                </a:extLst>
              </p:cNvPr>
              <p:cNvSpPr txBox="1"/>
              <p:nvPr/>
            </p:nvSpPr>
            <p:spPr>
              <a:xfrm>
                <a:off x="4933571" y="3855434"/>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2</m:t>
                          </m:r>
                        </m:sub>
                      </m:sSub>
                    </m:oMath>
                  </m:oMathPara>
                </a14:m>
                <a:endParaRPr lang="fr-FR" sz="1600" dirty="0"/>
              </a:p>
            </p:txBody>
          </p:sp>
        </mc:Choice>
        <mc:Fallback xmlns="">
          <p:sp>
            <p:nvSpPr>
              <p:cNvPr id="25" name="ZoneTexte 24">
                <a:extLst>
                  <a:ext uri="{FF2B5EF4-FFF2-40B4-BE49-F238E27FC236}">
                    <a16:creationId xmlns:a16="http://schemas.microsoft.com/office/drawing/2014/main" id="{9E8FB3BA-0849-8446-BC38-AEAB86229111}"/>
                  </a:ext>
                </a:extLst>
              </p:cNvPr>
              <p:cNvSpPr txBox="1">
                <a:spLocks noRot="1" noChangeAspect="1" noMove="1" noResize="1" noEditPoints="1" noAdjustHandles="1" noChangeArrowheads="1" noChangeShapeType="1" noTextEdit="1"/>
              </p:cNvSpPr>
              <p:nvPr/>
            </p:nvSpPr>
            <p:spPr>
              <a:xfrm>
                <a:off x="4933571" y="3855434"/>
                <a:ext cx="337457" cy="338554"/>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58374857-1676-3048-80F8-6529E2E9D5B9}"/>
                  </a:ext>
                </a:extLst>
              </p:cNvPr>
              <p:cNvSpPr txBox="1"/>
              <p:nvPr/>
            </p:nvSpPr>
            <p:spPr>
              <a:xfrm>
                <a:off x="5646585" y="3833760"/>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3</m:t>
                          </m:r>
                        </m:sub>
                      </m:sSub>
                    </m:oMath>
                  </m:oMathPara>
                </a14:m>
                <a:endParaRPr lang="fr-FR" sz="1600" dirty="0"/>
              </a:p>
            </p:txBody>
          </p:sp>
        </mc:Choice>
        <mc:Fallback xmlns="">
          <p:sp>
            <p:nvSpPr>
              <p:cNvPr id="26" name="ZoneTexte 25">
                <a:extLst>
                  <a:ext uri="{FF2B5EF4-FFF2-40B4-BE49-F238E27FC236}">
                    <a16:creationId xmlns:a16="http://schemas.microsoft.com/office/drawing/2014/main" id="{58374857-1676-3048-80F8-6529E2E9D5B9}"/>
                  </a:ext>
                </a:extLst>
              </p:cNvPr>
              <p:cNvSpPr txBox="1">
                <a:spLocks noRot="1" noChangeAspect="1" noMove="1" noResize="1" noEditPoints="1" noAdjustHandles="1" noChangeArrowheads="1" noChangeShapeType="1" noTextEdit="1"/>
              </p:cNvSpPr>
              <p:nvPr/>
            </p:nvSpPr>
            <p:spPr>
              <a:xfrm>
                <a:off x="5646585" y="3833760"/>
                <a:ext cx="337457" cy="338554"/>
              </a:xfrm>
              <a:prstGeom prst="rect">
                <a:avLst/>
              </a:prstGeom>
              <a:blipFill>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50E09E48-8092-E54D-9D45-EF94888E85DC}"/>
                  </a:ext>
                </a:extLst>
              </p:cNvPr>
              <p:cNvSpPr txBox="1"/>
              <p:nvPr/>
            </p:nvSpPr>
            <p:spPr>
              <a:xfrm>
                <a:off x="7736643" y="3865106"/>
                <a:ext cx="337457"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𝐶</m:t>
                          </m:r>
                        </m:e>
                        <m:sub>
                          <m:r>
                            <a:rPr lang="fr-FR" sz="1600" b="0" i="1" smtClean="0">
                              <a:latin typeface="Cambria Math" panose="02040503050406030204" pitchFamily="18" charset="0"/>
                            </a:rPr>
                            <m:t>𝑀</m:t>
                          </m:r>
                        </m:sub>
                      </m:sSub>
                    </m:oMath>
                  </m:oMathPara>
                </a14:m>
                <a:endParaRPr lang="fr-FR" sz="1600" dirty="0"/>
              </a:p>
            </p:txBody>
          </p:sp>
        </mc:Choice>
        <mc:Fallback xmlns="">
          <p:sp>
            <p:nvSpPr>
              <p:cNvPr id="27" name="ZoneTexte 26">
                <a:extLst>
                  <a:ext uri="{FF2B5EF4-FFF2-40B4-BE49-F238E27FC236}">
                    <a16:creationId xmlns:a16="http://schemas.microsoft.com/office/drawing/2014/main" id="{50E09E48-8092-E54D-9D45-EF94888E85DC}"/>
                  </a:ext>
                </a:extLst>
              </p:cNvPr>
              <p:cNvSpPr txBox="1">
                <a:spLocks noRot="1" noChangeAspect="1" noMove="1" noResize="1" noEditPoints="1" noAdjustHandles="1" noChangeArrowheads="1" noChangeShapeType="1" noTextEdit="1"/>
              </p:cNvSpPr>
              <p:nvPr/>
            </p:nvSpPr>
            <p:spPr>
              <a:xfrm>
                <a:off x="7736643" y="3865106"/>
                <a:ext cx="337457" cy="338554"/>
              </a:xfrm>
              <a:prstGeom prst="rect">
                <a:avLst/>
              </a:prstGeom>
              <a:blipFill>
                <a:blip r:embed="rId9"/>
                <a:stretch>
                  <a:fillRect r="-14815"/>
                </a:stretch>
              </a:blipFill>
            </p:spPr>
            <p:txBody>
              <a:bodyPr/>
              <a:lstStyle/>
              <a:p>
                <a:r>
                  <a:rPr lang="fr-FR">
                    <a:noFill/>
                  </a:rPr>
                  <a:t> </a:t>
                </a:r>
              </a:p>
            </p:txBody>
          </p:sp>
        </mc:Fallback>
      </mc:AlternateContent>
      <p:sp>
        <p:nvSpPr>
          <p:cNvPr id="28" name="ZoneTexte 27">
            <a:extLst>
              <a:ext uri="{FF2B5EF4-FFF2-40B4-BE49-F238E27FC236}">
                <a16:creationId xmlns:a16="http://schemas.microsoft.com/office/drawing/2014/main" id="{62FC97A8-82E6-9245-9DEA-C0F4D5CE3564}"/>
              </a:ext>
            </a:extLst>
          </p:cNvPr>
          <p:cNvSpPr txBox="1"/>
          <p:nvPr/>
        </p:nvSpPr>
        <p:spPr>
          <a:xfrm>
            <a:off x="6672943" y="3810931"/>
            <a:ext cx="304800" cy="369332"/>
          </a:xfrm>
          <a:prstGeom prst="rect">
            <a:avLst/>
          </a:prstGeom>
          <a:noFill/>
        </p:spPr>
        <p:txBody>
          <a:bodyPr wrap="square" rtlCol="0">
            <a:spAutoFit/>
          </a:bodyPr>
          <a:lstStyle/>
          <a:p>
            <a:r>
              <a:rPr lang="fr-FR" dirty="0"/>
              <a:t>…</a:t>
            </a:r>
          </a:p>
        </p:txBody>
      </p:sp>
      <p:sp>
        <p:nvSpPr>
          <p:cNvPr id="29" name="ZoneTexte 28">
            <a:extLst>
              <a:ext uri="{FF2B5EF4-FFF2-40B4-BE49-F238E27FC236}">
                <a16:creationId xmlns:a16="http://schemas.microsoft.com/office/drawing/2014/main" id="{4B23E59E-0702-E749-830C-3F090B20A806}"/>
              </a:ext>
            </a:extLst>
          </p:cNvPr>
          <p:cNvSpPr txBox="1"/>
          <p:nvPr/>
        </p:nvSpPr>
        <p:spPr>
          <a:xfrm rot="16200000">
            <a:off x="3691929" y="5461413"/>
            <a:ext cx="304800" cy="369332"/>
          </a:xfrm>
          <a:prstGeom prst="rect">
            <a:avLst/>
          </a:prstGeom>
          <a:noFill/>
        </p:spPr>
        <p:txBody>
          <a:bodyPr wrap="square" rtlCol="0">
            <a:spAutoFit/>
          </a:bodyPr>
          <a:lstStyle/>
          <a:p>
            <a:r>
              <a:rPr lang="fr-FR" dirty="0"/>
              <a:t>…</a:t>
            </a:r>
          </a:p>
        </p:txBody>
      </p:sp>
    </p:spTree>
    <p:extLst>
      <p:ext uri="{BB962C8B-B14F-4D97-AF65-F5344CB8AC3E}">
        <p14:creationId xmlns:p14="http://schemas.microsoft.com/office/powerpoint/2010/main" val="20633937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Classification multi-classes.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Matrice de confusion : exemple de classification de pingouins </a:t>
            </a:r>
          </a:p>
        </p:txBody>
      </p:sp>
      <p:sp>
        <p:nvSpPr>
          <p:cNvPr id="4" name="Rectangle 3">
            <a:extLst>
              <a:ext uri="{FF2B5EF4-FFF2-40B4-BE49-F238E27FC236}">
                <a16:creationId xmlns:a16="http://schemas.microsoft.com/office/drawing/2014/main" id="{23481A46-F001-A741-A308-3D41198E01EB}"/>
              </a:ext>
            </a:extLst>
          </p:cNvPr>
          <p:cNvSpPr>
            <a:spLocks/>
          </p:cNvSpPr>
          <p:nvPr/>
        </p:nvSpPr>
        <p:spPr>
          <a:xfrm>
            <a:off x="4094136" y="3547446"/>
            <a:ext cx="4189485" cy="20861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8" name="Rectangle 7">
            <a:extLst>
              <a:ext uri="{FF2B5EF4-FFF2-40B4-BE49-F238E27FC236}">
                <a16:creationId xmlns:a16="http://schemas.microsoft.com/office/drawing/2014/main" id="{51A94EB6-9227-5645-9115-CD4B8F1008D7}"/>
              </a:ext>
            </a:extLst>
          </p:cNvPr>
          <p:cNvSpPr>
            <a:spLocks/>
          </p:cNvSpPr>
          <p:nvPr/>
        </p:nvSpPr>
        <p:spPr>
          <a:xfrm>
            <a:off x="4099229" y="3154682"/>
            <a:ext cx="4184391"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10" name="Rectangle 9">
            <a:extLst>
              <a:ext uri="{FF2B5EF4-FFF2-40B4-BE49-F238E27FC236}">
                <a16:creationId xmlns:a16="http://schemas.microsoft.com/office/drawing/2014/main" id="{80F06EA8-3113-5343-A692-51AAD911F315}"/>
              </a:ext>
            </a:extLst>
          </p:cNvPr>
          <p:cNvSpPr>
            <a:spLocks noChangeAspect="1"/>
          </p:cNvSpPr>
          <p:nvPr/>
        </p:nvSpPr>
        <p:spPr>
          <a:xfrm rot="16200000">
            <a:off x="2845291" y="4398433"/>
            <a:ext cx="2094743" cy="39276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tx1"/>
              </a:solidFill>
            </a:endParaRPr>
          </a:p>
        </p:txBody>
      </p:sp>
      <p:sp>
        <p:nvSpPr>
          <p:cNvPr id="12" name="Rectangle 11">
            <a:extLst>
              <a:ext uri="{FF2B5EF4-FFF2-40B4-BE49-F238E27FC236}">
                <a16:creationId xmlns:a16="http://schemas.microsoft.com/office/drawing/2014/main" id="{124A7481-954F-3B42-A303-EEABD6EEC731}"/>
              </a:ext>
            </a:extLst>
          </p:cNvPr>
          <p:cNvSpPr>
            <a:spLocks noChangeAspect="1"/>
          </p:cNvSpPr>
          <p:nvPr/>
        </p:nvSpPr>
        <p:spPr>
          <a:xfrm>
            <a:off x="4099230" y="2753344"/>
            <a:ext cx="4189485"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Prédictions</a:t>
            </a:r>
          </a:p>
        </p:txBody>
      </p:sp>
      <p:sp>
        <p:nvSpPr>
          <p:cNvPr id="13" name="Rectangle 12">
            <a:extLst>
              <a:ext uri="{FF2B5EF4-FFF2-40B4-BE49-F238E27FC236}">
                <a16:creationId xmlns:a16="http://schemas.microsoft.com/office/drawing/2014/main" id="{811E5E67-E24E-B24B-BC14-6EB8A2585710}"/>
              </a:ext>
            </a:extLst>
          </p:cNvPr>
          <p:cNvSpPr>
            <a:spLocks noChangeAspect="1"/>
          </p:cNvSpPr>
          <p:nvPr/>
        </p:nvSpPr>
        <p:spPr>
          <a:xfrm rot="16200000">
            <a:off x="2442342" y="4398433"/>
            <a:ext cx="2094742" cy="392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rPr>
              <a:t>Réalité</a:t>
            </a:r>
          </a:p>
        </p:txBody>
      </p:sp>
      <p:cxnSp>
        <p:nvCxnSpPr>
          <p:cNvPr id="14" name="Connecteur droit 13">
            <a:extLst>
              <a:ext uri="{FF2B5EF4-FFF2-40B4-BE49-F238E27FC236}">
                <a16:creationId xmlns:a16="http://schemas.microsoft.com/office/drawing/2014/main" id="{C0247CFD-67F5-FC45-9CFD-68E51E01B7E2}"/>
              </a:ext>
            </a:extLst>
          </p:cNvPr>
          <p:cNvCxnSpPr>
            <a:cxnSpLocks/>
          </p:cNvCxnSpPr>
          <p:nvPr/>
        </p:nvCxnSpPr>
        <p:spPr>
          <a:xfrm>
            <a:off x="6945086" y="3154682"/>
            <a:ext cx="0" cy="2487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367ACA57-22F1-6D49-9A01-36884B1371D4}"/>
              </a:ext>
            </a:extLst>
          </p:cNvPr>
          <p:cNvCxnSpPr>
            <a:cxnSpLocks/>
          </p:cNvCxnSpPr>
          <p:nvPr/>
        </p:nvCxnSpPr>
        <p:spPr>
          <a:xfrm>
            <a:off x="5431970" y="3154682"/>
            <a:ext cx="0" cy="2487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1B8CF213-4B81-744F-BEBF-75E0161E8665}"/>
              </a:ext>
            </a:extLst>
          </p:cNvPr>
          <p:cNvCxnSpPr>
            <a:cxnSpLocks/>
          </p:cNvCxnSpPr>
          <p:nvPr/>
        </p:nvCxnSpPr>
        <p:spPr>
          <a:xfrm flipH="1">
            <a:off x="3696280" y="4238805"/>
            <a:ext cx="45924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E47204C4-04AA-444B-84FD-B24E71E75BA2}"/>
              </a:ext>
            </a:extLst>
          </p:cNvPr>
          <p:cNvCxnSpPr>
            <a:cxnSpLocks/>
          </p:cNvCxnSpPr>
          <p:nvPr/>
        </p:nvCxnSpPr>
        <p:spPr>
          <a:xfrm flipH="1">
            <a:off x="3696280" y="4956383"/>
            <a:ext cx="45924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F053DFAF-C953-FD46-9778-3A70CD0F487E}"/>
              </a:ext>
            </a:extLst>
          </p:cNvPr>
          <p:cNvSpPr txBox="1"/>
          <p:nvPr/>
        </p:nvSpPr>
        <p:spPr>
          <a:xfrm>
            <a:off x="4418693" y="3219904"/>
            <a:ext cx="674506" cy="307777"/>
          </a:xfrm>
          <a:prstGeom prst="rect">
            <a:avLst/>
          </a:prstGeom>
          <a:noFill/>
        </p:spPr>
        <p:txBody>
          <a:bodyPr wrap="square" rtlCol="0">
            <a:spAutoFit/>
          </a:bodyPr>
          <a:lstStyle/>
          <a:p>
            <a:r>
              <a:rPr lang="fr-FR" sz="1400" dirty="0"/>
              <a:t>Adelie</a:t>
            </a:r>
          </a:p>
        </p:txBody>
      </p:sp>
      <p:sp>
        <p:nvSpPr>
          <p:cNvPr id="57" name="ZoneTexte 56">
            <a:extLst>
              <a:ext uri="{FF2B5EF4-FFF2-40B4-BE49-F238E27FC236}">
                <a16:creationId xmlns:a16="http://schemas.microsoft.com/office/drawing/2014/main" id="{E326EEAA-889E-D14D-A4C4-CBCA3867FFB6}"/>
              </a:ext>
            </a:extLst>
          </p:cNvPr>
          <p:cNvSpPr txBox="1"/>
          <p:nvPr/>
        </p:nvSpPr>
        <p:spPr>
          <a:xfrm>
            <a:off x="5747657" y="3219905"/>
            <a:ext cx="990600" cy="307777"/>
          </a:xfrm>
          <a:prstGeom prst="rect">
            <a:avLst/>
          </a:prstGeom>
          <a:noFill/>
        </p:spPr>
        <p:txBody>
          <a:bodyPr wrap="square" rtlCol="0">
            <a:spAutoFit/>
          </a:bodyPr>
          <a:lstStyle/>
          <a:p>
            <a:r>
              <a:rPr lang="fr-FR" sz="1400" dirty="0"/>
              <a:t>Chinstrap</a:t>
            </a:r>
          </a:p>
        </p:txBody>
      </p:sp>
      <p:sp>
        <p:nvSpPr>
          <p:cNvPr id="58" name="ZoneTexte 57">
            <a:extLst>
              <a:ext uri="{FF2B5EF4-FFF2-40B4-BE49-F238E27FC236}">
                <a16:creationId xmlns:a16="http://schemas.microsoft.com/office/drawing/2014/main" id="{ED28151E-C816-6E4C-AA5D-66117D8570E8}"/>
              </a:ext>
            </a:extLst>
          </p:cNvPr>
          <p:cNvSpPr txBox="1"/>
          <p:nvPr/>
        </p:nvSpPr>
        <p:spPr>
          <a:xfrm>
            <a:off x="7190577" y="3219903"/>
            <a:ext cx="833924" cy="307777"/>
          </a:xfrm>
          <a:prstGeom prst="rect">
            <a:avLst/>
          </a:prstGeom>
          <a:noFill/>
        </p:spPr>
        <p:txBody>
          <a:bodyPr wrap="square" rtlCol="0">
            <a:spAutoFit/>
          </a:bodyPr>
          <a:lstStyle/>
          <a:p>
            <a:r>
              <a:rPr lang="fr-FR" sz="1400" dirty="0"/>
              <a:t>Gentoo</a:t>
            </a:r>
          </a:p>
        </p:txBody>
      </p:sp>
      <p:sp>
        <p:nvSpPr>
          <p:cNvPr id="59" name="ZoneTexte 58">
            <a:extLst>
              <a:ext uri="{FF2B5EF4-FFF2-40B4-BE49-F238E27FC236}">
                <a16:creationId xmlns:a16="http://schemas.microsoft.com/office/drawing/2014/main" id="{3454AA8D-B597-124B-A1C9-13D40FFDEAE1}"/>
              </a:ext>
            </a:extLst>
          </p:cNvPr>
          <p:cNvSpPr txBox="1"/>
          <p:nvPr/>
        </p:nvSpPr>
        <p:spPr>
          <a:xfrm rot="16200000">
            <a:off x="3486584" y="3612909"/>
            <a:ext cx="849085" cy="307777"/>
          </a:xfrm>
          <a:prstGeom prst="rect">
            <a:avLst/>
          </a:prstGeom>
          <a:noFill/>
        </p:spPr>
        <p:txBody>
          <a:bodyPr wrap="square" rtlCol="0">
            <a:spAutoFit/>
          </a:bodyPr>
          <a:lstStyle/>
          <a:p>
            <a:r>
              <a:rPr lang="fr-FR" sz="1400" dirty="0"/>
              <a:t>Adelie</a:t>
            </a:r>
          </a:p>
        </p:txBody>
      </p:sp>
      <p:sp>
        <p:nvSpPr>
          <p:cNvPr id="60" name="ZoneTexte 59">
            <a:extLst>
              <a:ext uri="{FF2B5EF4-FFF2-40B4-BE49-F238E27FC236}">
                <a16:creationId xmlns:a16="http://schemas.microsoft.com/office/drawing/2014/main" id="{D440E5BF-316E-5F46-BE28-A5C48AC5D823}"/>
              </a:ext>
            </a:extLst>
          </p:cNvPr>
          <p:cNvSpPr txBox="1"/>
          <p:nvPr/>
        </p:nvSpPr>
        <p:spPr>
          <a:xfrm rot="16200000">
            <a:off x="3408921" y="4393093"/>
            <a:ext cx="968616" cy="307777"/>
          </a:xfrm>
          <a:prstGeom prst="rect">
            <a:avLst/>
          </a:prstGeom>
          <a:noFill/>
        </p:spPr>
        <p:txBody>
          <a:bodyPr wrap="square" rtlCol="0">
            <a:spAutoFit/>
          </a:bodyPr>
          <a:lstStyle/>
          <a:p>
            <a:r>
              <a:rPr lang="fr-FR" sz="1400" dirty="0"/>
              <a:t>Chinstrap</a:t>
            </a:r>
          </a:p>
        </p:txBody>
      </p:sp>
      <p:sp>
        <p:nvSpPr>
          <p:cNvPr id="61" name="ZoneTexte 60">
            <a:extLst>
              <a:ext uri="{FF2B5EF4-FFF2-40B4-BE49-F238E27FC236}">
                <a16:creationId xmlns:a16="http://schemas.microsoft.com/office/drawing/2014/main" id="{589E67E9-0B39-E64E-A077-35B2DC45D3E5}"/>
              </a:ext>
            </a:extLst>
          </p:cNvPr>
          <p:cNvSpPr txBox="1"/>
          <p:nvPr/>
        </p:nvSpPr>
        <p:spPr>
          <a:xfrm rot="16200000">
            <a:off x="3476267" y="5086143"/>
            <a:ext cx="833924" cy="307777"/>
          </a:xfrm>
          <a:prstGeom prst="rect">
            <a:avLst/>
          </a:prstGeom>
          <a:noFill/>
        </p:spPr>
        <p:txBody>
          <a:bodyPr wrap="square" rtlCol="0">
            <a:spAutoFit/>
          </a:bodyPr>
          <a:lstStyle/>
          <a:p>
            <a:r>
              <a:rPr lang="fr-FR" sz="1400" dirty="0"/>
              <a:t>Gentoo</a:t>
            </a:r>
          </a:p>
        </p:txBody>
      </p:sp>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37C40196-E71F-C44A-9494-C62DB272AA1B}"/>
                  </a:ext>
                </a:extLst>
              </p:cNvPr>
              <p:cNvSpPr txBox="1"/>
              <p:nvPr/>
            </p:nvSpPr>
            <p:spPr>
              <a:xfrm>
                <a:off x="4267201" y="3734508"/>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48</m:t>
                      </m:r>
                    </m:oMath>
                  </m:oMathPara>
                </a14:m>
                <a:endParaRPr lang="fr-FR" dirty="0"/>
              </a:p>
            </p:txBody>
          </p:sp>
        </mc:Choice>
        <mc:Fallback xmlns="">
          <p:sp>
            <p:nvSpPr>
              <p:cNvPr id="62" name="ZoneTexte 61">
                <a:extLst>
                  <a:ext uri="{FF2B5EF4-FFF2-40B4-BE49-F238E27FC236}">
                    <a16:creationId xmlns:a16="http://schemas.microsoft.com/office/drawing/2014/main" id="{37C40196-E71F-C44A-9494-C62DB272AA1B}"/>
                  </a:ext>
                </a:extLst>
              </p:cNvPr>
              <p:cNvSpPr txBox="1">
                <a:spLocks noRot="1" noChangeAspect="1" noMove="1" noResize="1" noEditPoints="1" noAdjustHandles="1" noChangeArrowheads="1" noChangeShapeType="1" noTextEdit="1"/>
              </p:cNvSpPr>
              <p:nvPr/>
            </p:nvSpPr>
            <p:spPr>
              <a:xfrm>
                <a:off x="4267201" y="3734508"/>
                <a:ext cx="903514" cy="369332"/>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3" name="ZoneTexte 62">
                <a:extLst>
                  <a:ext uri="{FF2B5EF4-FFF2-40B4-BE49-F238E27FC236}">
                    <a16:creationId xmlns:a16="http://schemas.microsoft.com/office/drawing/2014/main" id="{A4D44D2C-F629-2041-B92D-5920FA783ADA}"/>
                  </a:ext>
                </a:extLst>
              </p:cNvPr>
              <p:cNvSpPr txBox="1"/>
              <p:nvPr/>
            </p:nvSpPr>
            <p:spPr>
              <a:xfrm>
                <a:off x="5655838" y="4442138"/>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52</m:t>
                      </m:r>
                    </m:oMath>
                  </m:oMathPara>
                </a14:m>
                <a:endParaRPr lang="fr-FR" dirty="0"/>
              </a:p>
            </p:txBody>
          </p:sp>
        </mc:Choice>
        <mc:Fallback xmlns="">
          <p:sp>
            <p:nvSpPr>
              <p:cNvPr id="63" name="ZoneTexte 62">
                <a:extLst>
                  <a:ext uri="{FF2B5EF4-FFF2-40B4-BE49-F238E27FC236}">
                    <a16:creationId xmlns:a16="http://schemas.microsoft.com/office/drawing/2014/main" id="{A4D44D2C-F629-2041-B92D-5920FA783ADA}"/>
                  </a:ext>
                </a:extLst>
              </p:cNvPr>
              <p:cNvSpPr txBox="1">
                <a:spLocks noRot="1" noChangeAspect="1" noMove="1" noResize="1" noEditPoints="1" noAdjustHandles="1" noChangeArrowheads="1" noChangeShapeType="1" noTextEdit="1"/>
              </p:cNvSpPr>
              <p:nvPr/>
            </p:nvSpPr>
            <p:spPr>
              <a:xfrm>
                <a:off x="5655838" y="4442138"/>
                <a:ext cx="903514" cy="369332"/>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4" name="ZoneTexte 63">
                <a:extLst>
                  <a:ext uri="{FF2B5EF4-FFF2-40B4-BE49-F238E27FC236}">
                    <a16:creationId xmlns:a16="http://schemas.microsoft.com/office/drawing/2014/main" id="{1DF2CAFF-5197-3340-A5FA-FEE2957B8092}"/>
                  </a:ext>
                </a:extLst>
              </p:cNvPr>
              <p:cNvSpPr txBox="1"/>
              <p:nvPr/>
            </p:nvSpPr>
            <p:spPr>
              <a:xfrm>
                <a:off x="7151914" y="5142987"/>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41</m:t>
                      </m:r>
                    </m:oMath>
                  </m:oMathPara>
                </a14:m>
                <a:endParaRPr lang="fr-FR" dirty="0"/>
              </a:p>
            </p:txBody>
          </p:sp>
        </mc:Choice>
        <mc:Fallback xmlns="">
          <p:sp>
            <p:nvSpPr>
              <p:cNvPr id="64" name="ZoneTexte 63">
                <a:extLst>
                  <a:ext uri="{FF2B5EF4-FFF2-40B4-BE49-F238E27FC236}">
                    <a16:creationId xmlns:a16="http://schemas.microsoft.com/office/drawing/2014/main" id="{1DF2CAFF-5197-3340-A5FA-FEE2957B8092}"/>
                  </a:ext>
                </a:extLst>
              </p:cNvPr>
              <p:cNvSpPr txBox="1">
                <a:spLocks noRot="1" noChangeAspect="1" noMove="1" noResize="1" noEditPoints="1" noAdjustHandles="1" noChangeArrowheads="1" noChangeShapeType="1" noTextEdit="1"/>
              </p:cNvSpPr>
              <p:nvPr/>
            </p:nvSpPr>
            <p:spPr>
              <a:xfrm>
                <a:off x="7151914" y="5142987"/>
                <a:ext cx="903514" cy="369332"/>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5" name="ZoneTexte 64">
                <a:extLst>
                  <a:ext uri="{FF2B5EF4-FFF2-40B4-BE49-F238E27FC236}">
                    <a16:creationId xmlns:a16="http://schemas.microsoft.com/office/drawing/2014/main" id="{89FAC443-EC56-DD44-961A-783B450F1E0B}"/>
                  </a:ext>
                </a:extLst>
              </p:cNvPr>
              <p:cNvSpPr txBox="1"/>
              <p:nvPr/>
            </p:nvSpPr>
            <p:spPr>
              <a:xfrm>
                <a:off x="5671458" y="3734508"/>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4</m:t>
                      </m:r>
                    </m:oMath>
                  </m:oMathPara>
                </a14:m>
                <a:endParaRPr lang="fr-FR" dirty="0"/>
              </a:p>
            </p:txBody>
          </p:sp>
        </mc:Choice>
        <mc:Fallback xmlns="">
          <p:sp>
            <p:nvSpPr>
              <p:cNvPr id="65" name="ZoneTexte 64">
                <a:extLst>
                  <a:ext uri="{FF2B5EF4-FFF2-40B4-BE49-F238E27FC236}">
                    <a16:creationId xmlns:a16="http://schemas.microsoft.com/office/drawing/2014/main" id="{89FAC443-EC56-DD44-961A-783B450F1E0B}"/>
                  </a:ext>
                </a:extLst>
              </p:cNvPr>
              <p:cNvSpPr txBox="1">
                <a:spLocks noRot="1" noChangeAspect="1" noMove="1" noResize="1" noEditPoints="1" noAdjustHandles="1" noChangeArrowheads="1" noChangeShapeType="1" noTextEdit="1"/>
              </p:cNvSpPr>
              <p:nvPr/>
            </p:nvSpPr>
            <p:spPr>
              <a:xfrm>
                <a:off x="5671458" y="3734508"/>
                <a:ext cx="903514" cy="369332"/>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730B5673-A609-2D4E-944B-F203DB81FE97}"/>
                  </a:ext>
                </a:extLst>
              </p:cNvPr>
              <p:cNvSpPr txBox="1"/>
              <p:nvPr/>
            </p:nvSpPr>
            <p:spPr>
              <a:xfrm>
                <a:off x="4256315" y="4442138"/>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8</m:t>
                      </m:r>
                    </m:oMath>
                  </m:oMathPara>
                </a14:m>
                <a:endParaRPr lang="fr-FR" dirty="0"/>
              </a:p>
            </p:txBody>
          </p:sp>
        </mc:Choice>
        <mc:Fallback xmlns="">
          <p:sp>
            <p:nvSpPr>
              <p:cNvPr id="66" name="ZoneTexte 65">
                <a:extLst>
                  <a:ext uri="{FF2B5EF4-FFF2-40B4-BE49-F238E27FC236}">
                    <a16:creationId xmlns:a16="http://schemas.microsoft.com/office/drawing/2014/main" id="{730B5673-A609-2D4E-944B-F203DB81FE97}"/>
                  </a:ext>
                </a:extLst>
              </p:cNvPr>
              <p:cNvSpPr txBox="1">
                <a:spLocks noRot="1" noChangeAspect="1" noMove="1" noResize="1" noEditPoints="1" noAdjustHandles="1" noChangeArrowheads="1" noChangeShapeType="1" noTextEdit="1"/>
              </p:cNvSpPr>
              <p:nvPr/>
            </p:nvSpPr>
            <p:spPr>
              <a:xfrm>
                <a:off x="4256315" y="4442138"/>
                <a:ext cx="903514" cy="369332"/>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2D1E2F3E-676C-7D4B-AC78-9182E4E96355}"/>
                  </a:ext>
                </a:extLst>
              </p:cNvPr>
              <p:cNvSpPr txBox="1"/>
              <p:nvPr/>
            </p:nvSpPr>
            <p:spPr>
              <a:xfrm>
                <a:off x="4245429" y="5144457"/>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1</m:t>
                      </m:r>
                    </m:oMath>
                  </m:oMathPara>
                </a14:m>
                <a:endParaRPr lang="fr-FR" dirty="0"/>
              </a:p>
            </p:txBody>
          </p:sp>
        </mc:Choice>
        <mc:Fallback xmlns="">
          <p:sp>
            <p:nvSpPr>
              <p:cNvPr id="67" name="ZoneTexte 66">
                <a:extLst>
                  <a:ext uri="{FF2B5EF4-FFF2-40B4-BE49-F238E27FC236}">
                    <a16:creationId xmlns:a16="http://schemas.microsoft.com/office/drawing/2014/main" id="{2D1E2F3E-676C-7D4B-AC78-9182E4E96355}"/>
                  </a:ext>
                </a:extLst>
              </p:cNvPr>
              <p:cNvSpPr txBox="1">
                <a:spLocks noRot="1" noChangeAspect="1" noMove="1" noResize="1" noEditPoints="1" noAdjustHandles="1" noChangeArrowheads="1" noChangeShapeType="1" noTextEdit="1"/>
              </p:cNvSpPr>
              <p:nvPr/>
            </p:nvSpPr>
            <p:spPr>
              <a:xfrm>
                <a:off x="4245429" y="5144457"/>
                <a:ext cx="903514" cy="369332"/>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8" name="ZoneTexte 67">
                <a:extLst>
                  <a:ext uri="{FF2B5EF4-FFF2-40B4-BE49-F238E27FC236}">
                    <a16:creationId xmlns:a16="http://schemas.microsoft.com/office/drawing/2014/main" id="{C98FF62F-EB1A-A344-9DA0-85FE3EFE84FD}"/>
                  </a:ext>
                </a:extLst>
              </p:cNvPr>
              <p:cNvSpPr txBox="1"/>
              <p:nvPr/>
            </p:nvSpPr>
            <p:spPr>
              <a:xfrm>
                <a:off x="7142758" y="4442138"/>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0</m:t>
                      </m:r>
                    </m:oMath>
                  </m:oMathPara>
                </a14:m>
                <a:endParaRPr lang="fr-FR" dirty="0"/>
              </a:p>
            </p:txBody>
          </p:sp>
        </mc:Choice>
        <mc:Fallback xmlns="">
          <p:sp>
            <p:nvSpPr>
              <p:cNvPr id="68" name="ZoneTexte 67">
                <a:extLst>
                  <a:ext uri="{FF2B5EF4-FFF2-40B4-BE49-F238E27FC236}">
                    <a16:creationId xmlns:a16="http://schemas.microsoft.com/office/drawing/2014/main" id="{C98FF62F-EB1A-A344-9DA0-85FE3EFE84FD}"/>
                  </a:ext>
                </a:extLst>
              </p:cNvPr>
              <p:cNvSpPr txBox="1">
                <a:spLocks noRot="1" noChangeAspect="1" noMove="1" noResize="1" noEditPoints="1" noAdjustHandles="1" noChangeArrowheads="1" noChangeShapeType="1" noTextEdit="1"/>
              </p:cNvSpPr>
              <p:nvPr/>
            </p:nvSpPr>
            <p:spPr>
              <a:xfrm>
                <a:off x="7142758" y="4442138"/>
                <a:ext cx="903514" cy="369332"/>
              </a:xfrm>
              <a:prstGeom prst="rect">
                <a:avLst/>
              </a:prstGeom>
              <a:blipFill>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84AF7222-B6EC-3B43-9233-E1BB1B737532}"/>
                  </a:ext>
                </a:extLst>
              </p:cNvPr>
              <p:cNvSpPr txBox="1"/>
              <p:nvPr/>
            </p:nvSpPr>
            <p:spPr>
              <a:xfrm>
                <a:off x="7162596" y="3734508"/>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3</m:t>
                      </m:r>
                    </m:oMath>
                  </m:oMathPara>
                </a14:m>
                <a:endParaRPr lang="fr-FR" dirty="0"/>
              </a:p>
            </p:txBody>
          </p:sp>
        </mc:Choice>
        <mc:Fallback xmlns="">
          <p:sp>
            <p:nvSpPr>
              <p:cNvPr id="69" name="ZoneTexte 68">
                <a:extLst>
                  <a:ext uri="{FF2B5EF4-FFF2-40B4-BE49-F238E27FC236}">
                    <a16:creationId xmlns:a16="http://schemas.microsoft.com/office/drawing/2014/main" id="{84AF7222-B6EC-3B43-9233-E1BB1B737532}"/>
                  </a:ext>
                </a:extLst>
              </p:cNvPr>
              <p:cNvSpPr txBox="1">
                <a:spLocks noRot="1" noChangeAspect="1" noMove="1" noResize="1" noEditPoints="1" noAdjustHandles="1" noChangeArrowheads="1" noChangeShapeType="1" noTextEdit="1"/>
              </p:cNvSpPr>
              <p:nvPr/>
            </p:nvSpPr>
            <p:spPr>
              <a:xfrm>
                <a:off x="7162596" y="3734508"/>
                <a:ext cx="903514" cy="369332"/>
              </a:xfrm>
              <a:prstGeom prst="rect">
                <a:avLst/>
              </a:prstGeom>
              <a:blipFill>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EF3BF1F0-5270-4B42-A8DF-01C7A511C4F1}"/>
                  </a:ext>
                </a:extLst>
              </p:cNvPr>
              <p:cNvSpPr txBox="1"/>
              <p:nvPr/>
            </p:nvSpPr>
            <p:spPr>
              <a:xfrm>
                <a:off x="5660366" y="5145147"/>
                <a:ext cx="903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3</m:t>
                      </m:r>
                    </m:oMath>
                  </m:oMathPara>
                </a14:m>
                <a:endParaRPr lang="fr-FR" dirty="0"/>
              </a:p>
            </p:txBody>
          </p:sp>
        </mc:Choice>
        <mc:Fallback xmlns="">
          <p:sp>
            <p:nvSpPr>
              <p:cNvPr id="71" name="ZoneTexte 70">
                <a:extLst>
                  <a:ext uri="{FF2B5EF4-FFF2-40B4-BE49-F238E27FC236}">
                    <a16:creationId xmlns:a16="http://schemas.microsoft.com/office/drawing/2014/main" id="{EF3BF1F0-5270-4B42-A8DF-01C7A511C4F1}"/>
                  </a:ext>
                </a:extLst>
              </p:cNvPr>
              <p:cNvSpPr txBox="1">
                <a:spLocks noRot="1" noChangeAspect="1" noMove="1" noResize="1" noEditPoints="1" noAdjustHandles="1" noChangeArrowheads="1" noChangeShapeType="1" noTextEdit="1"/>
              </p:cNvSpPr>
              <p:nvPr/>
            </p:nvSpPr>
            <p:spPr>
              <a:xfrm>
                <a:off x="5660366" y="5145147"/>
                <a:ext cx="903514" cy="369332"/>
              </a:xfrm>
              <a:prstGeom prst="rect">
                <a:avLst/>
              </a:prstGeom>
              <a:blipFill>
                <a:blip r:embed="rId10"/>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4869487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3. Classification multi-classes.</a:t>
            </a:r>
          </a:p>
        </p:txBody>
      </p:sp>
    </p:spTree>
    <p:extLst>
      <p:ext uri="{BB962C8B-B14F-4D97-AF65-F5344CB8AC3E}">
        <p14:creationId xmlns:p14="http://schemas.microsoft.com/office/powerpoint/2010/main" val="2692839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Drapeau de course avec un remplissage uni">
            <a:extLst>
              <a:ext uri="{FF2B5EF4-FFF2-40B4-BE49-F238E27FC236}">
                <a16:creationId xmlns:a16="http://schemas.microsoft.com/office/drawing/2014/main" id="{31EA9D4C-4724-F749-BAC8-105B32CB08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Tree>
    <p:extLst>
      <p:ext uri="{BB962C8B-B14F-4D97-AF65-F5344CB8AC3E}">
        <p14:creationId xmlns:p14="http://schemas.microsoft.com/office/powerpoint/2010/main" val="8807273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2501</TotalTime>
  <Words>2664</Words>
  <Application>Microsoft Macintosh PowerPoint</Application>
  <PresentationFormat>Grand écran</PresentationFormat>
  <Paragraphs>467</Paragraphs>
  <Slides>57</Slides>
  <Notes>27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57</vt:i4>
      </vt:variant>
    </vt:vector>
  </HeadingPairs>
  <TitlesOfParts>
    <vt:vector size="62" baseType="lpstr">
      <vt:lpstr>Arial</vt:lpstr>
      <vt:lpstr>Calibri</vt:lpstr>
      <vt:lpstr>Calibri Light</vt:lpstr>
      <vt:lpstr>Cambria Math</vt:lpstr>
      <vt:lpstr>Thème Office</vt:lpstr>
      <vt:lpstr>Classification (1) : Généralités &amp; Métriques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dc:title>
  <dc:creator>Laurent Godefroy</dc:creator>
  <cp:lastModifiedBy>Laurent Godefroy</cp:lastModifiedBy>
  <cp:revision>73</cp:revision>
  <dcterms:created xsi:type="dcterms:W3CDTF">2021-02-04T09:09:06Z</dcterms:created>
  <dcterms:modified xsi:type="dcterms:W3CDTF">2022-05-03T06:55:42Z</dcterms:modified>
</cp:coreProperties>
</file>